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Lst>
  <p:sldSz cy="6858000" cx="12193575"/>
  <p:notesSz cx="6858000" cy="9144000"/>
  <p:embeddedFontLst>
    <p:embeddedFont>
      <p:font typeface="Titillium Web"/>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1" roundtripDataSignature="AMtx7mgbutRpBcVXNmE3QPHs5xy9Eln6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1"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font" Target="fonts/TitilliumWeb-boldItalic.fntdata"/><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font" Target="fonts/TitilliumWeb-regular.fntdata"/><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font" Target="fonts/TitilliumWeb-italic.fntdata"/><Relationship Id="rId14" Type="http://schemas.openxmlformats.org/officeDocument/2006/relationships/slide" Target="slides/slide10.xml"/><Relationship Id="rId58" Type="http://schemas.openxmlformats.org/officeDocument/2006/relationships/font" Target="fonts/TitilliumWeb-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67"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to my presentation on the tail distribution of stock returns. We have about 50 slides to cover in 15 minutes. Some are just for visualization purpose and I’ll go swiftly through them. The complete presentation is on my GitHub as well as the code.</a:t>
            </a:r>
            <a:endParaRPr/>
          </a:p>
        </p:txBody>
      </p:sp>
      <p:sp>
        <p:nvSpPr>
          <p:cNvPr id="54" name="Google Shape;5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More about finance and statistics than IT and coding. I wanted to reflect that. I wanted to reuse what we learned and learn more during the project. We will go through CAPM, Fama &amp; French, Momentum which I had no knowledge off, 6 months before.</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d96c7f3a6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g3d96c7f3a6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We’ve already seen that we observe fat tails, but I wanted to re-explore it and show it my way. Using visualization and reusing the tools used during the CFDS. I also started to see discrepancies in the tools and processes, like arithmetic returns vs log returns, when analysing the tails. It’s a common theme in my presentation. I failed numerously during the analysis, because of poor logic on my side and because the tools I used were not made for the extreme values. But that’s one goal of my presentation. To see how things fail in the extremes.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First part is about describing and playing around characteristics of the distribution of returns. Allowed me to reuse what I learned.</a:t>
            </a:r>
            <a:br>
              <a:rPr lang="en-US"/>
            </a:br>
            <a:r>
              <a:rPr lang="en-US"/>
              <a:t>Second part is about applying models and see if they hold in the tails. About learning new things and a genuine interest in finding an </a:t>
            </a:r>
            <a:r>
              <a:rPr lang="en-US"/>
              <a:t>explanatory</a:t>
            </a:r>
            <a:r>
              <a:rPr lang="en-US"/>
              <a:t> model for extreme values.</a:t>
            </a:r>
            <a:br>
              <a:rPr lang="en-US"/>
            </a:br>
            <a:endParaRPr/>
          </a:p>
        </p:txBody>
      </p:sp>
      <p:sp>
        <p:nvSpPr>
          <p:cNvPr id="80" name="Google Shape;80;g3d96c7f3a6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d96c7f3a6c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d96c7f3a6c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Disclaimer, I cleaned the data to the best of my effort, but by lack of competence on my side, or lack of actual data, there might be some discrepancies remaining. I took a dataset large enough to hope for these discrepancies to remain as noise in my analysis.</a:t>
            </a:r>
            <a:endParaRPr/>
          </a:p>
        </p:txBody>
      </p:sp>
      <p:sp>
        <p:nvSpPr>
          <p:cNvPr id="89" name="Google Shape;89;g3d96c7f3a6c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d96c7f3a6c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g3d96c7f3a6c_0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stats summary on the whole set of S&amp;P500 </a:t>
            </a:r>
            <a:r>
              <a:rPr b="1" lang="en-US"/>
              <a:t>arithmetic</a:t>
            </a:r>
            <a:r>
              <a:rPr lang="en-US"/>
              <a:t> returns. Leptokurtic, </a:t>
            </a:r>
            <a:r>
              <a:rPr b="1" lang="en-US"/>
              <a:t>positively</a:t>
            </a:r>
            <a:r>
              <a:rPr lang="en-US"/>
              <a:t> skewed, take note of it as well as the max value. Interesting to not that the mean and median are slightly positive. The JB test significantly reject normality.</a:t>
            </a:r>
            <a:endParaRPr/>
          </a:p>
        </p:txBody>
      </p:sp>
      <p:sp>
        <p:nvSpPr>
          <p:cNvPr id="99" name="Google Shape;99;g3d96c7f3a6c_0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b971e7cb6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g3db971e7cb6_0_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stats summary on the whole set of S&amp;P500 </a:t>
            </a:r>
            <a:r>
              <a:rPr b="1" lang="en-US"/>
              <a:t>logarithmic</a:t>
            </a:r>
            <a:r>
              <a:rPr lang="en-US"/>
              <a:t> returns. Leptokurtic, </a:t>
            </a:r>
            <a:r>
              <a:rPr b="1" lang="en-US"/>
              <a:t>negatively</a:t>
            </a:r>
            <a:r>
              <a:rPr lang="en-US"/>
              <a:t> skewed. Interesting to not that the mean and median are slightly positive. The JB test significantly reject normality.</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t>We start to see the difference between arithmetic and logarithmic returns. (I did not see it at first but later the discrepancies made me question it and go back.) Log flattens extreme positive returns.</a:t>
            </a:r>
            <a:endParaRPr/>
          </a:p>
        </p:txBody>
      </p:sp>
      <p:sp>
        <p:nvSpPr>
          <p:cNvPr id="109" name="Google Shape;109;g3db971e7cb6_0_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d96c7f3a6c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 name="Google Shape;118;g3d96c7f3a6c_0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 visualizations, I juggle a bit between arithmetic and </a:t>
            </a:r>
            <a:r>
              <a:rPr lang="en-US"/>
              <a:t>logarithmic</a:t>
            </a:r>
            <a:r>
              <a:rPr lang="en-US"/>
              <a:t> depending on the use case.</a:t>
            </a:r>
            <a:endParaRPr/>
          </a:p>
        </p:txBody>
      </p:sp>
      <p:sp>
        <p:nvSpPr>
          <p:cNvPr id="119" name="Google Shape;119;g3d96c7f3a6c_0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96c7f3a6c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d96c7f3a6c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QQ plot is a plot of two distribution against each other. Here on the y-axis the empirical return distribution and on the x-axis the </a:t>
            </a:r>
            <a:r>
              <a:rPr lang="en-US"/>
              <a:t>theoretical</a:t>
            </a:r>
            <a:r>
              <a:rPr lang="en-US"/>
              <a:t> normal distribution.</a:t>
            </a:r>
            <a:endParaRPr/>
          </a:p>
        </p:txBody>
      </p:sp>
      <p:sp>
        <p:nvSpPr>
          <p:cNvPr id="129" name="Google Shape;129;g3d96c7f3a6c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d96c7f3a6c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g3d96c7f3a6c_0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normal is in orange.</a:t>
            </a:r>
            <a:endParaRPr/>
          </a:p>
        </p:txBody>
      </p:sp>
      <p:sp>
        <p:nvSpPr>
          <p:cNvPr id="139" name="Google Shape;139;g3d96c7f3a6c_0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96c7f3a6c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g3d96c7f3a6c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g3d96c7f3a6c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96c7f3a6c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g3d96c7f3a6c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tried a bit of mirroring to have a feel of how both sides are distributed. We see the arithmetic vs log return discrepancies.</a:t>
            </a:r>
            <a:endParaRPr/>
          </a:p>
        </p:txBody>
      </p:sp>
      <p:sp>
        <p:nvSpPr>
          <p:cNvPr id="157" name="Google Shape;157;g3d96c7f3a6c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db971e7cb6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g3db971e7cb6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single out the extremes I decided to cutoff only the top 0.1% absolute return values. At 0.999 quantile the value is 0.143683  in terms of log return. No impact with the arithmetic return.</a:t>
            </a:r>
            <a:endParaRPr/>
          </a:p>
        </p:txBody>
      </p:sp>
      <p:sp>
        <p:nvSpPr>
          <p:cNvPr id="167" name="Google Shape;167;g3db971e7cb6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d96c7f3a6c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g3d96c7f3a6c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g3d96c7f3a6c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b971e7cb6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g3db971e7cb6_0_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g3db971e7cb6_0_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b971e7cb6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g3db971e7cb6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g3db971e7cb6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db971e7cb6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3db971e7cb6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3db971e7cb6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9a84e3b2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g39a84e3b28a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39a84e3b28a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db971e7cb6_0_1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3db971e7cb6_0_1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g3db971e7cb6_0_1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db971e7cb6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db971e7cb6_0_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g3db971e7cb6_0_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b971e7cb6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g3db971e7cb6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g3db971e7cb6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db971e7cb6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g3db971e7cb6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g3db971e7cb6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9a84e3b28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39a84e3b28a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9a84e3b28a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db971e7cb6_0_1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db971e7cb6_0_1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g3db971e7cb6_0_1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db971e7cb6_0_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db971e7cb6_0_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db971e7cb6_0_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9a84e3b28a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g39a84e3b28a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9a84e3b28a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9a84e3b28a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9a84e3b28a_0_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39a84e3b28a_0_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9a84e3b28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g39a84e3b28a_0_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39a84e3b28a_0_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9a84e3b28a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0" name="Google Shape;330;g39a84e3b28a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9a84e3b28a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9a84e3b28a_0_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9a84e3b28a_0_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39a84e3b28a_0_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9a84e3b28a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39a84e3b28a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39a84e3b28a_0_7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dfdcedfbb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g3dfdcedfbb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g3dfdcedfbb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dfdcedfbb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9" name="Google Shape;369;g3dfdcedfbb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g3dfdcedfbb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dfdcedfbbb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dfdcedfbbb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g3dfdcedfbbb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fdcedfbbb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fdcedfbbb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fdcedfbbb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fdcedfbbb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dfdcedfbbb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dfdcedfbbb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dfdcedfbbb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g3dfdcedfbbb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1" name="Google Shape;411;g3dfdcedfbbb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fdcedfbbb_0_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g3dfdcedfbbb_0_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g3dfdcedfbbb_0_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fdcedfbbb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3dfdcedfbbb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1" name="Google Shape;431;g3dfdcedfbbb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fdcedfbbb_0_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dfdcedfbbb_0_8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g3dfdcedfbbb_0_8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dfdcedfbbb_0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dfdcedfbbb_0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3dfdcedfbbb_0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fdcedfbbb_0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g3dfdcedfbbb_0_1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g3dfdcedfbbb_0_1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dfdcedfbbb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dfdcedfbbb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9" name="Google Shape;469;g3dfdcedfbbb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3db971e7cb6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g3db971e7cb6_0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g3db971e7cb6_0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dfdcedfbbb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7" name="Google Shape;487;g3dfdcedfbbb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8" name="Google Shape;488;g3dfdcedfbbb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fdcedfbbb_0_1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g3dfdcedfbbb_0_1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g3dfdcedfbbb_0_1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fdcedfbbb_0_1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7" name="Google Shape;507;g3dfdcedfbbb_0_1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8" name="Google Shape;508;g3dfdcedfbbb_0_1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dfdcedfbbb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g3dfdcedfbbb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8" name="Google Shape;518;g3dfdcedfbbb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fdcedfbbb_0_1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7" name="Google Shape;527;g3dfdcedfbbb_0_1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g3dfdcedfbbb_0_1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dfdcedfbbb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7" name="Google Shape;537;g3dfdcedfbbb_0_1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8" name="Google Shape;538;g3dfdcedfbbb_0_1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db971e7cb6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3db971e7cb6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g3db971e7cb6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Title">
  <p:cSld name="CFDS - Title">
    <p:spTree>
      <p:nvGrpSpPr>
        <p:cNvPr id="21" name="Shape 21"/>
        <p:cNvGrpSpPr/>
        <p:nvPr/>
      </p:nvGrpSpPr>
      <p:grpSpPr>
        <a:xfrm>
          <a:off x="0" y="0"/>
          <a:ext cx="0" cy="0"/>
          <a:chOff x="0" y="0"/>
          <a:chExt cx="0" cy="0"/>
        </a:xfrm>
      </p:grpSpPr>
      <p:sp>
        <p:nvSpPr>
          <p:cNvPr id="22" name="Google Shape;22;p6"/>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sp>
        <p:nvSpPr>
          <p:cNvPr id="23" name="Google Shape;23;p6"/>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lvl="1"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Titillium Web"/>
                <a:ea typeface="Titillium Web"/>
                <a:cs typeface="Titillium Web"/>
                <a:sym typeface="Titillium Web"/>
              </a:defRPr>
            </a:lvl2pPr>
            <a:lvl3pPr lvl="2" marR="0" rtl="0" algn="ctr">
              <a:lnSpc>
                <a:spcPct val="100000"/>
              </a:lnSpc>
              <a:spcBef>
                <a:spcPts val="270"/>
              </a:spcBef>
              <a:spcAft>
                <a:spcPts val="0"/>
              </a:spcAft>
              <a:buClr>
                <a:srgbClr val="888888"/>
              </a:buClr>
              <a:buSzPts val="1350"/>
              <a:buFont typeface="Arial"/>
              <a:buNone/>
              <a:defRPr b="0" i="0" sz="1350" u="none" cap="none" strike="noStrike">
                <a:solidFill>
                  <a:srgbClr val="888888"/>
                </a:solidFill>
                <a:latin typeface="Titillium Web"/>
                <a:ea typeface="Titillium Web"/>
                <a:cs typeface="Titillium Web"/>
                <a:sym typeface="Titillium Web"/>
              </a:defRPr>
            </a:lvl3pPr>
            <a:lvl4pPr lvl="3"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cxnSp>
        <p:nvCxnSpPr>
          <p:cNvPr id="24" name="Google Shape;24;p6"/>
          <p:cNvCxnSpPr/>
          <p:nvPr/>
        </p:nvCxnSpPr>
        <p:spPr>
          <a:xfrm>
            <a:off x="0" y="4921254"/>
            <a:ext cx="12193587" cy="0"/>
          </a:xfrm>
          <a:prstGeom prst="straightConnector1">
            <a:avLst/>
          </a:prstGeom>
          <a:noFill/>
          <a:ln cap="flat" cmpd="sng" w="9525">
            <a:solidFill>
              <a:srgbClr val="3F3F3F"/>
            </a:solidFill>
            <a:prstDash val="solid"/>
            <a:round/>
            <a:headEnd len="sm" w="sm" type="none"/>
            <a:tailEnd len="sm" w="sm" type="none"/>
          </a:ln>
        </p:spPr>
      </p:cxnSp>
      <p:sp>
        <p:nvSpPr>
          <p:cNvPr id="25" name="Google Shape;25;p6"/>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lvl1pPr lvl="0" algn="l">
              <a:spcBef>
                <a:spcPts val="0"/>
              </a:spcBef>
              <a:spcAft>
                <a:spcPts val="0"/>
              </a:spcAft>
              <a:buClr>
                <a:schemeClr val="lt1"/>
              </a:buClr>
              <a:buSzPts val="3200"/>
              <a:buFont typeface="Titillium Web"/>
              <a:buNone/>
              <a:defRPr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6"/>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320"/>
              </a:spcBef>
              <a:spcAft>
                <a:spcPts val="0"/>
              </a:spcAft>
              <a:buClr>
                <a:schemeClr val="lt1"/>
              </a:buClr>
              <a:buSzPts val="1600"/>
              <a:buFont typeface="Arial"/>
              <a:buNone/>
              <a:defRPr b="0" i="0" sz="1600" u="none" cap="none" strike="noStrike">
                <a:solidFill>
                  <a:schemeClr val="lt1"/>
                </a:solidFill>
                <a:latin typeface="Titillium Web"/>
                <a:ea typeface="Titillium Web"/>
                <a:cs typeface="Titillium Web"/>
                <a:sym typeface="Titillium Web"/>
              </a:defRPr>
            </a:lvl1pPr>
            <a:lvl2pPr indent="-228600" lvl="1" marL="914400" marR="0" rtl="0" algn="l">
              <a:lnSpc>
                <a:spcPct val="100000"/>
              </a:lnSpc>
              <a:spcBef>
                <a:spcPts val="300"/>
              </a:spcBef>
              <a:spcAft>
                <a:spcPts val="0"/>
              </a:spcAft>
              <a:buClr>
                <a:schemeClr val="dk1"/>
              </a:buClr>
              <a:buSzPts val="1500"/>
              <a:buFont typeface="Arial"/>
              <a:buNone/>
              <a:defRPr b="0" i="0" sz="1500" u="none" cap="none" strike="noStrike">
                <a:solidFill>
                  <a:schemeClr val="dk1"/>
                </a:solidFill>
                <a:latin typeface="Titillium Web"/>
                <a:ea typeface="Titillium Web"/>
                <a:cs typeface="Titillium Web"/>
                <a:sym typeface="Titillium Web"/>
              </a:defRPr>
            </a:lvl2pPr>
            <a:lvl3pPr indent="-228600" lvl="2" marL="1371600" marR="0" rtl="0" algn="l">
              <a:lnSpc>
                <a:spcPct val="100000"/>
              </a:lnSpc>
              <a:spcBef>
                <a:spcPts val="270"/>
              </a:spcBef>
              <a:spcAft>
                <a:spcPts val="0"/>
              </a:spcAft>
              <a:buClr>
                <a:schemeClr val="dk1"/>
              </a:buClr>
              <a:buSzPts val="1350"/>
              <a:buFont typeface="Arial"/>
              <a:buNone/>
              <a:defRPr b="0" i="0" sz="1350" u="none" cap="none" strike="noStrike">
                <a:solidFill>
                  <a:schemeClr val="dk1"/>
                </a:solidFill>
                <a:latin typeface="Titillium Web"/>
                <a:ea typeface="Titillium Web"/>
                <a:cs typeface="Titillium Web"/>
                <a:sym typeface="Titillium Web"/>
              </a:defRPr>
            </a:lvl3pPr>
            <a:lvl4pPr indent="-228600" lvl="3" marL="18288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4pPr>
            <a:lvl5pPr indent="-228600" lvl="4" marL="22860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7" name="Google Shape;27;p6"/>
          <p:cNvSpPr txBox="1"/>
          <p:nvPr/>
        </p:nvSpPr>
        <p:spPr>
          <a:xfrm>
            <a:off x="3358662" y="-1186962"/>
            <a:ext cx="0" cy="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28" name="Google Shape;28;p6"/>
          <p:cNvPicPr preferRelativeResize="0"/>
          <p:nvPr/>
        </p:nvPicPr>
        <p:blipFill rotWithShape="1">
          <a:blip r:embed="rId2">
            <a:alphaModFix/>
          </a:blip>
          <a:srcRect b="25283" l="-63" r="-133" t="-151"/>
          <a:stretch/>
        </p:blipFill>
        <p:spPr>
          <a:xfrm>
            <a:off x="-1" y="810000"/>
            <a:ext cx="12193589" cy="4140000"/>
          </a:xfrm>
          <a:prstGeom prst="rect">
            <a:avLst/>
          </a:prstGeom>
          <a:noFill/>
          <a:ln>
            <a:noFill/>
          </a:ln>
        </p:spPr>
      </p:pic>
      <p:cxnSp>
        <p:nvCxnSpPr>
          <p:cNvPr id="29" name="Google Shape;29;p6"/>
          <p:cNvCxnSpPr/>
          <p:nvPr/>
        </p:nvCxnSpPr>
        <p:spPr>
          <a:xfrm>
            <a:off x="-1" y="4950000"/>
            <a:ext cx="12186000" cy="0"/>
          </a:xfrm>
          <a:prstGeom prst="straightConnector1">
            <a:avLst/>
          </a:prstGeom>
          <a:noFill/>
          <a:ln cap="flat" cmpd="sng" w="19050">
            <a:solidFill>
              <a:srgbClr val="0C0C0C"/>
            </a:solidFill>
            <a:prstDash val="solid"/>
            <a:round/>
            <a:headEnd len="sm" w="sm" type="none"/>
            <a:tailEnd len="sm" w="sm" type="none"/>
          </a:ln>
        </p:spPr>
      </p:cxnSp>
      <p:sp>
        <p:nvSpPr>
          <p:cNvPr id="30" name="Google Shape;30;p6"/>
          <p:cNvSpPr txBox="1"/>
          <p:nvPr/>
        </p:nvSpPr>
        <p:spPr>
          <a:xfrm>
            <a:off x="630000" y="6318000"/>
            <a:ext cx="582683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a:solidFill>
                  <a:srgbClr val="D8D8D8"/>
                </a:solidFill>
                <a:latin typeface="Calibri"/>
                <a:ea typeface="Calibri"/>
                <a:cs typeface="Calibri"/>
                <a:sym typeface="Calibri"/>
              </a:rPr>
              <a:t>ALL RIGHTS RESERVED. No part of this work may be reproduced in any form or by any means, electronic or mechanical, including photocopying, recording, or by any information storage and retrieval system without expressed written permission from the authors.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Top-Title">
  <p:cSld name="CFDS - Main Slides - Top-Title">
    <p:spTree>
      <p:nvGrpSpPr>
        <p:cNvPr id="31" name="Shape 31"/>
        <p:cNvGrpSpPr/>
        <p:nvPr/>
      </p:nvGrpSpPr>
      <p:grpSpPr>
        <a:xfrm>
          <a:off x="0" y="0"/>
          <a:ext cx="0" cy="0"/>
          <a:chOff x="0" y="0"/>
          <a:chExt cx="0" cy="0"/>
        </a:xfrm>
      </p:grpSpPr>
      <p:sp>
        <p:nvSpPr>
          <p:cNvPr id="32" name="Google Shape;32;p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lvl1pPr lvl="0" algn="r">
              <a:spcBef>
                <a:spcPts val="0"/>
              </a:spcBef>
              <a:spcAft>
                <a:spcPts val="0"/>
              </a:spcAft>
              <a:buClr>
                <a:schemeClr val="lt1"/>
              </a:buClr>
              <a:buSzPts val="3200"/>
              <a:buFont typeface="Titillium Web"/>
              <a:buNone/>
              <a:defRPr b="0" sz="3200">
                <a:solidFill>
                  <a:schemeClr val="lt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7"/>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35" name="Google Shape;35;p7"/>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890">
          <p15:clr>
            <a:srgbClr val="FBAE40"/>
          </p15:clr>
        </p15:guide>
        <p15:guide id="2" orient="horz" pos="4020">
          <p15:clr>
            <a:srgbClr val="FBAE40"/>
          </p15:clr>
        </p15:guide>
        <p15:guide id="3" pos="439">
          <p15:clr>
            <a:srgbClr val="FBAE40"/>
          </p15:clr>
        </p15:guide>
        <p15:guide id="4" pos="724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Main Slides - In-Title">
  <p:cSld name="CFDS - Main Slides - In-Title">
    <p:spTree>
      <p:nvGrpSpPr>
        <p:cNvPr id="36" name="Shape 36"/>
        <p:cNvGrpSpPr/>
        <p:nvPr/>
      </p:nvGrpSpPr>
      <p:grpSpPr>
        <a:xfrm>
          <a:off x="0" y="0"/>
          <a:ext cx="0" cy="0"/>
          <a:chOff x="0" y="0"/>
          <a:chExt cx="0" cy="0"/>
        </a:xfrm>
      </p:grpSpPr>
      <p:sp>
        <p:nvSpPr>
          <p:cNvPr id="37" name="Google Shape;37;p8"/>
          <p:cNvSpPr txBox="1"/>
          <p:nvPr>
            <p:ph type="title"/>
          </p:nvPr>
        </p:nvSpPr>
        <p:spPr>
          <a:xfrm>
            <a:off x="720000" y="1080000"/>
            <a:ext cx="10730589" cy="370800"/>
          </a:xfrm>
          <a:prstGeom prst="rect">
            <a:avLst/>
          </a:prstGeom>
          <a:noFill/>
          <a:ln>
            <a:noFill/>
          </a:ln>
        </p:spPr>
        <p:txBody>
          <a:bodyPr anchorCtr="0" anchor="ctr" bIns="0" lIns="0" spcFirstLastPara="1" rIns="0" wrap="square" tIns="0">
            <a:noAutofit/>
          </a:bodyPr>
          <a:lstStyle>
            <a:lvl1pPr lvl="0" algn="l">
              <a:spcBef>
                <a:spcPts val="0"/>
              </a:spcBef>
              <a:spcAft>
                <a:spcPts val="0"/>
              </a:spcAft>
              <a:buClr>
                <a:schemeClr val="dk1"/>
              </a:buClr>
              <a:buSzPts val="2800"/>
              <a:buFont typeface="Titillium Web"/>
              <a:buNone/>
              <a:defRPr b="1" sz="2800">
                <a:solidFill>
                  <a:schemeClr val="dk1"/>
                </a:solidFill>
                <a:latin typeface="Titillium Web"/>
                <a:ea typeface="Titillium Web"/>
                <a:cs typeface="Titillium Web"/>
                <a:sym typeface="Titillium We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8"/>
          <p:cNvSpPr txBox="1"/>
          <p:nvPr>
            <p:ph idx="1" type="body"/>
          </p:nvPr>
        </p:nvSpPr>
        <p:spPr>
          <a:xfrm>
            <a:off x="719999" y="1800000"/>
            <a:ext cx="10753200" cy="4590000"/>
          </a:xfrm>
          <a:prstGeom prst="rect">
            <a:avLst/>
          </a:prstGeom>
          <a:noFill/>
          <a:ln>
            <a:noFill/>
          </a:ln>
        </p:spPr>
        <p:txBody>
          <a:bodyPr anchorCtr="0" anchor="t" bIns="0" lIns="0" spcFirstLastPara="1" rIns="0" wrap="square" tIns="0">
            <a:no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Titillium Web"/>
                <a:ea typeface="Titillium Web"/>
                <a:cs typeface="Titillium Web"/>
                <a:sym typeface="Titillium Web"/>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Titillium Web"/>
                <a:ea typeface="Titillium Web"/>
                <a:cs typeface="Titillium Web"/>
                <a:sym typeface="Titillium Web"/>
              </a:defRPr>
            </a:lvl2pPr>
            <a:lvl3pPr indent="-330200" lvl="2" marL="13716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Titillium Web"/>
                <a:ea typeface="Titillium Web"/>
                <a:cs typeface="Titillium Web"/>
                <a:sym typeface="Titillium Web"/>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9" name="Google Shape;39;p8"/>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8"/>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pos="439">
          <p15:clr>
            <a:srgbClr val="FBAE40"/>
          </p15:clr>
        </p15:guide>
        <p15:guide id="2" pos="7242">
          <p15:clr>
            <a:srgbClr val="FBAE40"/>
          </p15:clr>
        </p15:guide>
        <p15:guide id="3" orient="horz" pos="1117">
          <p15:clr>
            <a:srgbClr val="547EBF"/>
          </p15:clr>
        </p15:guide>
        <p15:guide id="4" orient="horz" pos="4020">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Empty Slide" type="blank">
  <p:cSld name="BLANK">
    <p:spTree>
      <p:nvGrpSpPr>
        <p:cNvPr id="41" name="Shape 41"/>
        <p:cNvGrpSpPr/>
        <p:nvPr/>
      </p:nvGrpSpPr>
      <p:grpSpPr>
        <a:xfrm>
          <a:off x="0" y="0"/>
          <a:ext cx="0" cy="0"/>
          <a:chOff x="0" y="0"/>
          <a:chExt cx="0" cy="0"/>
        </a:xfrm>
      </p:grpSpPr>
      <p:sp>
        <p:nvSpPr>
          <p:cNvPr id="42" name="Google Shape;42;p9"/>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00">
                <a:solidFill>
                  <a:schemeClr val="lt1"/>
                </a:solidFill>
                <a:latin typeface="Titillium Web"/>
                <a:ea typeface="Titillium Web"/>
                <a:cs typeface="Titillium Web"/>
                <a:sym typeface="Titillium Web"/>
              </a:defRPr>
            </a:lvl1pPr>
            <a:lvl2pPr indent="0" lvl="1" marL="0" algn="r">
              <a:spcBef>
                <a:spcPts val="0"/>
              </a:spcBef>
              <a:buNone/>
              <a:defRPr sz="1000">
                <a:solidFill>
                  <a:schemeClr val="lt1"/>
                </a:solidFill>
                <a:latin typeface="Titillium Web"/>
                <a:ea typeface="Titillium Web"/>
                <a:cs typeface="Titillium Web"/>
                <a:sym typeface="Titillium Web"/>
              </a:defRPr>
            </a:lvl2pPr>
            <a:lvl3pPr indent="0" lvl="2" marL="0" algn="r">
              <a:spcBef>
                <a:spcPts val="0"/>
              </a:spcBef>
              <a:buNone/>
              <a:defRPr sz="1000">
                <a:solidFill>
                  <a:schemeClr val="lt1"/>
                </a:solidFill>
                <a:latin typeface="Titillium Web"/>
                <a:ea typeface="Titillium Web"/>
                <a:cs typeface="Titillium Web"/>
                <a:sym typeface="Titillium Web"/>
              </a:defRPr>
            </a:lvl3pPr>
            <a:lvl4pPr indent="0" lvl="3" marL="0" algn="r">
              <a:spcBef>
                <a:spcPts val="0"/>
              </a:spcBef>
              <a:buNone/>
              <a:defRPr sz="1000">
                <a:solidFill>
                  <a:schemeClr val="lt1"/>
                </a:solidFill>
                <a:latin typeface="Titillium Web"/>
                <a:ea typeface="Titillium Web"/>
                <a:cs typeface="Titillium Web"/>
                <a:sym typeface="Titillium Web"/>
              </a:defRPr>
            </a:lvl4pPr>
            <a:lvl5pPr indent="0" lvl="4" marL="0" algn="r">
              <a:spcBef>
                <a:spcPts val="0"/>
              </a:spcBef>
              <a:buNone/>
              <a:defRPr sz="1000">
                <a:solidFill>
                  <a:schemeClr val="lt1"/>
                </a:solidFill>
                <a:latin typeface="Titillium Web"/>
                <a:ea typeface="Titillium Web"/>
                <a:cs typeface="Titillium Web"/>
                <a:sym typeface="Titillium Web"/>
              </a:defRPr>
            </a:lvl5pPr>
            <a:lvl6pPr indent="0" lvl="5" marL="0" algn="r">
              <a:spcBef>
                <a:spcPts val="0"/>
              </a:spcBef>
              <a:buNone/>
              <a:defRPr sz="1000">
                <a:solidFill>
                  <a:schemeClr val="lt1"/>
                </a:solidFill>
                <a:latin typeface="Titillium Web"/>
                <a:ea typeface="Titillium Web"/>
                <a:cs typeface="Titillium Web"/>
                <a:sym typeface="Titillium Web"/>
              </a:defRPr>
            </a:lvl6pPr>
            <a:lvl7pPr indent="0" lvl="6" marL="0" algn="r">
              <a:spcBef>
                <a:spcPts val="0"/>
              </a:spcBef>
              <a:buNone/>
              <a:defRPr sz="1000">
                <a:solidFill>
                  <a:schemeClr val="lt1"/>
                </a:solidFill>
                <a:latin typeface="Titillium Web"/>
                <a:ea typeface="Titillium Web"/>
                <a:cs typeface="Titillium Web"/>
                <a:sym typeface="Titillium Web"/>
              </a:defRPr>
            </a:lvl7pPr>
            <a:lvl8pPr indent="0" lvl="7" marL="0" algn="r">
              <a:spcBef>
                <a:spcPts val="0"/>
              </a:spcBef>
              <a:buNone/>
              <a:defRPr sz="1000">
                <a:solidFill>
                  <a:schemeClr val="lt1"/>
                </a:solidFill>
                <a:latin typeface="Titillium Web"/>
                <a:ea typeface="Titillium Web"/>
                <a:cs typeface="Titillium Web"/>
                <a:sym typeface="Titillium Web"/>
              </a:defRPr>
            </a:lvl8pPr>
            <a:lvl9pPr indent="0" lvl="8" marL="0" algn="r">
              <a:spcBef>
                <a:spcPts val="0"/>
              </a:spcBef>
              <a:buNone/>
              <a:defRPr sz="1000">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sp>
        <p:nvSpPr>
          <p:cNvPr id="43" name="Google Shape;43;p9"/>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sz="1000">
                <a:solidFill>
                  <a:schemeClr val="lt1"/>
                </a:solidFill>
                <a:latin typeface="Titillium Web"/>
                <a:ea typeface="Titillium Web"/>
                <a:cs typeface="Titillium Web"/>
                <a:sym typeface="Titillium Web"/>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FDS - Last Slide">
  <p:cSld name="CFDS - Last Slide">
    <p:spTree>
      <p:nvGrpSpPr>
        <p:cNvPr id="44" name="Shape 44"/>
        <p:cNvGrpSpPr/>
        <p:nvPr/>
      </p:nvGrpSpPr>
      <p:grpSpPr>
        <a:xfrm>
          <a:off x="0" y="0"/>
          <a:ext cx="0" cy="0"/>
          <a:chOff x="0" y="0"/>
          <a:chExt cx="0" cy="0"/>
        </a:xfrm>
      </p:grpSpPr>
      <p:sp>
        <p:nvSpPr>
          <p:cNvPr id="45" name="Google Shape;45;p10"/>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 name="Google Shape;46;p10"/>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0"/>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48" name="Google Shape;48;p10"/>
          <p:cNvPicPr preferRelativeResize="0"/>
          <p:nvPr/>
        </p:nvPicPr>
        <p:blipFill rotWithShape="1">
          <a:blip r:embed="rId2">
            <a:alphaModFix/>
          </a:blip>
          <a:srcRect b="28637" l="0" r="0" t="12018"/>
          <a:stretch/>
        </p:blipFill>
        <p:spPr>
          <a:xfrm>
            <a:off x="794" y="825910"/>
            <a:ext cx="12192000" cy="4739148"/>
          </a:xfrm>
          <a:prstGeom prst="rect">
            <a:avLst/>
          </a:prstGeom>
          <a:noFill/>
          <a:ln>
            <a:noFill/>
          </a:ln>
        </p:spPr>
      </p:pic>
      <p:cxnSp>
        <p:nvCxnSpPr>
          <p:cNvPr id="49" name="Google Shape;49;p10"/>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50" name="Google Shape;50;p10"/>
          <p:cNvSpPr txBox="1"/>
          <p:nvPr>
            <p:ph type="title"/>
          </p:nvPr>
        </p:nvSpPr>
        <p:spPr>
          <a:xfrm>
            <a:off x="696913" y="5841328"/>
            <a:ext cx="8233200" cy="540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1"/>
              </a:buClr>
              <a:buSzPts val="3200"/>
              <a:buFont typeface="Titillium Web"/>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p:nvPr/>
        </p:nvSpPr>
        <p:spPr>
          <a:xfrm>
            <a:off x="0" y="6678000"/>
            <a:ext cx="12193588" cy="180000"/>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350" u="none" cap="none" strike="noStrike">
              <a:solidFill>
                <a:schemeClr val="dk1"/>
              </a:solidFill>
              <a:latin typeface="Arial"/>
              <a:ea typeface="Arial"/>
              <a:cs typeface="Arial"/>
              <a:sym typeface="Arial"/>
            </a:endParaRPr>
          </a:p>
        </p:txBody>
      </p:sp>
      <p:sp>
        <p:nvSpPr>
          <p:cNvPr id="11" name="Google Shape;11;p5"/>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00" u="none" cap="none" strike="noStrike">
                <a:solidFill>
                  <a:schemeClr val="lt1"/>
                </a:solidFill>
                <a:latin typeface="Titillium Web"/>
                <a:ea typeface="Titillium Web"/>
                <a:cs typeface="Titillium Web"/>
                <a:sym typeface="Titillium Web"/>
              </a:defRPr>
            </a:lvl1pPr>
            <a:lvl2pPr indent="0" lvl="1" marL="0" marR="0" rtl="0" algn="r">
              <a:spcBef>
                <a:spcPts val="0"/>
              </a:spcBef>
              <a:buNone/>
              <a:defRPr b="0" i="0" sz="1000" u="none" cap="none" strike="noStrike">
                <a:solidFill>
                  <a:schemeClr val="lt1"/>
                </a:solidFill>
                <a:latin typeface="Titillium Web"/>
                <a:ea typeface="Titillium Web"/>
                <a:cs typeface="Titillium Web"/>
                <a:sym typeface="Titillium Web"/>
              </a:defRPr>
            </a:lvl2pPr>
            <a:lvl3pPr indent="0" lvl="2" marL="0" marR="0" rtl="0" algn="r">
              <a:spcBef>
                <a:spcPts val="0"/>
              </a:spcBef>
              <a:buNone/>
              <a:defRPr b="0" i="0" sz="1000" u="none" cap="none" strike="noStrike">
                <a:solidFill>
                  <a:schemeClr val="lt1"/>
                </a:solidFill>
                <a:latin typeface="Titillium Web"/>
                <a:ea typeface="Titillium Web"/>
                <a:cs typeface="Titillium Web"/>
                <a:sym typeface="Titillium Web"/>
              </a:defRPr>
            </a:lvl3pPr>
            <a:lvl4pPr indent="0" lvl="3" marL="0" marR="0" rtl="0" algn="r">
              <a:spcBef>
                <a:spcPts val="0"/>
              </a:spcBef>
              <a:buNone/>
              <a:defRPr b="0" i="0" sz="1000" u="none" cap="none" strike="noStrike">
                <a:solidFill>
                  <a:schemeClr val="lt1"/>
                </a:solidFill>
                <a:latin typeface="Titillium Web"/>
                <a:ea typeface="Titillium Web"/>
                <a:cs typeface="Titillium Web"/>
                <a:sym typeface="Titillium Web"/>
              </a:defRPr>
            </a:lvl4pPr>
            <a:lvl5pPr indent="0" lvl="4" marL="0" marR="0" rtl="0" algn="r">
              <a:spcBef>
                <a:spcPts val="0"/>
              </a:spcBef>
              <a:buNone/>
              <a:defRPr b="0" i="0" sz="1000" u="none" cap="none" strike="noStrike">
                <a:solidFill>
                  <a:schemeClr val="lt1"/>
                </a:solidFill>
                <a:latin typeface="Titillium Web"/>
                <a:ea typeface="Titillium Web"/>
                <a:cs typeface="Titillium Web"/>
                <a:sym typeface="Titillium Web"/>
              </a:defRPr>
            </a:lvl5pPr>
            <a:lvl6pPr indent="0" lvl="5" marL="0" marR="0" rtl="0" algn="r">
              <a:spcBef>
                <a:spcPts val="0"/>
              </a:spcBef>
              <a:buNone/>
              <a:defRPr b="0" i="0" sz="1000" u="none" cap="none" strike="noStrike">
                <a:solidFill>
                  <a:schemeClr val="lt1"/>
                </a:solidFill>
                <a:latin typeface="Titillium Web"/>
                <a:ea typeface="Titillium Web"/>
                <a:cs typeface="Titillium Web"/>
                <a:sym typeface="Titillium Web"/>
              </a:defRPr>
            </a:lvl6pPr>
            <a:lvl7pPr indent="0" lvl="6" marL="0" marR="0" rtl="0" algn="r">
              <a:spcBef>
                <a:spcPts val="0"/>
              </a:spcBef>
              <a:buNone/>
              <a:defRPr b="0" i="0" sz="1000" u="none" cap="none" strike="noStrike">
                <a:solidFill>
                  <a:schemeClr val="lt1"/>
                </a:solidFill>
                <a:latin typeface="Titillium Web"/>
                <a:ea typeface="Titillium Web"/>
                <a:cs typeface="Titillium Web"/>
                <a:sym typeface="Titillium Web"/>
              </a:defRPr>
            </a:lvl7pPr>
            <a:lvl8pPr indent="0" lvl="7" marL="0" marR="0" rtl="0" algn="r">
              <a:spcBef>
                <a:spcPts val="0"/>
              </a:spcBef>
              <a:buNone/>
              <a:defRPr b="0" i="0" sz="1000" u="none" cap="none" strike="noStrike">
                <a:solidFill>
                  <a:schemeClr val="lt1"/>
                </a:solidFill>
                <a:latin typeface="Titillium Web"/>
                <a:ea typeface="Titillium Web"/>
                <a:cs typeface="Titillium Web"/>
                <a:sym typeface="Titillium Web"/>
              </a:defRPr>
            </a:lvl8pPr>
            <a:lvl9pPr indent="0" lvl="8" marL="0" marR="0" rtl="0" algn="r">
              <a:spcBef>
                <a:spcPts val="0"/>
              </a:spcBef>
              <a:buNone/>
              <a:defRPr b="0" i="0" sz="1000" u="none" cap="none" strike="noStrike">
                <a:solidFill>
                  <a:schemeClr val="lt1"/>
                </a:solidFill>
                <a:latin typeface="Titillium Web"/>
                <a:ea typeface="Titillium Web"/>
                <a:cs typeface="Titillium Web"/>
                <a:sym typeface="Titillium Web"/>
              </a:defRPr>
            </a:lvl9pPr>
          </a:lstStyle>
          <a:p>
            <a:pPr indent="0" lvl="0" marL="0" rtl="0" algn="r">
              <a:spcBef>
                <a:spcPts val="0"/>
              </a:spcBef>
              <a:spcAft>
                <a:spcPts val="0"/>
              </a:spcAft>
              <a:buNone/>
            </a:pPr>
            <a:fld id="{00000000-1234-1234-1234-123412341234}" type="slidenum">
              <a:rPr lang="en-US"/>
              <a:t>‹#›</a:t>
            </a:fld>
            <a:endParaRPr/>
          </a:p>
        </p:txBody>
      </p:sp>
      <p:pic>
        <p:nvPicPr>
          <p:cNvPr id="12" name="Google Shape;12;p5"/>
          <p:cNvPicPr preferRelativeResize="0"/>
          <p:nvPr/>
        </p:nvPicPr>
        <p:blipFill rotWithShape="1">
          <a:blip r:embed="rId1">
            <a:alphaModFix/>
          </a:blip>
          <a:srcRect b="0" l="0" r="0" t="0"/>
          <a:stretch/>
        </p:blipFill>
        <p:spPr>
          <a:xfrm>
            <a:off x="540000" y="180000"/>
            <a:ext cx="2371115" cy="626251"/>
          </a:xfrm>
          <a:prstGeom prst="rect">
            <a:avLst/>
          </a:prstGeom>
          <a:noFill/>
          <a:ln>
            <a:noFill/>
          </a:ln>
        </p:spPr>
      </p:pic>
      <p:sp>
        <p:nvSpPr>
          <p:cNvPr id="13" name="Google Shape;13;p5"/>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000" u="none" cap="none" strike="noStrike">
                <a:solidFill>
                  <a:schemeClr val="lt1"/>
                </a:solidFill>
                <a:latin typeface="Titillium Web"/>
                <a:ea typeface="Titillium Web"/>
                <a:cs typeface="Titillium Web"/>
                <a:sym typeface="Titillium Web"/>
              </a:defRPr>
            </a:lvl1pPr>
            <a:lvl2pPr lvl="1" marR="0" rtl="0" algn="l">
              <a:spcBef>
                <a:spcPts val="0"/>
              </a:spcBef>
              <a:spcAft>
                <a:spcPts val="0"/>
              </a:spcAft>
              <a:buSzPts val="1400"/>
              <a:buNone/>
              <a:defRPr b="0" i="0" sz="1867"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67"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67"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67"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67"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67"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67"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67" u="none" cap="none" strike="noStrike">
                <a:solidFill>
                  <a:schemeClr val="dk1"/>
                </a:solidFill>
                <a:latin typeface="Arial"/>
                <a:ea typeface="Arial"/>
                <a:cs typeface="Arial"/>
                <a:sym typeface="Arial"/>
              </a:defRPr>
            </a:lvl9pPr>
          </a:lstStyle>
          <a:p/>
        </p:txBody>
      </p:sp>
      <p:sp>
        <p:nvSpPr>
          <p:cNvPr id="14" name="Google Shape;14;p5"/>
          <p:cNvSpPr txBox="1"/>
          <p:nvPr>
            <p:ph type="title"/>
          </p:nvPr>
        </p:nvSpPr>
        <p:spPr>
          <a:xfrm>
            <a:off x="3240000" y="288000"/>
            <a:ext cx="8233200" cy="540000"/>
          </a:xfrm>
          <a:prstGeom prst="rect">
            <a:avLst/>
          </a:prstGeom>
          <a:noFill/>
          <a:ln>
            <a:noFill/>
          </a:ln>
        </p:spPr>
        <p:txBody>
          <a:bodyPr anchorCtr="0" anchor="ctr" bIns="45700" lIns="91425" spcFirstLastPara="1" rIns="91425" wrap="square" tIns="45700">
            <a:normAutofit/>
          </a:bodyPr>
          <a:lstStyle>
            <a:lvl1pPr lvl="0" marR="0" rtl="0" algn="r">
              <a:spcBef>
                <a:spcPts val="0"/>
              </a:spcBef>
              <a:spcAft>
                <a:spcPts val="0"/>
              </a:spcAft>
              <a:buClr>
                <a:srgbClr val="262626"/>
              </a:buClr>
              <a:buSzPts val="3200"/>
              <a:buFont typeface="Titillium Web"/>
              <a:buNone/>
              <a:defRPr b="0" i="0" sz="3200" u="none" cap="none" strike="noStrike">
                <a:solidFill>
                  <a:srgbClr val="262626"/>
                </a:solidFill>
                <a:latin typeface="Titillium Web"/>
                <a:ea typeface="Titillium Web"/>
                <a:cs typeface="Titillium Web"/>
                <a:sym typeface="Titillium We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5"/>
          <p:cNvSpPr/>
          <p:nvPr/>
        </p:nvSpPr>
        <p:spPr>
          <a:xfrm>
            <a:off x="0" y="0"/>
            <a:ext cx="12193588" cy="828675"/>
          </a:xfrm>
          <a:prstGeom prst="rect">
            <a:avLst/>
          </a:prstGeom>
          <a:solidFill>
            <a:srgbClr val="3F3F3F">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FDS_logo-white.png" id="16" name="Google Shape;16;p5"/>
          <p:cNvPicPr preferRelativeResize="0"/>
          <p:nvPr/>
        </p:nvPicPr>
        <p:blipFill rotWithShape="1">
          <a:blip r:embed="rId2">
            <a:alphaModFix/>
          </a:blip>
          <a:srcRect b="0" l="0" r="0" t="0"/>
          <a:stretch/>
        </p:blipFill>
        <p:spPr>
          <a:xfrm>
            <a:off x="323528" y="44624"/>
            <a:ext cx="1512168" cy="554462"/>
          </a:xfrm>
          <a:prstGeom prst="rect">
            <a:avLst/>
          </a:prstGeom>
          <a:noFill/>
          <a:ln>
            <a:noFill/>
          </a:ln>
        </p:spPr>
      </p:pic>
      <p:sp>
        <p:nvSpPr>
          <p:cNvPr id="17" name="Google Shape;17;p5"/>
          <p:cNvSpPr/>
          <p:nvPr/>
        </p:nvSpPr>
        <p:spPr>
          <a:xfrm>
            <a:off x="0" y="720725"/>
            <a:ext cx="5759450" cy="107950"/>
          </a:xfrm>
          <a:prstGeom prst="rect">
            <a:avLst/>
          </a:prstGeom>
          <a:solidFill>
            <a:srgbClr val="F26901">
              <a:alpha val="9882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8" name="Google Shape;18;p5"/>
          <p:cNvSpPr/>
          <p:nvPr/>
        </p:nvSpPr>
        <p:spPr>
          <a:xfrm>
            <a:off x="0" y="720725"/>
            <a:ext cx="4319588" cy="107950"/>
          </a:xfrm>
          <a:prstGeom prst="rect">
            <a:avLst/>
          </a:prstGeom>
          <a:solidFill>
            <a:srgbClr val="FF96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9" name="Google Shape;19;p5"/>
          <p:cNvSpPr/>
          <p:nvPr/>
        </p:nvSpPr>
        <p:spPr>
          <a:xfrm>
            <a:off x="0" y="720000"/>
            <a:ext cx="2232248" cy="107950"/>
          </a:xfrm>
          <a:prstGeom prst="rect">
            <a:avLst/>
          </a:prstGeom>
          <a:solidFill>
            <a:srgbClr val="FFCC0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cxnSp>
        <p:nvCxnSpPr>
          <p:cNvPr id="20" name="Google Shape;20;p5"/>
          <p:cNvCxnSpPr/>
          <p:nvPr/>
        </p:nvCxnSpPr>
        <p:spPr>
          <a:xfrm>
            <a:off x="-609301" y="6678000"/>
            <a:ext cx="13404600" cy="0"/>
          </a:xfrm>
          <a:prstGeom prst="straightConnector1">
            <a:avLst/>
          </a:prstGeom>
          <a:noFill/>
          <a:ln cap="flat" cmpd="sng" w="12700">
            <a:solidFill>
              <a:schemeClr val="dk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7.png"/><Relationship Id="rId4" Type="http://schemas.openxmlformats.org/officeDocument/2006/relationships/image" Target="../media/image23.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4.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51.png"/><Relationship Id="rId4" Type="http://schemas.openxmlformats.org/officeDocument/2006/relationships/image" Target="../media/image5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5.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2.png"/><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48.png"/><Relationship Id="rId4" Type="http://schemas.openxmlformats.org/officeDocument/2006/relationships/image" Target="../media/image4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4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4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https://www.kaggle.com/datasets/dyutidasmahaptra/s-and-p-500-with-financial-news-headlines-20082024" TargetMode="External"/><Relationship Id="rId4" Type="http://schemas.openxmlformats.org/officeDocument/2006/relationships/hyperlink" Target="https://www.kaggle.com/datasets/dyutidasmahaptra/s-and-p-500-with-financial-news-headlines-20082024" TargetMode="External"/><Relationship Id="rId5"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huggingface.co/ProsusAI/finbert" TargetMode="External"/><Relationship Id="rId4" Type="http://schemas.openxmlformats.org/officeDocument/2006/relationships/hyperlink" Target="https://www.researchgate.net/publication/251231107_Good_Debt_or_Bad_Debt_Detecting_Semantic_Orientations_in_Economic_Texts" TargetMode="External"/><Relationship Id="rId5"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idx="1" type="subTitle"/>
          </p:nvPr>
        </p:nvSpPr>
        <p:spPr>
          <a:xfrm>
            <a:off x="720000" y="5220000"/>
            <a:ext cx="8640000" cy="2700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lt1"/>
              </a:buClr>
              <a:buSzPts val="1600"/>
              <a:buNone/>
            </a:pPr>
            <a:r>
              <a:rPr lang="en-US"/>
              <a:t>Chartered Financial Data Scientist (CFDS)</a:t>
            </a:r>
            <a:endParaRPr/>
          </a:p>
        </p:txBody>
      </p:sp>
      <p:sp>
        <p:nvSpPr>
          <p:cNvPr id="57" name="Google Shape;57;p1"/>
          <p:cNvSpPr txBox="1"/>
          <p:nvPr>
            <p:ph type="title"/>
          </p:nvPr>
        </p:nvSpPr>
        <p:spPr>
          <a:xfrm>
            <a:off x="720000" y="5490000"/>
            <a:ext cx="8640000" cy="540000"/>
          </a:xfrm>
          <a:prstGeom prst="rect">
            <a:avLst/>
          </a:prstGeom>
          <a:noFill/>
          <a:ln>
            <a:noFill/>
          </a:ln>
        </p:spPr>
        <p:txBody>
          <a:bodyPr anchorCtr="0" anchor="ctr" bIns="0" lIns="0" spcFirstLastPara="1" rIns="0" wrap="square" tIns="0">
            <a:normAutofit/>
          </a:bodyPr>
          <a:lstStyle/>
          <a:p>
            <a:pPr indent="0" lvl="0" marL="0" rtl="0" algn="l">
              <a:spcBef>
                <a:spcPts val="0"/>
              </a:spcBef>
              <a:spcAft>
                <a:spcPts val="0"/>
              </a:spcAft>
              <a:buClr>
                <a:schemeClr val="dk1"/>
              </a:buClr>
              <a:buSzPts val="1100"/>
              <a:buFont typeface="Arial"/>
              <a:buNone/>
            </a:pPr>
            <a:r>
              <a:rPr b="1" lang="en-US" sz="1600">
                <a:latin typeface="Calibri"/>
                <a:ea typeface="Calibri"/>
                <a:cs typeface="Calibri"/>
                <a:sym typeface="Calibri"/>
              </a:rPr>
              <a:t>Study on the Tail Distribution of Stock Returns: From Empirical Analysis to Factor Explanations</a:t>
            </a:r>
            <a:endParaRPr sz="3800"/>
          </a:p>
        </p:txBody>
      </p:sp>
      <p:sp>
        <p:nvSpPr>
          <p:cNvPr id="58" name="Google Shape;58;p1"/>
          <p:cNvSpPr txBox="1"/>
          <p:nvPr>
            <p:ph idx="2" type="body"/>
          </p:nvPr>
        </p:nvSpPr>
        <p:spPr>
          <a:xfrm>
            <a:off x="720000" y="6030000"/>
            <a:ext cx="8640000" cy="3600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chemeClr val="lt1"/>
              </a:buClr>
              <a:buSzPts val="1600"/>
              <a:buFont typeface="Arial"/>
              <a:buNone/>
            </a:pPr>
            <a:r>
              <a:rPr lang="en-US"/>
              <a:t>CFDS-11 – Project Presentation - Pierre Nibéron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3240000" y="116632"/>
            <a:ext cx="8233200" cy="540000"/>
          </a:xfrm>
          <a:prstGeom prst="rect">
            <a:avLst/>
          </a:prstGeom>
          <a:noFill/>
          <a:ln>
            <a:noFill/>
          </a:ln>
        </p:spPr>
        <p:txBody>
          <a:bodyPr anchorCtr="0" anchor="ctr" bIns="0" lIns="0" spcFirstLastPara="1" rIns="0" wrap="square" tIns="0">
            <a:normAutofit/>
          </a:bodyPr>
          <a:lstStyle/>
          <a:p>
            <a:pPr indent="0" lvl="0" marL="0" rtl="0" algn="r">
              <a:spcBef>
                <a:spcPts val="0"/>
              </a:spcBef>
              <a:spcAft>
                <a:spcPts val="0"/>
              </a:spcAft>
              <a:buClr>
                <a:schemeClr val="lt1"/>
              </a:buClr>
              <a:buSzPts val="3200"/>
              <a:buFont typeface="Titillium Web"/>
              <a:buNone/>
            </a:pPr>
            <a:r>
              <a:rPr lang="en-US"/>
              <a:t>Contents</a:t>
            </a:r>
            <a:endParaRPr/>
          </a:p>
        </p:txBody>
      </p:sp>
      <p:sp>
        <p:nvSpPr>
          <p:cNvPr id="65" name="Google Shape;65;p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Motivation</a:t>
            </a:r>
            <a:endParaRPr/>
          </a:p>
          <a:p>
            <a:pPr indent="-342900" lvl="0" marL="342900" rtl="0" algn="l">
              <a:lnSpc>
                <a:spcPct val="100000"/>
              </a:lnSpc>
              <a:spcBef>
                <a:spcPts val="480"/>
              </a:spcBef>
              <a:spcAft>
                <a:spcPts val="0"/>
              </a:spcAft>
              <a:buClr>
                <a:schemeClr val="dk1"/>
              </a:buClr>
              <a:buSzPts val="2400"/>
              <a:buFont typeface="Arial"/>
              <a:buChar char="•"/>
            </a:pPr>
            <a:r>
              <a:rPr lang="en-US" sz="2400"/>
              <a:t>Problem Description</a:t>
            </a:r>
            <a:endParaRPr/>
          </a:p>
          <a:p>
            <a:pPr indent="-342900" lvl="0" marL="342900" rtl="0" algn="l">
              <a:lnSpc>
                <a:spcPct val="100000"/>
              </a:lnSpc>
              <a:spcBef>
                <a:spcPts val="480"/>
              </a:spcBef>
              <a:spcAft>
                <a:spcPts val="0"/>
              </a:spcAft>
              <a:buClr>
                <a:schemeClr val="dk1"/>
              </a:buClr>
              <a:buSzPts val="2400"/>
              <a:buFont typeface="Arial"/>
              <a:buChar char="•"/>
            </a:pPr>
            <a:r>
              <a:rPr lang="en-US" sz="2400"/>
              <a:t>Data</a:t>
            </a:r>
            <a:endParaRPr/>
          </a:p>
          <a:p>
            <a:pPr indent="-342900" lvl="0" marL="342900" rtl="0" algn="l">
              <a:lnSpc>
                <a:spcPct val="100000"/>
              </a:lnSpc>
              <a:spcBef>
                <a:spcPts val="480"/>
              </a:spcBef>
              <a:spcAft>
                <a:spcPts val="0"/>
              </a:spcAft>
              <a:buClr>
                <a:schemeClr val="dk1"/>
              </a:buClr>
              <a:buSzPts val="2400"/>
              <a:buFont typeface="Arial"/>
              <a:buChar char="•"/>
            </a:pPr>
            <a:r>
              <a:rPr lang="en-US"/>
              <a:t>Analysis</a:t>
            </a:r>
            <a:endParaRPr/>
          </a:p>
          <a:p>
            <a:pPr indent="-342900" lvl="0" marL="342900" rtl="0" algn="l">
              <a:lnSpc>
                <a:spcPct val="100000"/>
              </a:lnSpc>
              <a:spcBef>
                <a:spcPts val="480"/>
              </a:spcBef>
              <a:spcAft>
                <a:spcPts val="0"/>
              </a:spcAft>
              <a:buClr>
                <a:schemeClr val="dk1"/>
              </a:buClr>
              <a:buSzPts val="2400"/>
              <a:buFont typeface="Arial"/>
              <a:buChar char="•"/>
            </a:pPr>
            <a:r>
              <a:rPr lang="en-US" sz="2400"/>
              <a:t>Conclusion</a:t>
            </a:r>
            <a:endParaRPr sz="2400"/>
          </a:p>
          <a:p>
            <a:pPr indent="-214313" lvl="1" marL="557213" rtl="0" algn="l">
              <a:lnSpc>
                <a:spcPct val="100000"/>
              </a:lnSpc>
              <a:spcBef>
                <a:spcPts val="480"/>
              </a:spcBef>
              <a:spcAft>
                <a:spcPts val="0"/>
              </a:spcAft>
              <a:buSzPts val="2000"/>
              <a:buChar char="–"/>
            </a:pPr>
            <a:r>
              <a:rPr lang="en-US"/>
              <a:t>Limits of log-return, welch t-test, ….</a:t>
            </a:r>
            <a:endParaRPr/>
          </a:p>
          <a:p>
            <a:pPr indent="-214313" lvl="1" marL="557213" rtl="0" algn="l">
              <a:lnSpc>
                <a:spcPct val="100000"/>
              </a:lnSpc>
              <a:spcBef>
                <a:spcPts val="480"/>
              </a:spcBef>
              <a:spcAft>
                <a:spcPts val="0"/>
              </a:spcAft>
              <a:buSzPts val="2000"/>
              <a:buChar char="–"/>
            </a:pPr>
            <a:r>
              <a:rPr lang="en-US"/>
              <a:t>Extreme Value Theory ? (https://en.wikipedia.org/wiki/Extreme_value_theory)</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66" name="Google Shape;66;p2"/>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67" name="Google Shape;67;p2"/>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Motivation</a:t>
            </a:r>
            <a:endParaRPr/>
          </a:p>
        </p:txBody>
      </p:sp>
      <p:sp>
        <p:nvSpPr>
          <p:cNvPr id="74" name="Google Shape;74;p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On Fat-Tails</a:t>
            </a:r>
            <a:endParaRPr/>
          </a:p>
          <a:p>
            <a:pPr indent="-214313" lvl="1" marL="557213" rtl="0" algn="l">
              <a:lnSpc>
                <a:spcPct val="100000"/>
              </a:lnSpc>
              <a:spcBef>
                <a:spcPts val="400"/>
              </a:spcBef>
              <a:spcAft>
                <a:spcPts val="0"/>
              </a:spcAft>
              <a:buClr>
                <a:schemeClr val="dk1"/>
              </a:buClr>
              <a:buSzPts val="2000"/>
              <a:buChar char="–"/>
            </a:pPr>
            <a:r>
              <a:rPr lang="en-US"/>
              <a:t>Mention by Dr. Sikandar Siddiqui during CFDS lessons</a:t>
            </a:r>
            <a:endParaRPr/>
          </a:p>
          <a:p>
            <a:pPr indent="-214313" lvl="1" marL="557213" rtl="0" algn="l">
              <a:lnSpc>
                <a:spcPct val="100000"/>
              </a:lnSpc>
              <a:spcBef>
                <a:spcPts val="400"/>
              </a:spcBef>
              <a:spcAft>
                <a:spcPts val="0"/>
              </a:spcAft>
              <a:buClr>
                <a:schemeClr val="dk1"/>
              </a:buClr>
              <a:buSzPts val="2000"/>
              <a:buChar char="–"/>
            </a:pPr>
            <a:r>
              <a:rPr lang="en-US"/>
              <a:t>Personal IT Background going into finance</a:t>
            </a:r>
            <a:endParaRPr/>
          </a:p>
          <a:p>
            <a:pPr indent="-214313" lvl="1" marL="557213" rtl="0" algn="l">
              <a:lnSpc>
                <a:spcPct val="100000"/>
              </a:lnSpc>
              <a:spcBef>
                <a:spcPts val="400"/>
              </a:spcBef>
              <a:spcAft>
                <a:spcPts val="0"/>
              </a:spcAft>
              <a:buClr>
                <a:schemeClr val="dk1"/>
              </a:buClr>
              <a:buSzPts val="2000"/>
              <a:buChar char="–"/>
            </a:pPr>
            <a:r>
              <a:rPr lang="en-US"/>
              <a:t>Describing and finding explanatory models</a:t>
            </a:r>
            <a:endParaRPr/>
          </a:p>
          <a:p>
            <a:pPr indent="-171450" lvl="2" marL="857250" rtl="0" algn="l">
              <a:lnSpc>
                <a:spcPct val="100000"/>
              </a:lnSpc>
              <a:spcBef>
                <a:spcPts val="400"/>
              </a:spcBef>
              <a:spcAft>
                <a:spcPts val="0"/>
              </a:spcAft>
              <a:buSzPts val="1600"/>
              <a:buChar char="•"/>
            </a:pPr>
            <a:r>
              <a:rPr lang="en-US"/>
              <a:t>Reading </a:t>
            </a:r>
            <a:r>
              <a:rPr lang="en-US"/>
              <a:t>literature</a:t>
            </a:r>
            <a:r>
              <a:rPr lang="en-US"/>
              <a:t> on the subject</a:t>
            </a:r>
            <a:endParaRPr/>
          </a:p>
          <a:p>
            <a:pPr indent="-171450" lvl="2" marL="857250" rtl="0" algn="l">
              <a:lnSpc>
                <a:spcPct val="100000"/>
              </a:lnSpc>
              <a:spcBef>
                <a:spcPts val="400"/>
              </a:spcBef>
              <a:spcAft>
                <a:spcPts val="0"/>
              </a:spcAft>
              <a:buSzPts val="1600"/>
              <a:buChar char="•"/>
            </a:pPr>
            <a:r>
              <a:rPr lang="en-US"/>
              <a:t>Using the tools learned during CFDS course</a:t>
            </a:r>
            <a:endParaRPr/>
          </a:p>
          <a:p>
            <a:pPr indent="-171450" lvl="2" marL="857250" rtl="0" algn="l">
              <a:lnSpc>
                <a:spcPct val="100000"/>
              </a:lnSpc>
              <a:spcBef>
                <a:spcPts val="400"/>
              </a:spcBef>
              <a:spcAft>
                <a:spcPts val="0"/>
              </a:spcAft>
              <a:buSzPts val="1600"/>
              <a:buChar char="•"/>
            </a:pPr>
            <a:r>
              <a:rPr lang="en-US"/>
              <a:t>Initiation to existing financial models (CAPM, Fama-French,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t/>
            </a:r>
            <a:endParaRPr/>
          </a:p>
          <a:p>
            <a:pPr indent="0" lvl="0" marL="0" rtl="0" algn="l">
              <a:lnSpc>
                <a:spcPct val="100000"/>
              </a:lnSpc>
              <a:spcBef>
                <a:spcPts val="400"/>
              </a:spcBef>
              <a:spcAft>
                <a:spcPts val="0"/>
              </a:spcAft>
              <a:buNone/>
            </a:pPr>
            <a:r>
              <a:rPr i="1" lang="en-US"/>
              <a:t>“</a:t>
            </a:r>
            <a:r>
              <a:rPr i="1" lang="en-US"/>
              <a:t>large changes tend to be followed by large changes, of either sign, and small changes tend to be followed by small changes.” - </a:t>
            </a:r>
            <a:r>
              <a:rPr b="1" lang="en-US" sz="1100">
                <a:latin typeface="Arial"/>
                <a:ea typeface="Arial"/>
                <a:cs typeface="Arial"/>
                <a:sym typeface="Arial"/>
              </a:rPr>
              <a:t>Benoit B. Mandelbrot, 1963</a:t>
            </a:r>
            <a:endParaRPr i="1"/>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75" name="Google Shape;75;p3"/>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76" name="Google Shape;76;p3"/>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g3d96c7f3a6c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Problem Description</a:t>
            </a:r>
            <a:endParaRPr/>
          </a:p>
        </p:txBody>
      </p:sp>
      <p:sp>
        <p:nvSpPr>
          <p:cNvPr id="83" name="Google Shape;83;g3d96c7f3a6c_0_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First Part : Description and statistical testing </a:t>
            </a:r>
            <a:endParaRPr/>
          </a:p>
          <a:p>
            <a:pPr indent="-214313" lvl="1" marL="557213" rtl="0" algn="l">
              <a:lnSpc>
                <a:spcPct val="100000"/>
              </a:lnSpc>
              <a:spcBef>
                <a:spcPts val="400"/>
              </a:spcBef>
              <a:spcAft>
                <a:spcPts val="0"/>
              </a:spcAft>
              <a:buClr>
                <a:schemeClr val="dk1"/>
              </a:buClr>
              <a:buSzPts val="2000"/>
              <a:buChar char="–"/>
            </a:pPr>
            <a:r>
              <a:rPr lang="en-US"/>
              <a:t>Do we observe fat tails which would not exist under normal assumptions ? </a:t>
            </a:r>
            <a:br>
              <a:rPr lang="en-US"/>
            </a:br>
            <a:r>
              <a:rPr i="1" lang="en-US"/>
              <a:t>Arithmetic vs. Log, Skewness, Kutorsis, JB and visualization</a:t>
            </a:r>
            <a:endParaRPr i="1"/>
          </a:p>
          <a:p>
            <a:pPr indent="-214313" lvl="1" marL="557213" rtl="0" algn="l">
              <a:lnSpc>
                <a:spcPct val="100000"/>
              </a:lnSpc>
              <a:spcBef>
                <a:spcPts val="400"/>
              </a:spcBef>
              <a:spcAft>
                <a:spcPts val="0"/>
              </a:spcAft>
              <a:buClr>
                <a:schemeClr val="dk1"/>
              </a:buClr>
              <a:buSzPts val="2000"/>
              <a:buChar char="–"/>
            </a:pPr>
            <a:r>
              <a:rPr lang="en-US"/>
              <a:t>What do these tails look like? Are they symmetrical? </a:t>
            </a:r>
            <a:br>
              <a:rPr lang="en-US"/>
            </a:br>
            <a:r>
              <a:rPr i="1" lang="en-US"/>
              <a:t>99.9th percentile, clustering, t-test, f-test and visualization</a:t>
            </a:r>
            <a:endParaRPr i="1"/>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a:t>Second Part : Model and explanatory power</a:t>
            </a:r>
            <a:endParaRPr/>
          </a:p>
          <a:p>
            <a:pPr indent="-214313" lvl="1" marL="557213" rtl="0" algn="l">
              <a:lnSpc>
                <a:spcPct val="100000"/>
              </a:lnSpc>
              <a:spcBef>
                <a:spcPts val="400"/>
              </a:spcBef>
              <a:spcAft>
                <a:spcPts val="0"/>
              </a:spcAft>
              <a:buClr>
                <a:schemeClr val="dk1"/>
              </a:buClr>
              <a:buSzPts val="2000"/>
              <a:buChar char="–"/>
            </a:pPr>
            <a:r>
              <a:rPr lang="en-US"/>
              <a:t>CAPM</a:t>
            </a:r>
            <a:endParaRPr/>
          </a:p>
          <a:p>
            <a:pPr indent="-214313" lvl="1" marL="557213" rtl="0" algn="l">
              <a:lnSpc>
                <a:spcPct val="100000"/>
              </a:lnSpc>
              <a:spcBef>
                <a:spcPts val="400"/>
              </a:spcBef>
              <a:spcAft>
                <a:spcPts val="0"/>
              </a:spcAft>
              <a:buClr>
                <a:schemeClr val="dk1"/>
              </a:buClr>
              <a:buSzPts val="2000"/>
              <a:buChar char="–"/>
            </a:pPr>
            <a:r>
              <a:rPr lang="en-US"/>
              <a:t>Fama-French Three factors model</a:t>
            </a:r>
            <a:endParaRPr/>
          </a:p>
          <a:p>
            <a:pPr indent="-214313" lvl="1" marL="557213" rtl="0" algn="l">
              <a:lnSpc>
                <a:spcPct val="100000"/>
              </a:lnSpc>
              <a:spcBef>
                <a:spcPts val="400"/>
              </a:spcBef>
              <a:spcAft>
                <a:spcPts val="0"/>
              </a:spcAft>
              <a:buSzPts val="2000"/>
              <a:buChar char="–"/>
            </a:pPr>
            <a:r>
              <a:rPr lang="en-US"/>
              <a:t>Carhart’s Momentum</a:t>
            </a:r>
            <a:endParaRPr/>
          </a:p>
          <a:p>
            <a:pPr indent="-214313" lvl="1" marL="557213" rtl="0" algn="l">
              <a:lnSpc>
                <a:spcPct val="100000"/>
              </a:lnSpc>
              <a:spcBef>
                <a:spcPts val="400"/>
              </a:spcBef>
              <a:spcAft>
                <a:spcPts val="0"/>
              </a:spcAft>
              <a:buSzPts val="2000"/>
              <a:buChar char="–"/>
            </a:pPr>
            <a:r>
              <a:rPr lang="en-US"/>
              <a:t>Sentiment</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84" name="Google Shape;84;g3d96c7f3a6c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85" name="Google Shape;85;g3d96c7f3a6c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d96c7f3a6c_0_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Data</a:t>
            </a:r>
            <a:endParaRPr/>
          </a:p>
        </p:txBody>
      </p:sp>
      <p:sp>
        <p:nvSpPr>
          <p:cNvPr id="92" name="Google Shape;92;g3d96c7f3a6c_0_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S&amp;P500 stock list from wikipedia</a:t>
            </a:r>
            <a:endParaRPr/>
          </a:p>
          <a:p>
            <a:pPr indent="-342900" lvl="0" marL="342900" rtl="0" algn="l">
              <a:lnSpc>
                <a:spcPct val="100000"/>
              </a:lnSpc>
              <a:spcBef>
                <a:spcPts val="0"/>
              </a:spcBef>
              <a:spcAft>
                <a:spcPts val="0"/>
              </a:spcAft>
              <a:buClr>
                <a:schemeClr val="dk1"/>
              </a:buClr>
              <a:buSzPts val="2400"/>
              <a:buFont typeface="Arial"/>
              <a:buChar char="•"/>
            </a:pPr>
            <a:r>
              <a:rPr lang="en-US"/>
              <a:t>Daily stock prices from 01.01.2010 to 01.05.2026</a:t>
            </a:r>
            <a:endParaRPr/>
          </a:p>
          <a:p>
            <a:pPr indent="-342900" lvl="0" marL="342900" rtl="0" algn="l">
              <a:lnSpc>
                <a:spcPct val="100000"/>
              </a:lnSpc>
              <a:spcBef>
                <a:spcPts val="0"/>
              </a:spcBef>
              <a:spcAft>
                <a:spcPts val="0"/>
              </a:spcAft>
              <a:buSzPts val="2400"/>
              <a:buChar char="•"/>
            </a:pPr>
            <a:r>
              <a:rPr lang="en-US"/>
              <a:t>yFinance api (data from yahoo finance website)</a:t>
            </a:r>
            <a:endParaRPr/>
          </a:p>
          <a:p>
            <a:pPr indent="-342900" lvl="0" marL="342900" rtl="0" algn="l">
              <a:lnSpc>
                <a:spcPct val="100000"/>
              </a:lnSpc>
              <a:spcBef>
                <a:spcPts val="0"/>
              </a:spcBef>
              <a:spcAft>
                <a:spcPts val="0"/>
              </a:spcAft>
              <a:buSzPts val="2400"/>
              <a:buChar char="•"/>
            </a:pPr>
            <a:r>
              <a:rPr lang="en-US"/>
              <a:t>Risk free rate, T-Bill 3 month from FRED’s website</a:t>
            </a:r>
            <a:endParaRPr/>
          </a:p>
          <a:p>
            <a:pPr indent="-342900" lvl="0" marL="342900" rtl="0" algn="l">
              <a:lnSpc>
                <a:spcPct val="100000"/>
              </a:lnSpc>
              <a:spcBef>
                <a:spcPts val="0"/>
              </a:spcBef>
              <a:spcAft>
                <a:spcPts val="0"/>
              </a:spcAft>
              <a:buSzPts val="2400"/>
              <a:buChar char="•"/>
            </a:pPr>
            <a:r>
              <a:rPr lang="en-US"/>
              <a:t>Fama-French dataset from panda_datareader library</a:t>
            </a:r>
            <a:endParaRPr/>
          </a:p>
          <a:p>
            <a:pPr indent="-342900" lvl="0" marL="342900" rtl="0" algn="l">
              <a:lnSpc>
                <a:spcPct val="100000"/>
              </a:lnSpc>
              <a:spcBef>
                <a:spcPts val="0"/>
              </a:spcBef>
              <a:spcAft>
                <a:spcPts val="0"/>
              </a:spcAft>
              <a:buSzPts val="2400"/>
              <a:buChar char="•"/>
            </a:pPr>
            <a:r>
              <a:rPr lang="en-US"/>
              <a:t>News headlines from kaggle (see link in sentiment analysis part)</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93" name="Google Shape;93;g3d96c7f3a6c_0_9"/>
          <p:cNvSpPr txBox="1"/>
          <p:nvPr>
            <p:ph idx="11" type="ftr"/>
          </p:nvPr>
        </p:nvSpPr>
        <p:spPr>
          <a:xfrm>
            <a:off x="484024" y="666845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94" name="Google Shape;94;g3d96c7f3a6c_0_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5" name="Google Shape;95;g3d96c7f3a6c_0_9"/>
          <p:cNvPicPr preferRelativeResize="0"/>
          <p:nvPr/>
        </p:nvPicPr>
        <p:blipFill>
          <a:blip r:embed="rId3">
            <a:alphaModFix/>
          </a:blip>
          <a:stretch>
            <a:fillRect/>
          </a:stretch>
        </p:blipFill>
        <p:spPr>
          <a:xfrm>
            <a:off x="-787" y="4224925"/>
            <a:ext cx="12193577" cy="1960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96c7f3a6c_0_7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description</a:t>
            </a:r>
            <a:endParaRPr/>
          </a:p>
        </p:txBody>
      </p:sp>
      <p:sp>
        <p:nvSpPr>
          <p:cNvPr id="102" name="Google Shape;102;g3d96c7f3a6c_0_7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Arithmetic-Returns stats table:</a:t>
            </a:r>
            <a:br>
              <a:rPr lang="en-US"/>
            </a:br>
            <a:endParaRPr/>
          </a:p>
          <a:p>
            <a:pPr indent="0" lvl="0" marL="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342900" lvl="0" marL="342900" rtl="0" algn="l">
              <a:spcBef>
                <a:spcPts val="0"/>
              </a:spcBef>
              <a:spcAft>
                <a:spcPts val="0"/>
              </a:spcAft>
              <a:buSzPts val="2400"/>
              <a:buChar char="•"/>
            </a:pPr>
            <a:r>
              <a:rPr lang="en-US"/>
              <a:t>Jarque-Berra</a:t>
            </a:r>
            <a:br>
              <a:rPr lang="en-US"/>
            </a:br>
            <a:endParaRPr/>
          </a:p>
          <a:p>
            <a:pPr indent="0" lvl="0" marL="342900" rtl="0" algn="l">
              <a:spcBef>
                <a:spcPts val="0"/>
              </a:spcBef>
              <a:spcAft>
                <a:spcPts val="0"/>
              </a:spcAft>
              <a:buNone/>
            </a:pPr>
            <a:r>
              <a:rPr lang="en-US"/>
              <a:t>JB statistic: 40458666.05</a:t>
            </a:r>
            <a:endParaRPr/>
          </a:p>
          <a:p>
            <a:pPr indent="0" lvl="0" marL="342900" rtl="0" algn="l">
              <a:spcBef>
                <a:spcPts val="0"/>
              </a:spcBef>
              <a:spcAft>
                <a:spcPts val="0"/>
              </a:spcAft>
              <a:buNone/>
            </a:pPr>
            <a:r>
              <a:rPr lang="en-US"/>
              <a:t>p-value: 0.00e+00</a:t>
            </a:r>
            <a:br>
              <a:rPr lang="en-US"/>
            </a:b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03" name="Google Shape;103;g3d96c7f3a6c_0_7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04" name="Google Shape;104;g3d96c7f3a6c_0_7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5" name="Google Shape;105;g3d96c7f3a6c_0_79"/>
          <p:cNvPicPr preferRelativeResize="0"/>
          <p:nvPr/>
        </p:nvPicPr>
        <p:blipFill>
          <a:blip r:embed="rId3">
            <a:alphaModFix/>
          </a:blip>
          <a:stretch>
            <a:fillRect/>
          </a:stretch>
        </p:blipFill>
        <p:spPr>
          <a:xfrm>
            <a:off x="4781538" y="1771650"/>
            <a:ext cx="2628900" cy="3314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db971e7cb6_0_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description</a:t>
            </a:r>
            <a:endParaRPr/>
          </a:p>
        </p:txBody>
      </p:sp>
      <p:sp>
        <p:nvSpPr>
          <p:cNvPr id="112" name="Google Shape;112;g3db971e7cb6_0_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Log-Returns stats table:</a:t>
            </a:r>
            <a:br>
              <a:rPr lang="en-US"/>
            </a:br>
            <a:r>
              <a:rPr lang="en-US"/>
              <a:t>(check skewness and max,</a:t>
            </a:r>
            <a:br>
              <a:rPr lang="en-US"/>
            </a:br>
            <a:r>
              <a:rPr lang="en-US"/>
              <a:t>effect of the log)</a:t>
            </a:r>
            <a:endParaRPr/>
          </a:p>
          <a:p>
            <a:pPr indent="0" lvl="0" marL="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0" lvl="0" marL="342900" rtl="0" algn="l">
              <a:spcBef>
                <a:spcPts val="0"/>
              </a:spcBef>
              <a:spcAft>
                <a:spcPts val="0"/>
              </a:spcAft>
              <a:buNone/>
            </a:pPr>
            <a:r>
              <a:t/>
            </a:r>
            <a:endParaRPr/>
          </a:p>
          <a:p>
            <a:pPr indent="-342900" lvl="0" marL="342900" rtl="0" algn="l">
              <a:spcBef>
                <a:spcPts val="0"/>
              </a:spcBef>
              <a:spcAft>
                <a:spcPts val="0"/>
              </a:spcAft>
              <a:buSzPts val="2400"/>
              <a:buChar char="•"/>
            </a:pPr>
            <a:r>
              <a:rPr lang="en-US"/>
              <a:t>Jarque-Berra</a:t>
            </a:r>
            <a:endParaRPr/>
          </a:p>
          <a:p>
            <a:pPr indent="0" lvl="0" marL="342900" rtl="0" algn="l">
              <a:spcBef>
                <a:spcPts val="0"/>
              </a:spcBef>
              <a:spcAft>
                <a:spcPts val="0"/>
              </a:spcAft>
              <a:buNone/>
            </a:pPr>
            <a:br>
              <a:rPr lang="en-US"/>
            </a:br>
            <a:r>
              <a:rPr lang="en-US"/>
              <a:t>JB statistic: 51077412.92</a:t>
            </a:r>
            <a:endParaRPr/>
          </a:p>
          <a:p>
            <a:pPr indent="0" lvl="0" marL="342900" rtl="0" algn="l">
              <a:spcBef>
                <a:spcPts val="0"/>
              </a:spcBef>
              <a:spcAft>
                <a:spcPts val="0"/>
              </a:spcAft>
              <a:buNone/>
            </a:pPr>
            <a:r>
              <a:rPr lang="en-US"/>
              <a:t>p-value: 0.00e+00</a:t>
            </a:r>
            <a:endParaRPr/>
          </a:p>
          <a:p>
            <a:pPr indent="-87313" lvl="1" marL="557213" rtl="0" algn="l">
              <a:lnSpc>
                <a:spcPct val="100000"/>
              </a:lnSpc>
              <a:spcBef>
                <a:spcPts val="400"/>
              </a:spcBef>
              <a:spcAft>
                <a:spcPts val="0"/>
              </a:spcAft>
              <a:buClr>
                <a:schemeClr val="dk1"/>
              </a:buClr>
              <a:buSzPts val="2000"/>
              <a:buNone/>
            </a:pPr>
            <a:r>
              <a:t/>
            </a:r>
            <a:endParaRPr/>
          </a:p>
          <a:p>
            <a:pPr indent="0" lvl="0" marL="342900" rtl="0" algn="l">
              <a:lnSpc>
                <a:spcPct val="100000"/>
              </a:lnSpc>
              <a:spcBef>
                <a:spcPts val="48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13" name="Google Shape;113;g3db971e7cb6_0_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14" name="Google Shape;114;g3db971e7cb6_0_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15" name="Google Shape;115;g3db971e7cb6_0_3"/>
          <p:cNvPicPr preferRelativeResize="0"/>
          <p:nvPr/>
        </p:nvPicPr>
        <p:blipFill>
          <a:blip r:embed="rId3">
            <a:alphaModFix/>
          </a:blip>
          <a:stretch>
            <a:fillRect/>
          </a:stretch>
        </p:blipFill>
        <p:spPr>
          <a:xfrm>
            <a:off x="4782325" y="1781175"/>
            <a:ext cx="2628900" cy="329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g3d96c7f3a6c_0_3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22" name="Google Shape;122;g3d96c7f3a6c_0_3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23" name="Google Shape;123;g3d96c7f3a6c_0_3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24" name="Google Shape;124;g3d96c7f3a6c_0_39"/>
          <p:cNvPicPr preferRelativeResize="0"/>
          <p:nvPr/>
        </p:nvPicPr>
        <p:blipFill>
          <a:blip r:embed="rId3">
            <a:alphaModFix/>
          </a:blip>
          <a:stretch>
            <a:fillRect/>
          </a:stretch>
        </p:blipFill>
        <p:spPr>
          <a:xfrm>
            <a:off x="0" y="1231600"/>
            <a:ext cx="6026774" cy="4853425"/>
          </a:xfrm>
          <a:prstGeom prst="rect">
            <a:avLst/>
          </a:prstGeom>
          <a:noFill/>
          <a:ln>
            <a:noFill/>
          </a:ln>
        </p:spPr>
      </p:pic>
      <p:pic>
        <p:nvPicPr>
          <p:cNvPr id="125" name="Google Shape;125;g3d96c7f3a6c_0_39"/>
          <p:cNvPicPr preferRelativeResize="0"/>
          <p:nvPr/>
        </p:nvPicPr>
        <p:blipFill>
          <a:blip r:embed="rId4">
            <a:alphaModFix/>
          </a:blip>
          <a:stretch>
            <a:fillRect/>
          </a:stretch>
        </p:blipFill>
        <p:spPr>
          <a:xfrm>
            <a:off x="6165599" y="1319949"/>
            <a:ext cx="5965977" cy="467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96c7f3a6c_0_4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32" name="Google Shape;132;g3d96c7f3a6c_0_4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33" name="Google Shape;133;g3d96c7f3a6c_0_4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34" name="Google Shape;134;g3d96c7f3a6c_0_49"/>
          <p:cNvPicPr preferRelativeResize="0"/>
          <p:nvPr/>
        </p:nvPicPr>
        <p:blipFill>
          <a:blip r:embed="rId3">
            <a:alphaModFix/>
          </a:blip>
          <a:stretch>
            <a:fillRect/>
          </a:stretch>
        </p:blipFill>
        <p:spPr>
          <a:xfrm>
            <a:off x="5825000" y="1060251"/>
            <a:ext cx="6257375" cy="5039125"/>
          </a:xfrm>
          <a:prstGeom prst="rect">
            <a:avLst/>
          </a:prstGeom>
          <a:noFill/>
          <a:ln>
            <a:noFill/>
          </a:ln>
        </p:spPr>
      </p:pic>
      <p:pic>
        <p:nvPicPr>
          <p:cNvPr id="135" name="Google Shape;135;g3d96c7f3a6c_0_49"/>
          <p:cNvPicPr preferRelativeResize="0"/>
          <p:nvPr/>
        </p:nvPicPr>
        <p:blipFill>
          <a:blip r:embed="rId4">
            <a:alphaModFix/>
          </a:blip>
          <a:stretch>
            <a:fillRect/>
          </a:stretch>
        </p:blipFill>
        <p:spPr>
          <a:xfrm>
            <a:off x="245975" y="1412882"/>
            <a:ext cx="5467350" cy="4333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d96c7f3a6c_0_6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42" name="Google Shape;142;g3d96c7f3a6c_0_6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43" name="Google Shape;143;g3d96c7f3a6c_0_6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44" name="Google Shape;144;g3d96c7f3a6c_0_60"/>
          <p:cNvPicPr preferRelativeResize="0"/>
          <p:nvPr/>
        </p:nvPicPr>
        <p:blipFill>
          <a:blip r:embed="rId3">
            <a:alphaModFix/>
          </a:blip>
          <a:stretch>
            <a:fillRect/>
          </a:stretch>
        </p:blipFill>
        <p:spPr>
          <a:xfrm>
            <a:off x="1168575" y="791450"/>
            <a:ext cx="10304727" cy="57336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d96c7f3a6c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51" name="Google Shape;151;g3d96c7f3a6c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52" name="Google Shape;152;g3d96c7f3a6c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53" name="Google Shape;153;g3d96c7f3a6c_0_97"/>
          <p:cNvPicPr preferRelativeResize="0"/>
          <p:nvPr/>
        </p:nvPicPr>
        <p:blipFill>
          <a:blip r:embed="rId3">
            <a:alphaModFix/>
          </a:blip>
          <a:stretch>
            <a:fillRect/>
          </a:stretch>
        </p:blipFill>
        <p:spPr>
          <a:xfrm>
            <a:off x="0" y="2086400"/>
            <a:ext cx="12193577" cy="2685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96c7f3a6c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Whole set visualization</a:t>
            </a:r>
            <a:endParaRPr/>
          </a:p>
        </p:txBody>
      </p:sp>
      <p:sp>
        <p:nvSpPr>
          <p:cNvPr id="160" name="Google Shape;160;g3d96c7f3a6c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61" name="Google Shape;161;g3d96c7f3a6c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62" name="Google Shape;162;g3d96c7f3a6c_0_87"/>
          <p:cNvPicPr preferRelativeResize="0"/>
          <p:nvPr/>
        </p:nvPicPr>
        <p:blipFill>
          <a:blip r:embed="rId3">
            <a:alphaModFix/>
          </a:blip>
          <a:stretch>
            <a:fillRect/>
          </a:stretch>
        </p:blipFill>
        <p:spPr>
          <a:xfrm>
            <a:off x="841125" y="1357320"/>
            <a:ext cx="5324475" cy="4143375"/>
          </a:xfrm>
          <a:prstGeom prst="rect">
            <a:avLst/>
          </a:prstGeom>
          <a:noFill/>
          <a:ln>
            <a:noFill/>
          </a:ln>
        </p:spPr>
      </p:pic>
      <p:pic>
        <p:nvPicPr>
          <p:cNvPr id="163" name="Google Shape;163;g3d96c7f3a6c_0_87"/>
          <p:cNvPicPr preferRelativeResize="0"/>
          <p:nvPr/>
        </p:nvPicPr>
        <p:blipFill>
          <a:blip r:embed="rId4">
            <a:alphaModFix/>
          </a:blip>
          <a:stretch>
            <a:fillRect/>
          </a:stretch>
        </p:blipFill>
        <p:spPr>
          <a:xfrm>
            <a:off x="6165600" y="1357332"/>
            <a:ext cx="5324475" cy="4143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db971e7cb6_0_10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Top 0.1% description</a:t>
            </a:r>
            <a:endParaRPr/>
          </a:p>
        </p:txBody>
      </p:sp>
      <p:sp>
        <p:nvSpPr>
          <p:cNvPr id="170" name="Google Shape;170;g3db971e7cb6_0_107"/>
          <p:cNvSpPr txBox="1"/>
          <p:nvPr>
            <p:ph idx="1" type="body"/>
          </p:nvPr>
        </p:nvSpPr>
        <p:spPr>
          <a:xfrm>
            <a:off x="720188" y="134175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two top 0.1% have the same statistical </a:t>
            </a:r>
            <a:r>
              <a:rPr lang="en-US"/>
              <a:t>resemblance?</a:t>
            </a:r>
            <a:br>
              <a:rPr lang="en-US"/>
            </a:br>
            <a:r>
              <a:rPr lang="en-US"/>
              <a:t>Check both return definition, log_return (left), arithmetic_return (right)</a:t>
            </a:r>
            <a:br>
              <a:rPr lang="en-US"/>
            </a:br>
            <a:r>
              <a:rPr i="1" lang="en-US" sz="1800"/>
              <a:t>Extreme Value Theory and Generalized Pareto Distribution territory.</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71" name="Google Shape;171;g3db971e7cb6_0_10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72" name="Google Shape;172;g3db971e7cb6_0_10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3" name="Google Shape;173;g3db971e7cb6_0_107"/>
          <p:cNvPicPr preferRelativeResize="0"/>
          <p:nvPr/>
        </p:nvPicPr>
        <p:blipFill>
          <a:blip r:embed="rId3">
            <a:alphaModFix/>
          </a:blip>
          <a:stretch>
            <a:fillRect/>
          </a:stretch>
        </p:blipFill>
        <p:spPr>
          <a:xfrm>
            <a:off x="8005500" y="2575925"/>
            <a:ext cx="3390900" cy="3657600"/>
          </a:xfrm>
          <a:prstGeom prst="rect">
            <a:avLst/>
          </a:prstGeom>
          <a:noFill/>
          <a:ln>
            <a:noFill/>
          </a:ln>
        </p:spPr>
      </p:pic>
      <p:pic>
        <p:nvPicPr>
          <p:cNvPr id="174" name="Google Shape;174;g3db971e7cb6_0_107"/>
          <p:cNvPicPr preferRelativeResize="0"/>
          <p:nvPr/>
        </p:nvPicPr>
        <p:blipFill>
          <a:blip r:embed="rId4">
            <a:alphaModFix/>
          </a:blip>
          <a:stretch>
            <a:fillRect/>
          </a:stretch>
        </p:blipFill>
        <p:spPr>
          <a:xfrm>
            <a:off x="4401350" y="2575925"/>
            <a:ext cx="3390900" cy="3657600"/>
          </a:xfrm>
          <a:prstGeom prst="rect">
            <a:avLst/>
          </a:prstGeom>
          <a:noFill/>
          <a:ln>
            <a:noFill/>
          </a:ln>
        </p:spPr>
      </p:pic>
      <p:pic>
        <p:nvPicPr>
          <p:cNvPr id="175" name="Google Shape;175;g3db971e7cb6_0_107"/>
          <p:cNvPicPr preferRelativeResize="0"/>
          <p:nvPr/>
        </p:nvPicPr>
        <p:blipFill>
          <a:blip r:embed="rId5">
            <a:alphaModFix/>
          </a:blip>
          <a:stretch>
            <a:fillRect/>
          </a:stretch>
        </p:blipFill>
        <p:spPr>
          <a:xfrm>
            <a:off x="797197" y="3535660"/>
            <a:ext cx="3390900" cy="123431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3d96c7f3a6c_0_7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182" name="Google Shape;182;g3d96c7f3a6c_0_7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years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83" name="Google Shape;183;g3d96c7f3a6c_0_7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84" name="Google Shape;184;g3d96c7f3a6c_0_7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5" name="Google Shape;185;g3d96c7f3a6c_0_70"/>
          <p:cNvPicPr preferRelativeResize="0"/>
          <p:nvPr/>
        </p:nvPicPr>
        <p:blipFill>
          <a:blip r:embed="rId3">
            <a:alphaModFix/>
          </a:blip>
          <a:stretch>
            <a:fillRect/>
          </a:stretch>
        </p:blipFill>
        <p:spPr>
          <a:xfrm>
            <a:off x="5372875" y="1898325"/>
            <a:ext cx="1447800" cy="394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db971e7cb6_0_4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a:t>
            </a:r>
            <a:r>
              <a:rPr lang="en-US"/>
              <a:t> (time clustering)</a:t>
            </a:r>
            <a:endParaRPr/>
          </a:p>
        </p:txBody>
      </p:sp>
      <p:sp>
        <p:nvSpPr>
          <p:cNvPr id="192" name="Google Shape;192;g3db971e7cb6_0_4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days, ordered, head(10)</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193" name="Google Shape;193;g3db971e7cb6_0_4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194" name="Google Shape;194;g3db971e7cb6_0_4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5" name="Google Shape;195;g3db971e7cb6_0_43"/>
          <p:cNvPicPr preferRelativeResize="0"/>
          <p:nvPr/>
        </p:nvPicPr>
        <p:blipFill>
          <a:blip r:embed="rId3">
            <a:alphaModFix/>
          </a:blip>
          <a:stretch>
            <a:fillRect/>
          </a:stretch>
        </p:blipFill>
        <p:spPr>
          <a:xfrm>
            <a:off x="4875400" y="1811863"/>
            <a:ext cx="2441200" cy="32342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db971e7cb6_0_6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02" name="Google Shape;202;g3db971e7cb6_0_64"/>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years were good / bad for the top 0.1%?</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03" name="Google Shape;203;g3db971e7cb6_0_6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04" name="Google Shape;204;g3db971e7cb6_0_6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05" name="Google Shape;205;g3db971e7cb6_0_64"/>
          <p:cNvPicPr preferRelativeResize="0"/>
          <p:nvPr/>
        </p:nvPicPr>
        <p:blipFill>
          <a:blip r:embed="rId3">
            <a:alphaModFix/>
          </a:blip>
          <a:stretch>
            <a:fillRect/>
          </a:stretch>
        </p:blipFill>
        <p:spPr>
          <a:xfrm>
            <a:off x="2436800" y="1891175"/>
            <a:ext cx="7319976" cy="47384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db971e7cb6_0_8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12" name="Google Shape;212;g3db971e7cb6_0_8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13" name="Google Shape;213;g3db971e7cb6_0_8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14" name="Google Shape;214;g3db971e7cb6_0_8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15" name="Google Shape;215;g3db971e7cb6_0_87"/>
          <p:cNvPicPr preferRelativeResize="0"/>
          <p:nvPr/>
        </p:nvPicPr>
        <p:blipFill>
          <a:blip r:embed="rId3">
            <a:alphaModFix/>
          </a:blip>
          <a:stretch>
            <a:fillRect/>
          </a:stretch>
        </p:blipFill>
        <p:spPr>
          <a:xfrm>
            <a:off x="6096000" y="2318975"/>
            <a:ext cx="5764977" cy="3916950"/>
          </a:xfrm>
          <a:prstGeom prst="rect">
            <a:avLst/>
          </a:prstGeom>
          <a:noFill/>
          <a:ln>
            <a:noFill/>
          </a:ln>
        </p:spPr>
      </p:pic>
      <p:pic>
        <p:nvPicPr>
          <p:cNvPr id="216" name="Google Shape;216;g3db971e7cb6_0_87"/>
          <p:cNvPicPr preferRelativeResize="0"/>
          <p:nvPr/>
        </p:nvPicPr>
        <p:blipFill>
          <a:blip r:embed="rId4">
            <a:alphaModFix/>
          </a:blip>
          <a:stretch>
            <a:fillRect/>
          </a:stretch>
        </p:blipFill>
        <p:spPr>
          <a:xfrm>
            <a:off x="0" y="2318975"/>
            <a:ext cx="6095999" cy="3916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39a84e3b28a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a:t>
            </a:r>
            <a:endParaRPr/>
          </a:p>
        </p:txBody>
      </p:sp>
      <p:sp>
        <p:nvSpPr>
          <p:cNvPr id="223" name="Google Shape;223;g39a84e3b28a_0_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24" name="Google Shape;224;g39a84e3b28a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25" name="Google Shape;225;g39a84e3b28a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26" name="Google Shape;226;g39a84e3b28a_0_0"/>
          <p:cNvPicPr preferRelativeResize="0"/>
          <p:nvPr/>
        </p:nvPicPr>
        <p:blipFill>
          <a:blip r:embed="rId3">
            <a:alphaModFix/>
          </a:blip>
          <a:stretch>
            <a:fillRect/>
          </a:stretch>
        </p:blipFill>
        <p:spPr>
          <a:xfrm>
            <a:off x="1187463" y="1784000"/>
            <a:ext cx="9817074" cy="4871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db971e7cb6_0_12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(time clustering, statistical testing)</a:t>
            </a:r>
            <a:endParaRPr/>
          </a:p>
        </p:txBody>
      </p:sp>
      <p:sp>
        <p:nvSpPr>
          <p:cNvPr id="233" name="Google Shape;233;g3db971e7cb6_0_12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the top 0.1% mean across years are statistically different within each positive extreme and negative extreme? log_return (left), arithmetic_return (right)</a:t>
            </a:r>
            <a:endParaRPr/>
          </a:p>
          <a:p>
            <a:pPr indent="457200" lvl="0" marL="0" rtl="0" algn="l">
              <a:lnSpc>
                <a:spcPct val="100000"/>
              </a:lnSpc>
              <a:spcBef>
                <a:spcPts val="400"/>
              </a:spcBef>
              <a:spcAft>
                <a:spcPts val="0"/>
              </a:spcAft>
              <a:buNone/>
            </a:pPr>
            <a:r>
              <a:rPr i="1" lang="en-US" sz="1800"/>
              <a:t>Less impact of return definition because we are comparing positive / positive and negative / negative.</a:t>
            </a:r>
            <a:br>
              <a:rPr i="1" lang="en-US" sz="1800"/>
            </a:br>
            <a:r>
              <a:rPr i="1" lang="en-US" sz="1800"/>
              <a:t>	Extreme Value Theory and Generalized Pareto Distribution territory.</a:t>
            </a:r>
            <a:endParaRPr i="1" sz="1800"/>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34" name="Google Shape;234;g3db971e7cb6_0_12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35" name="Google Shape;235;g3db971e7cb6_0_12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36" name="Google Shape;236;g3db971e7cb6_0_120"/>
          <p:cNvPicPr preferRelativeResize="0"/>
          <p:nvPr/>
        </p:nvPicPr>
        <p:blipFill>
          <a:blip r:embed="rId3">
            <a:alphaModFix/>
          </a:blip>
          <a:stretch>
            <a:fillRect/>
          </a:stretch>
        </p:blipFill>
        <p:spPr>
          <a:xfrm>
            <a:off x="1028688" y="3417550"/>
            <a:ext cx="5067300" cy="904875"/>
          </a:xfrm>
          <a:prstGeom prst="rect">
            <a:avLst/>
          </a:prstGeom>
          <a:noFill/>
          <a:ln>
            <a:noFill/>
          </a:ln>
        </p:spPr>
      </p:pic>
      <p:pic>
        <p:nvPicPr>
          <p:cNvPr id="237" name="Google Shape;237;g3db971e7cb6_0_120"/>
          <p:cNvPicPr preferRelativeResize="0"/>
          <p:nvPr/>
        </p:nvPicPr>
        <p:blipFill>
          <a:blip r:embed="rId4">
            <a:alphaModFix/>
          </a:blip>
          <a:stretch>
            <a:fillRect/>
          </a:stretch>
        </p:blipFill>
        <p:spPr>
          <a:xfrm>
            <a:off x="6096000" y="3417550"/>
            <a:ext cx="4981575" cy="904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db971e7cb6_0_5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a:t>
            </a:r>
            <a:r>
              <a:rPr lang="en-US"/>
              <a:t> (sector clustering)</a:t>
            </a:r>
            <a:endParaRPr/>
          </a:p>
        </p:txBody>
      </p:sp>
      <p:sp>
        <p:nvSpPr>
          <p:cNvPr id="244" name="Google Shape;244;g3db971e7cb6_0_5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Top 0.1% daily returns clustered by sectors, ordered</a:t>
            </a:r>
            <a:endParaRPr/>
          </a:p>
          <a:p>
            <a:pPr indent="0" lvl="0" marL="342900" rtl="0" algn="l">
              <a:lnSpc>
                <a:spcPct val="100000"/>
              </a:lnSpc>
              <a:spcBef>
                <a:spcPts val="0"/>
              </a:spcBef>
              <a:spcAft>
                <a:spcPts val="0"/>
              </a:spcAft>
              <a:buNone/>
            </a:pPr>
            <a:r>
              <a:rPr lang="en-US"/>
              <a:t>Raw count and normalized (events/nbr_stocks) count.</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45" name="Google Shape;245;g3db971e7cb6_0_5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46" name="Google Shape;246;g3db971e7cb6_0_5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47" name="Google Shape;247;g3db971e7cb6_0_53"/>
          <p:cNvPicPr preferRelativeResize="0"/>
          <p:nvPr/>
        </p:nvPicPr>
        <p:blipFill>
          <a:blip r:embed="rId3">
            <a:alphaModFix/>
          </a:blip>
          <a:stretch>
            <a:fillRect/>
          </a:stretch>
        </p:blipFill>
        <p:spPr>
          <a:xfrm>
            <a:off x="1918788" y="2550788"/>
            <a:ext cx="3048000" cy="2638425"/>
          </a:xfrm>
          <a:prstGeom prst="rect">
            <a:avLst/>
          </a:prstGeom>
          <a:noFill/>
          <a:ln>
            <a:noFill/>
          </a:ln>
        </p:spPr>
      </p:pic>
      <p:pic>
        <p:nvPicPr>
          <p:cNvPr id="248" name="Google Shape;248;g3db971e7cb6_0_53"/>
          <p:cNvPicPr preferRelativeResize="0"/>
          <p:nvPr/>
        </p:nvPicPr>
        <p:blipFill>
          <a:blip r:embed="rId4">
            <a:alphaModFix/>
          </a:blip>
          <a:stretch>
            <a:fillRect/>
          </a:stretch>
        </p:blipFill>
        <p:spPr>
          <a:xfrm>
            <a:off x="5608763" y="2569825"/>
            <a:ext cx="3495675" cy="2600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3db971e7cb6_0_75"/>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endParaRPr/>
          </a:p>
        </p:txBody>
      </p:sp>
      <p:sp>
        <p:nvSpPr>
          <p:cNvPr id="255" name="Google Shape;255;g3db971e7cb6_0_75"/>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sectors performed best in the top 0.1%?</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56" name="Google Shape;256;g3db971e7cb6_0_75"/>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57" name="Google Shape;257;g3db971e7cb6_0_75"/>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58" name="Google Shape;258;g3db971e7cb6_0_75"/>
          <p:cNvPicPr preferRelativeResize="0"/>
          <p:nvPr/>
        </p:nvPicPr>
        <p:blipFill>
          <a:blip r:embed="rId3">
            <a:alphaModFix/>
          </a:blip>
          <a:stretch>
            <a:fillRect/>
          </a:stretch>
        </p:blipFill>
        <p:spPr>
          <a:xfrm>
            <a:off x="2506150" y="1771437"/>
            <a:ext cx="7181275" cy="4197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db971e7cb6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endParaRPr/>
          </a:p>
        </p:txBody>
      </p:sp>
      <p:sp>
        <p:nvSpPr>
          <p:cNvPr id="265" name="Google Shape;265;g3db971e7cb6_0_9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t>
            </a:r>
            <a:r>
              <a:rPr lang="en-US"/>
              <a:t>(Arithmetic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66" name="Google Shape;266;g3db971e7cb6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67" name="Google Shape;267;g3db971e7cb6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68" name="Google Shape;268;g3db971e7cb6_0_97"/>
          <p:cNvPicPr preferRelativeResize="0"/>
          <p:nvPr/>
        </p:nvPicPr>
        <p:blipFill>
          <a:blip r:embed="rId3">
            <a:alphaModFix/>
          </a:blip>
          <a:stretch>
            <a:fillRect/>
          </a:stretch>
        </p:blipFill>
        <p:spPr>
          <a:xfrm>
            <a:off x="6096000" y="2305800"/>
            <a:ext cx="6097574" cy="3018904"/>
          </a:xfrm>
          <a:prstGeom prst="rect">
            <a:avLst/>
          </a:prstGeom>
          <a:noFill/>
          <a:ln>
            <a:noFill/>
          </a:ln>
        </p:spPr>
      </p:pic>
      <p:pic>
        <p:nvPicPr>
          <p:cNvPr id="269" name="Google Shape;269;g3db971e7cb6_0_97"/>
          <p:cNvPicPr preferRelativeResize="0"/>
          <p:nvPr/>
        </p:nvPicPr>
        <p:blipFill>
          <a:blip r:embed="rId4">
            <a:alphaModFix/>
          </a:blip>
          <a:stretch>
            <a:fillRect/>
          </a:stretch>
        </p:blipFill>
        <p:spPr>
          <a:xfrm>
            <a:off x="0" y="2305805"/>
            <a:ext cx="6097574" cy="30188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9a84e3b28a_0_1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endParaRPr/>
          </a:p>
        </p:txBody>
      </p:sp>
      <p:sp>
        <p:nvSpPr>
          <p:cNvPr id="276" name="Google Shape;276;g39a84e3b28a_0_11"/>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What does it look like? (Arithmetic returns to not crush the extremes positives)</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77" name="Google Shape;277;g39a84e3b28a_0_1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78" name="Google Shape;278;g39a84e3b28a_0_1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79" name="Google Shape;279;g39a84e3b28a_0_11"/>
          <p:cNvPicPr preferRelativeResize="0"/>
          <p:nvPr/>
        </p:nvPicPr>
        <p:blipFill>
          <a:blip r:embed="rId3">
            <a:alphaModFix/>
          </a:blip>
          <a:stretch>
            <a:fillRect/>
          </a:stretch>
        </p:blipFill>
        <p:spPr>
          <a:xfrm>
            <a:off x="1134775" y="1730950"/>
            <a:ext cx="9924024" cy="4924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3db971e7cb6_0_13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Approach-2 (sector clustering</a:t>
            </a:r>
            <a:r>
              <a:rPr lang="en-US"/>
              <a:t>,statistical testing</a:t>
            </a:r>
            <a:r>
              <a:rPr lang="en-US"/>
              <a:t>)</a:t>
            </a:r>
            <a:endParaRPr/>
          </a:p>
        </p:txBody>
      </p:sp>
      <p:sp>
        <p:nvSpPr>
          <p:cNvPr id="286" name="Google Shape;286;g3db971e7cb6_0_13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spcBef>
                <a:spcPts val="0"/>
              </a:spcBef>
              <a:spcAft>
                <a:spcPts val="0"/>
              </a:spcAft>
              <a:buSzPts val="2400"/>
              <a:buChar char="•"/>
            </a:pPr>
            <a:r>
              <a:rPr lang="en-US"/>
              <a:t>Do the top 0.1% mean across sectors are statistically different within each positive extreme and negative extreme? log_return (left), arithmetic_return (right)</a:t>
            </a:r>
            <a:endParaRPr/>
          </a:p>
          <a:p>
            <a:pPr indent="457200" lvl="0" marL="0" rtl="0" algn="l">
              <a:spcBef>
                <a:spcPts val="400"/>
              </a:spcBef>
              <a:spcAft>
                <a:spcPts val="0"/>
              </a:spcAft>
              <a:buNone/>
            </a:pPr>
            <a:r>
              <a:rPr i="1" lang="en-US" sz="1800"/>
              <a:t>Less impact of return definition because we are comparing positive / positive and negative / negative.</a:t>
            </a:r>
            <a:br>
              <a:rPr i="1" lang="en-US" sz="1800"/>
            </a:br>
            <a:r>
              <a:rPr i="1" lang="en-US" sz="1800"/>
              <a:t>	Extreme Value Theory and Generalized Pareto Distribution territory.</a:t>
            </a:r>
            <a:endParaRPr i="1" sz="1800"/>
          </a:p>
          <a:p>
            <a:pPr indent="457200" lvl="0" marL="0" rtl="0" algn="l">
              <a:spcBef>
                <a:spcPts val="400"/>
              </a:spcBef>
              <a:spcAft>
                <a:spcPts val="0"/>
              </a:spcAft>
              <a:buNone/>
            </a:pPr>
            <a:r>
              <a:t/>
            </a:r>
            <a:endParaRPr i="1" sz="1800"/>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87" name="Google Shape;287;g3db971e7cb6_0_13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88" name="Google Shape;288;g3db971e7cb6_0_13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89" name="Google Shape;289;g3db971e7cb6_0_132"/>
          <p:cNvPicPr preferRelativeResize="0"/>
          <p:nvPr/>
        </p:nvPicPr>
        <p:blipFill>
          <a:blip r:embed="rId3">
            <a:alphaModFix/>
          </a:blip>
          <a:stretch>
            <a:fillRect/>
          </a:stretch>
        </p:blipFill>
        <p:spPr>
          <a:xfrm>
            <a:off x="6165588" y="3671563"/>
            <a:ext cx="5791200" cy="771525"/>
          </a:xfrm>
          <a:prstGeom prst="rect">
            <a:avLst/>
          </a:prstGeom>
          <a:noFill/>
          <a:ln>
            <a:noFill/>
          </a:ln>
        </p:spPr>
      </p:pic>
      <p:pic>
        <p:nvPicPr>
          <p:cNvPr id="290" name="Google Shape;290;g3db971e7cb6_0_132"/>
          <p:cNvPicPr preferRelativeResize="0"/>
          <p:nvPr/>
        </p:nvPicPr>
        <p:blipFill>
          <a:blip r:embed="rId4">
            <a:alphaModFix/>
          </a:blip>
          <a:stretch>
            <a:fillRect/>
          </a:stretch>
        </p:blipFill>
        <p:spPr>
          <a:xfrm>
            <a:off x="374388" y="3671563"/>
            <a:ext cx="5791200" cy="771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db971e7cb6_0_33"/>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 (CAPM)</a:t>
            </a:r>
            <a:endParaRPr/>
          </a:p>
        </p:txBody>
      </p:sp>
      <p:sp>
        <p:nvSpPr>
          <p:cNvPr id="297" name="Google Shape;297;g3db971e7cb6_0_33"/>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a:t>
            </a:r>
            <a:r>
              <a:rPr lang="en-US"/>
              <a:t>oes a model built on normal assumptions break down precisely where normality breaks down?</a:t>
            </a:r>
            <a:br>
              <a:rPr lang="en-US"/>
            </a:br>
            <a:br>
              <a:rPr lang="en-US"/>
            </a:br>
            <a:r>
              <a:rPr lang="en-US"/>
              <a:t>CAPM : Ri​−Rf​=α+β(Rm​−Rf​)</a:t>
            </a:r>
            <a:br>
              <a:rPr lang="en-US"/>
            </a:br>
            <a:br>
              <a:rPr lang="en-US"/>
            </a:br>
            <a:r>
              <a:rPr lang="en-US"/>
              <a:t>Ri​ — the return of your stock (or portfolio)</a:t>
            </a:r>
            <a:endParaRPr/>
          </a:p>
          <a:p>
            <a:pPr indent="0" lvl="0" marL="342900" rtl="0" algn="l">
              <a:spcBef>
                <a:spcPts val="0"/>
              </a:spcBef>
              <a:spcAft>
                <a:spcPts val="0"/>
              </a:spcAft>
              <a:buNone/>
            </a:pPr>
            <a:r>
              <a:rPr lang="en-US"/>
              <a:t>Rm — the return of the market (S&amp;P500 index)</a:t>
            </a:r>
            <a:endParaRPr/>
          </a:p>
          <a:p>
            <a:pPr indent="0" lvl="0" marL="342900" rtl="0" algn="l">
              <a:spcBef>
                <a:spcPts val="0"/>
              </a:spcBef>
              <a:spcAft>
                <a:spcPts val="0"/>
              </a:spcAft>
              <a:buNone/>
            </a:pPr>
            <a:r>
              <a:rPr lang="en-US"/>
              <a:t>Rf — the risk-free rate (DTB3, the 3-month T-bill)</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298" name="Google Shape;298;g3db971e7cb6_0_33"/>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299" name="Google Shape;299;g3db971e7cb6_0_33"/>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9a84e3b28a_0_2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06" name="Google Shape;306;g39a84e3b28a_0_2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a:t>Build a simple OLS for CAPM on AAPL to test.</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07" name="Google Shape;307;g39a84e3b28a_0_2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08" name="Google Shape;308;g39a84e3b28a_0_2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09" name="Google Shape;309;g39a84e3b28a_0_29"/>
          <p:cNvPicPr preferRelativeResize="0"/>
          <p:nvPr/>
        </p:nvPicPr>
        <p:blipFill>
          <a:blip r:embed="rId3">
            <a:alphaModFix/>
          </a:blip>
          <a:stretch>
            <a:fillRect/>
          </a:stretch>
        </p:blipFill>
        <p:spPr>
          <a:xfrm>
            <a:off x="696925" y="1732600"/>
            <a:ext cx="7838575" cy="48632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39a84e3b28a_0_3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16" name="Google Shape;316;g39a84e3b28a_0_38"/>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sz="1800"/>
              <a:t>Beta = 1.12 and highly significant (t = 59, p ≈ 0). AAPL moves slightly more than the market — a 1% market move corresponds to a 1.12% AAPL move on average. This makes intuitive sense for a large-cap tech stock.</a:t>
            </a:r>
            <a:endParaRPr sz="1800"/>
          </a:p>
          <a:p>
            <a:pPr indent="0" lvl="0" marL="342900" rtl="0" algn="l">
              <a:spcBef>
                <a:spcPts val="0"/>
              </a:spcBef>
              <a:spcAft>
                <a:spcPts val="0"/>
              </a:spcAft>
              <a:buNone/>
            </a:pPr>
            <a:r>
              <a:rPr lang="en-US" sz="1800"/>
              <a:t>R² = 0.47 means 47% of AAPL's daily return variance is explained by the market alone. For a single factor model on a single stock, that is respectable. The remaining 53% is idiosyncratic — company-specific news, earnings, product launches etc.</a:t>
            </a:r>
            <a:endParaRPr sz="1800"/>
          </a:p>
          <a:p>
            <a:pPr indent="0" lvl="0" marL="342900" rtl="0" algn="l">
              <a:spcBef>
                <a:spcPts val="0"/>
              </a:spcBef>
              <a:spcAft>
                <a:spcPts val="0"/>
              </a:spcAft>
              <a:buNone/>
            </a:pPr>
            <a:r>
              <a:rPr lang="en-US" sz="1800"/>
              <a:t>Alpha = 0.0005 and significant (p = 0.009). This is small but tells you AAPL generates a tiny daily excess return above what CAPM predicts — annualized that is roughly 0.0005 × 252 ≈ 12.6% annual alpha. That is actually substantial and reflects AAPL's well-documented outperformance over this period.</a:t>
            </a:r>
            <a:endParaRPr sz="1800"/>
          </a:p>
          <a:p>
            <a:pPr indent="0" lvl="0" marL="342900" rtl="0" algn="l">
              <a:spcBef>
                <a:spcPts val="0"/>
              </a:spcBef>
              <a:spcAft>
                <a:spcPts val="0"/>
              </a:spcAft>
              <a:buNone/>
            </a:pPr>
            <a:r>
              <a:rPr lang="en-US" sz="1800"/>
              <a:t>The Warning Signs — And This Is Key For Your Project</a:t>
            </a:r>
            <a:endParaRPr sz="1800"/>
          </a:p>
          <a:p>
            <a:pPr indent="0" lvl="0" marL="342900" rtl="0" algn="l">
              <a:spcBef>
                <a:spcPts val="0"/>
              </a:spcBef>
              <a:spcAft>
                <a:spcPts val="0"/>
              </a:spcAft>
              <a:buNone/>
            </a:pPr>
            <a:r>
              <a:rPr lang="en-US" sz="1800"/>
              <a:t>Look at the bottom of the output. This is where it gets really interesting:</a:t>
            </a:r>
            <a:endParaRPr sz="1800"/>
          </a:p>
          <a:p>
            <a:pPr indent="0" lvl="0" marL="342900" rtl="0" algn="l">
              <a:spcBef>
                <a:spcPts val="0"/>
              </a:spcBef>
              <a:spcAft>
                <a:spcPts val="0"/>
              </a:spcAft>
              <a:buNone/>
            </a:pPr>
            <a:r>
              <a:rPr lang="en-US" sz="1800"/>
              <a:t>Jarque-Bera = 7574, p ≈ 0 — the residuals are overwhelmingly non-normal. CAPM assumes normally distributed residuals and this is rejected with extreme force.</a:t>
            </a:r>
            <a:endParaRPr sz="1800"/>
          </a:p>
          <a:p>
            <a:pPr indent="0" lvl="0" marL="342900" rtl="0" algn="l">
              <a:spcBef>
                <a:spcPts val="0"/>
              </a:spcBef>
              <a:spcAft>
                <a:spcPts val="0"/>
              </a:spcAft>
              <a:buNone/>
            </a:pPr>
            <a:r>
              <a:rPr lang="en-US" sz="1800"/>
              <a:t>Kurtosis = 9.79 — the residuals have fat tails. A normal distribution has kurtosis of 3. You are at nearly 10. </a:t>
            </a:r>
            <a:endParaRPr sz="1800"/>
          </a:p>
          <a:p>
            <a:pPr indent="0" lvl="0" marL="342900" rtl="0" algn="l">
              <a:spcBef>
                <a:spcPts val="0"/>
              </a:spcBef>
              <a:spcAft>
                <a:spcPts val="0"/>
              </a:spcAft>
              <a:buNone/>
            </a:pPr>
            <a:r>
              <a:rPr lang="en-US" sz="1800"/>
              <a:t>This means CAPM is not just leaving 53% of variance unexplained — it is leaving the extreme part of that variance unexplained in a structured, non-random way. Which is exactly what your tail regression will demonstrate next.</a:t>
            </a:r>
            <a:endParaRPr sz="1800"/>
          </a:p>
          <a:p>
            <a:pPr indent="0" lvl="0" marL="342900" rtl="0" algn="l">
              <a:lnSpc>
                <a:spcPct val="100000"/>
              </a:lnSpc>
              <a:spcBef>
                <a:spcPts val="0"/>
              </a:spcBef>
              <a:spcAft>
                <a:spcPts val="0"/>
              </a:spcAft>
              <a:buNone/>
            </a:pPr>
            <a:r>
              <a:t/>
            </a:r>
            <a:endParaRPr sz="1800"/>
          </a:p>
          <a:p>
            <a:pPr indent="-190500" lvl="0" marL="342900" rtl="0" algn="l">
              <a:lnSpc>
                <a:spcPct val="100000"/>
              </a:lnSpc>
              <a:spcBef>
                <a:spcPts val="480"/>
              </a:spcBef>
              <a:spcAft>
                <a:spcPts val="0"/>
              </a:spcAft>
              <a:buClr>
                <a:schemeClr val="dk1"/>
              </a:buClr>
              <a:buSzPts val="2400"/>
              <a:buFont typeface="Arial"/>
              <a:buNone/>
            </a:pPr>
            <a:r>
              <a:t/>
            </a:r>
            <a:endParaRPr sz="1800"/>
          </a:p>
        </p:txBody>
      </p:sp>
      <p:sp>
        <p:nvSpPr>
          <p:cNvPr id="317" name="Google Shape;317;g39a84e3b28a_0_3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18" name="Google Shape;318;g39a84e3b28a_0_3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9a84e3b28a_0_4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25" name="Google Shape;325;g39a84e3b28a_0_4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26" name="Google Shape;326;g39a84e3b28a_0_4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7" name="Google Shape;327;g39a84e3b28a_0_48"/>
          <p:cNvPicPr preferRelativeResize="0"/>
          <p:nvPr/>
        </p:nvPicPr>
        <p:blipFill>
          <a:blip r:embed="rId3">
            <a:alphaModFix/>
          </a:blip>
          <a:stretch>
            <a:fillRect/>
          </a:stretch>
        </p:blipFill>
        <p:spPr>
          <a:xfrm>
            <a:off x="366275" y="969457"/>
            <a:ext cx="11325225" cy="5619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9a84e3b28a_0_5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34" name="Google Shape;334;g39a84e3b28a_0_5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a:t>Do the CAPM regression on each individual stock for the whole set and summarize.</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335" name="Google Shape;335;g39a84e3b28a_0_5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36" name="Google Shape;336;g39a84e3b28a_0_5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7" name="Google Shape;337;g39a84e3b28a_0_57"/>
          <p:cNvPicPr preferRelativeResize="0"/>
          <p:nvPr/>
        </p:nvPicPr>
        <p:blipFill>
          <a:blip r:embed="rId3">
            <a:alphaModFix/>
          </a:blip>
          <a:stretch>
            <a:fillRect/>
          </a:stretch>
        </p:blipFill>
        <p:spPr>
          <a:xfrm>
            <a:off x="3248800" y="4970463"/>
            <a:ext cx="5695950" cy="981075"/>
          </a:xfrm>
          <a:prstGeom prst="rect">
            <a:avLst/>
          </a:prstGeom>
          <a:noFill/>
          <a:ln>
            <a:noFill/>
          </a:ln>
        </p:spPr>
      </p:pic>
      <p:pic>
        <p:nvPicPr>
          <p:cNvPr id="338" name="Google Shape;338;g39a84e3b28a_0_57"/>
          <p:cNvPicPr preferRelativeResize="0"/>
          <p:nvPr/>
        </p:nvPicPr>
        <p:blipFill>
          <a:blip r:embed="rId4">
            <a:alphaModFix/>
          </a:blip>
          <a:stretch>
            <a:fillRect/>
          </a:stretch>
        </p:blipFill>
        <p:spPr>
          <a:xfrm>
            <a:off x="3239988" y="2687900"/>
            <a:ext cx="5695950" cy="17335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g39a84e3b28a_0_6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45" name="Google Shape;345;g39a84e3b28a_0_68"/>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None/>
            </a:pPr>
            <a:r>
              <a:rPr lang="en-US" sz="1800"/>
              <a:t>Beta Median beta = 0.98, almost exactly 1.0. This is completely expected — you are working with S&amp;P500 constituents, which by construction are the market. The std of 0.28 shows meaningful dispersion though — some stocks are much more sensitive than others (max 1.69, min 0.36).</a:t>
            </a:r>
            <a:endParaRPr sz="1800"/>
          </a:p>
          <a:p>
            <a:pPr indent="0" lvl="0" marL="342900" rtl="0" algn="l">
              <a:spcBef>
                <a:spcPts val="0"/>
              </a:spcBef>
              <a:spcAft>
                <a:spcPts val="0"/>
              </a:spcAft>
              <a:buNone/>
            </a:pPr>
            <a:r>
              <a:rPr lang="en-US" sz="1800"/>
              <a:t>R² </a:t>
            </a:r>
            <a:endParaRPr sz="1800"/>
          </a:p>
          <a:p>
            <a:pPr indent="0" lvl="0" marL="342900" rtl="0" algn="l">
              <a:spcBef>
                <a:spcPts val="0"/>
              </a:spcBef>
              <a:spcAft>
                <a:spcPts val="0"/>
              </a:spcAft>
              <a:buNone/>
            </a:pPr>
            <a:r>
              <a:rPr lang="en-US" sz="1800"/>
              <a:t>Median R² = 0.337 means the market factor explains about 34% of individual stock return variance on average. This is actually the canonical result in the literature — CAPM captures the systematic component reasonably well but leaves the majority of variance unexplained. AAPL at 0.47 is actually above average, reflecting how closely mega-caps track the index.</a:t>
            </a:r>
            <a:endParaRPr sz="1800"/>
          </a:p>
          <a:p>
            <a:pPr indent="0" lvl="0" marL="342900" rtl="0" algn="l">
              <a:spcBef>
                <a:spcPts val="0"/>
              </a:spcBef>
              <a:spcAft>
                <a:spcPts val="0"/>
              </a:spcAft>
              <a:buNone/>
            </a:pPr>
            <a:r>
              <a:rPr lang="en-US" sz="1800"/>
              <a:t>Alpha </a:t>
            </a:r>
            <a:endParaRPr sz="1800"/>
          </a:p>
          <a:p>
            <a:pPr indent="0" lvl="0" marL="342900" rtl="0" algn="l">
              <a:spcBef>
                <a:spcPts val="0"/>
              </a:spcBef>
              <a:spcAft>
                <a:spcPts val="0"/>
              </a:spcAft>
              <a:buNone/>
            </a:pPr>
            <a:r>
              <a:rPr lang="en-US" sz="1800"/>
              <a:t>Only 9.2% of stocks show significant alpha at the 5% level. Under CAPM, alpha should be zero for all stocks, so in a pure sense this looks like CAPM is doing its job — 90.8% of stocks have no statistically detectable excess return. However there are two nuances worth noting:</a:t>
            </a:r>
            <a:endParaRPr sz="1800"/>
          </a:p>
          <a:p>
            <a:pPr indent="0" lvl="0" marL="342900" rtl="0" algn="l">
              <a:spcBef>
                <a:spcPts val="0"/>
              </a:spcBef>
              <a:spcAft>
                <a:spcPts val="0"/>
              </a:spcAft>
              <a:buNone/>
            </a:pPr>
            <a:r>
              <a:t/>
            </a:r>
            <a:endParaRPr sz="1800"/>
          </a:p>
          <a:p>
            <a:pPr indent="0" lvl="0" marL="342900" rtl="0" algn="l">
              <a:spcBef>
                <a:spcPts val="0"/>
              </a:spcBef>
              <a:spcAft>
                <a:spcPts val="0"/>
              </a:spcAft>
              <a:buNone/>
            </a:pPr>
            <a:r>
              <a:rPr lang="en-US" sz="1800"/>
              <a:t>The mean alpha = 0.0002 per day, which annualizes to roughly 0.0002 × 252 ≈ 5%. Small individually but economically meaningful</a:t>
            </a:r>
            <a:endParaRPr sz="1800"/>
          </a:p>
          <a:p>
            <a:pPr indent="0" lvl="0" marL="342900" rtl="0" algn="l">
              <a:spcBef>
                <a:spcPts val="0"/>
              </a:spcBef>
              <a:spcAft>
                <a:spcPts val="0"/>
              </a:spcAft>
              <a:buNone/>
            </a:pPr>
            <a:r>
              <a:rPr lang="en-US" sz="1800"/>
              <a:t>9.2% is still almost double what you'd expect by chance at the 5% significance level — if CAPM were perfectly true, you'd expect exactly 5% false positives by definition</a:t>
            </a:r>
            <a:endParaRPr sz="1800"/>
          </a:p>
          <a:p>
            <a:pPr indent="0" lvl="0" marL="342900" rtl="0" algn="l">
              <a:lnSpc>
                <a:spcPct val="100000"/>
              </a:lnSpc>
              <a:spcBef>
                <a:spcPts val="0"/>
              </a:spcBef>
              <a:spcAft>
                <a:spcPts val="0"/>
              </a:spcAft>
              <a:buNone/>
            </a:pPr>
            <a:r>
              <a:t/>
            </a:r>
            <a:endParaRPr sz="1800"/>
          </a:p>
          <a:p>
            <a:pPr indent="-190500" lvl="0" marL="342900" rtl="0" algn="l">
              <a:lnSpc>
                <a:spcPct val="100000"/>
              </a:lnSpc>
              <a:spcBef>
                <a:spcPts val="480"/>
              </a:spcBef>
              <a:spcAft>
                <a:spcPts val="0"/>
              </a:spcAft>
              <a:buClr>
                <a:schemeClr val="dk1"/>
              </a:buClr>
              <a:buSzPts val="2400"/>
              <a:buFont typeface="Arial"/>
              <a:buNone/>
            </a:pPr>
            <a:r>
              <a:t/>
            </a:r>
            <a:endParaRPr sz="1800"/>
          </a:p>
        </p:txBody>
      </p:sp>
      <p:sp>
        <p:nvSpPr>
          <p:cNvPr id="346" name="Google Shape;346;g39a84e3b28a_0_6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47" name="Google Shape;347;g39a84e3b28a_0_6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g39a84e3b28a_0_7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a:t>
            </a:r>
            <a:endParaRPr/>
          </a:p>
        </p:txBody>
      </p:sp>
      <p:sp>
        <p:nvSpPr>
          <p:cNvPr id="354" name="Google Shape;354;g39a84e3b28a_0_7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55" name="Google Shape;355;g39a84e3b28a_0_7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56" name="Google Shape;356;g39a84e3b28a_0_78"/>
          <p:cNvPicPr preferRelativeResize="0"/>
          <p:nvPr/>
        </p:nvPicPr>
        <p:blipFill>
          <a:blip r:embed="rId3">
            <a:alphaModFix/>
          </a:blip>
          <a:stretch>
            <a:fillRect/>
          </a:stretch>
        </p:blipFill>
        <p:spPr>
          <a:xfrm>
            <a:off x="152400" y="1851782"/>
            <a:ext cx="11888776" cy="38507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g3dfdcedfbbb_0_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363" name="Google Shape;363;g3dfdcedfbbb_0_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64" name="Google Shape;364;g3dfdcedfbbb_0_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65" name="Google Shape;365;g3dfdcedfbbb_0_0"/>
          <p:cNvSpPr txBox="1"/>
          <p:nvPr/>
        </p:nvSpPr>
        <p:spPr>
          <a:xfrm>
            <a:off x="734438" y="1135825"/>
            <a:ext cx="10724700" cy="11391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We first try with one ticker (“SMCI”) before looping and aggregating.</a:t>
            </a:r>
            <a:br>
              <a:rPr lang="en-US" sz="2400">
                <a:solidFill>
                  <a:schemeClr val="dk1"/>
                </a:solidFill>
                <a:latin typeface="Titillium Web"/>
                <a:ea typeface="Titillium Web"/>
                <a:cs typeface="Titillium Web"/>
                <a:sym typeface="Titillium Web"/>
              </a:rPr>
            </a:br>
            <a:endParaRPr/>
          </a:p>
        </p:txBody>
      </p:sp>
      <p:pic>
        <p:nvPicPr>
          <p:cNvPr id="366" name="Google Shape;366;g3dfdcedfbbb_0_0"/>
          <p:cNvPicPr preferRelativeResize="0"/>
          <p:nvPr/>
        </p:nvPicPr>
        <p:blipFill>
          <a:blip r:embed="rId3">
            <a:alphaModFix/>
          </a:blip>
          <a:stretch>
            <a:fillRect/>
          </a:stretch>
        </p:blipFill>
        <p:spPr>
          <a:xfrm>
            <a:off x="4229100" y="2062163"/>
            <a:ext cx="3733800" cy="27336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dfdcedfbbb_0_1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373" name="Google Shape;373;g3dfdcedfbbb_0_1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74" name="Google Shape;374;g3dfdcedfbbb_0_1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75" name="Google Shape;375;g3dfdcedfbbb_0_11"/>
          <p:cNvSpPr txBox="1"/>
          <p:nvPr/>
        </p:nvSpPr>
        <p:spPr>
          <a:xfrm>
            <a:off x="734438" y="1135825"/>
            <a:ext cx="10724700" cy="11391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We first try with one ticker (“SMCI”) before looping and aggregating.</a:t>
            </a:r>
            <a:br>
              <a:rPr lang="en-US" sz="2400">
                <a:solidFill>
                  <a:schemeClr val="dk1"/>
                </a:solidFill>
                <a:latin typeface="Titillium Web"/>
                <a:ea typeface="Titillium Web"/>
                <a:cs typeface="Titillium Web"/>
                <a:sym typeface="Titillium Web"/>
              </a:rPr>
            </a:br>
            <a:endParaRPr/>
          </a:p>
        </p:txBody>
      </p:sp>
      <p:pic>
        <p:nvPicPr>
          <p:cNvPr id="376" name="Google Shape;376;g3dfdcedfbbb_0_11"/>
          <p:cNvPicPr preferRelativeResize="0"/>
          <p:nvPr/>
        </p:nvPicPr>
        <p:blipFill>
          <a:blip r:embed="rId3">
            <a:alphaModFix/>
          </a:blip>
          <a:stretch>
            <a:fillRect/>
          </a:stretch>
        </p:blipFill>
        <p:spPr>
          <a:xfrm>
            <a:off x="2283325" y="2274925"/>
            <a:ext cx="7626962" cy="407568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g3dfdcedfbbb_0_2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383" name="Google Shape;383;g3dfdcedfbbb_0_2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84" name="Google Shape;384;g3dfdcedfbbb_0_2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85" name="Google Shape;385;g3dfdcedfbbb_0_21"/>
          <p:cNvSpPr txBox="1"/>
          <p:nvPr/>
        </p:nvSpPr>
        <p:spPr>
          <a:xfrm>
            <a:off x="734438" y="1135825"/>
            <a:ext cx="10724700" cy="15084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We first try with one ticker (“SMCI”) before looping and aggregating.</a:t>
            </a:r>
            <a:br>
              <a:rPr lang="en-US" sz="2400">
                <a:solidFill>
                  <a:schemeClr val="dk1"/>
                </a:solidFill>
                <a:latin typeface="Titillium Web"/>
                <a:ea typeface="Titillium Web"/>
                <a:cs typeface="Titillium Web"/>
                <a:sym typeface="Titillium Web"/>
              </a:rPr>
            </a:br>
            <a:r>
              <a:rPr i="1" lang="en-US" sz="2400">
                <a:solidFill>
                  <a:schemeClr val="dk1"/>
                </a:solidFill>
                <a:latin typeface="Titillium Web"/>
                <a:ea typeface="Titillium Web"/>
                <a:cs typeface="Titillium Web"/>
                <a:sym typeface="Titillium Web"/>
              </a:rPr>
              <a:t>Doing the OLS on the full tail is actually a mistake. (Mixing artifacts.)</a:t>
            </a:r>
            <a:br>
              <a:rPr lang="en-US" sz="2400">
                <a:solidFill>
                  <a:schemeClr val="dk1"/>
                </a:solidFill>
                <a:latin typeface="Titillium Web"/>
                <a:ea typeface="Titillium Web"/>
                <a:cs typeface="Titillium Web"/>
                <a:sym typeface="Titillium Web"/>
              </a:rPr>
            </a:br>
            <a:endParaRPr/>
          </a:p>
        </p:txBody>
      </p:sp>
      <p:pic>
        <p:nvPicPr>
          <p:cNvPr id="386" name="Google Shape;386;g3dfdcedfbbb_0_21"/>
          <p:cNvPicPr preferRelativeResize="0"/>
          <p:nvPr/>
        </p:nvPicPr>
        <p:blipFill>
          <a:blip r:embed="rId3">
            <a:alphaModFix/>
          </a:blip>
          <a:stretch>
            <a:fillRect/>
          </a:stretch>
        </p:blipFill>
        <p:spPr>
          <a:xfrm>
            <a:off x="2282525" y="2475450"/>
            <a:ext cx="7626962" cy="407568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g3dfdcedfbbb_0_4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393" name="Google Shape;393;g3dfdcedfbbb_0_4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394" name="Google Shape;394;g3dfdcedfbbb_0_4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95" name="Google Shape;395;g3dfdcedfbbb_0_42"/>
          <p:cNvSpPr txBox="1"/>
          <p:nvPr/>
        </p:nvSpPr>
        <p:spPr>
          <a:xfrm>
            <a:off x="734438" y="1135825"/>
            <a:ext cx="10724700" cy="15084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We first try with one ticker (“SMCI”) before looping and aggregating.</a:t>
            </a:r>
            <a:br>
              <a:rPr lang="en-US" sz="2400">
                <a:solidFill>
                  <a:schemeClr val="dk1"/>
                </a:solidFill>
                <a:latin typeface="Titillium Web"/>
                <a:ea typeface="Titillium Web"/>
                <a:cs typeface="Titillium Web"/>
                <a:sym typeface="Titillium Web"/>
              </a:rPr>
            </a:br>
            <a:r>
              <a:rPr i="1" lang="en-US" sz="2400">
                <a:solidFill>
                  <a:schemeClr val="dk1"/>
                </a:solidFill>
                <a:latin typeface="Titillium Web"/>
                <a:ea typeface="Titillium Web"/>
                <a:cs typeface="Titillium Web"/>
                <a:sym typeface="Titillium Web"/>
              </a:rPr>
              <a:t>Doing the OLS on the full tail is actually a mistake. (Mixing artifacts.)</a:t>
            </a:r>
            <a:br>
              <a:rPr lang="en-US" sz="2400">
                <a:solidFill>
                  <a:schemeClr val="dk1"/>
                </a:solidFill>
                <a:latin typeface="Titillium Web"/>
                <a:ea typeface="Titillium Web"/>
                <a:cs typeface="Titillium Web"/>
                <a:sym typeface="Titillium Web"/>
              </a:rPr>
            </a:br>
            <a:endParaRPr/>
          </a:p>
        </p:txBody>
      </p:sp>
      <p:pic>
        <p:nvPicPr>
          <p:cNvPr id="396" name="Google Shape;396;g3dfdcedfbbb_0_42"/>
          <p:cNvPicPr preferRelativeResize="0"/>
          <p:nvPr/>
        </p:nvPicPr>
        <p:blipFill>
          <a:blip r:embed="rId3">
            <a:alphaModFix/>
          </a:blip>
          <a:stretch>
            <a:fillRect/>
          </a:stretch>
        </p:blipFill>
        <p:spPr>
          <a:xfrm>
            <a:off x="2817969" y="2339425"/>
            <a:ext cx="5982336" cy="43205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g3dfdcedfbbb_0_3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403" name="Google Shape;403;g3dfdcedfbbb_0_3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04" name="Google Shape;404;g3dfdcedfbbb_0_3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05" name="Google Shape;405;g3dfdcedfbbb_0_31"/>
          <p:cNvSpPr txBox="1"/>
          <p:nvPr/>
        </p:nvSpPr>
        <p:spPr>
          <a:xfrm>
            <a:off x="734438" y="1135825"/>
            <a:ext cx="10724700" cy="11391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We first try with one ticker (“SMCI”) before looping and aggregating.</a:t>
            </a:r>
            <a:br>
              <a:rPr lang="en-US" sz="2400">
                <a:solidFill>
                  <a:schemeClr val="dk1"/>
                </a:solidFill>
                <a:latin typeface="Titillium Web"/>
                <a:ea typeface="Titillium Web"/>
                <a:cs typeface="Titillium Web"/>
                <a:sym typeface="Titillium Web"/>
              </a:rPr>
            </a:br>
            <a:endParaRPr/>
          </a:p>
        </p:txBody>
      </p:sp>
      <p:pic>
        <p:nvPicPr>
          <p:cNvPr id="406" name="Google Shape;406;g3dfdcedfbbb_0_31"/>
          <p:cNvPicPr preferRelativeResize="0"/>
          <p:nvPr/>
        </p:nvPicPr>
        <p:blipFill>
          <a:blip r:embed="rId3">
            <a:alphaModFix/>
          </a:blip>
          <a:stretch>
            <a:fillRect/>
          </a:stretch>
        </p:blipFill>
        <p:spPr>
          <a:xfrm>
            <a:off x="6165588" y="2274926"/>
            <a:ext cx="5922444" cy="3164825"/>
          </a:xfrm>
          <a:prstGeom prst="rect">
            <a:avLst/>
          </a:prstGeom>
          <a:noFill/>
          <a:ln>
            <a:noFill/>
          </a:ln>
        </p:spPr>
      </p:pic>
      <p:pic>
        <p:nvPicPr>
          <p:cNvPr id="407" name="Google Shape;407;g3dfdcedfbbb_0_31"/>
          <p:cNvPicPr preferRelativeResize="0"/>
          <p:nvPr/>
        </p:nvPicPr>
        <p:blipFill>
          <a:blip r:embed="rId4">
            <a:alphaModFix/>
          </a:blip>
          <a:stretch>
            <a:fillRect/>
          </a:stretch>
        </p:blipFill>
        <p:spPr>
          <a:xfrm>
            <a:off x="98925" y="2291400"/>
            <a:ext cx="5860788" cy="313188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3dfdcedfbbb_0_56"/>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414" name="Google Shape;414;g3dfdcedfbbb_0_56"/>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15" name="Google Shape;415;g3dfdcedfbbb_0_56"/>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16" name="Google Shape;416;g3dfdcedfbbb_0_56"/>
          <p:cNvSpPr txBox="1"/>
          <p:nvPr/>
        </p:nvSpPr>
        <p:spPr>
          <a:xfrm>
            <a:off x="734438" y="1135825"/>
            <a:ext cx="10724700" cy="15084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Here, separating on both tails. Minimum of 5 extreme obs. per ticker for the OLS.</a:t>
            </a:r>
            <a:br>
              <a:rPr lang="en-US" sz="2400">
                <a:solidFill>
                  <a:schemeClr val="dk1"/>
                </a:solidFill>
                <a:latin typeface="Titillium Web"/>
                <a:ea typeface="Titillium Web"/>
                <a:cs typeface="Titillium Web"/>
                <a:sym typeface="Titillium Web"/>
              </a:rPr>
            </a:br>
            <a:endParaRPr/>
          </a:p>
        </p:txBody>
      </p:sp>
      <p:pic>
        <p:nvPicPr>
          <p:cNvPr id="417" name="Google Shape;417;g3dfdcedfbbb_0_56"/>
          <p:cNvPicPr preferRelativeResize="0"/>
          <p:nvPr/>
        </p:nvPicPr>
        <p:blipFill>
          <a:blip r:embed="rId3">
            <a:alphaModFix/>
          </a:blip>
          <a:stretch>
            <a:fillRect/>
          </a:stretch>
        </p:blipFill>
        <p:spPr>
          <a:xfrm>
            <a:off x="1548613" y="3429000"/>
            <a:ext cx="9096375" cy="1238250"/>
          </a:xfrm>
          <a:prstGeom prst="rect">
            <a:avLst/>
          </a:prstGeom>
          <a:noFill/>
          <a:ln>
            <a:noFill/>
          </a:ln>
        </p:spPr>
      </p:pic>
      <p:sp>
        <p:nvSpPr>
          <p:cNvPr id="418" name="Google Shape;418;g3dfdcedfbbb_0_56"/>
          <p:cNvSpPr txBox="1"/>
          <p:nvPr/>
        </p:nvSpPr>
        <p:spPr>
          <a:xfrm>
            <a:off x="1356600" y="5179825"/>
            <a:ext cx="9478800" cy="76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pct_sig_alpha &amp; pct_sig_beta = percentage of stock where alpha or beta had a </a:t>
            </a:r>
            <a:r>
              <a:rPr lang="en-US"/>
              <a:t>significant</a:t>
            </a:r>
            <a:r>
              <a:rPr lang="en-US"/>
              <a:t> p-value (&gt;0.05).</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g3dfdcedfbbb_0_7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Approach-3(CAPM, top 0.1%)</a:t>
            </a:r>
            <a:endParaRPr/>
          </a:p>
        </p:txBody>
      </p:sp>
      <p:sp>
        <p:nvSpPr>
          <p:cNvPr id="425" name="Google Shape;425;g3dfdcedfbbb_0_7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26" name="Google Shape;426;g3dfdcedfbbb_0_7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27" name="Google Shape;427;g3dfdcedfbbb_0_70"/>
          <p:cNvSpPr txBox="1"/>
          <p:nvPr/>
        </p:nvSpPr>
        <p:spPr>
          <a:xfrm>
            <a:off x="734438" y="1135825"/>
            <a:ext cx="10724700" cy="2770500"/>
          </a:xfrm>
          <a:prstGeom prst="rect">
            <a:avLst/>
          </a:prstGeom>
          <a:noFill/>
          <a:ln>
            <a:noFill/>
          </a:ln>
        </p:spPr>
        <p:txBody>
          <a:bodyPr anchorCtr="0" anchor="t" bIns="91425" lIns="91425" spcFirstLastPara="1" rIns="91425" wrap="square" tIns="91425">
            <a:spAutoFit/>
          </a:bodyPr>
          <a:lstStyle/>
          <a:p>
            <a:pPr indent="0" lvl="0" marL="342900" rtl="0" algn="l">
              <a:spcBef>
                <a:spcPts val="0"/>
              </a:spcBef>
              <a:spcAft>
                <a:spcPts val="0"/>
              </a:spcAft>
              <a:buNone/>
            </a:pPr>
            <a:r>
              <a:rPr lang="en-US" sz="2400">
                <a:solidFill>
                  <a:schemeClr val="dk1"/>
                </a:solidFill>
                <a:latin typeface="Titillium Web"/>
                <a:ea typeface="Titillium Web"/>
                <a:cs typeface="Titillium Web"/>
                <a:sym typeface="Titillium Web"/>
              </a:rPr>
              <a:t>Now test the CAPM on the top 0.1%.</a:t>
            </a:r>
            <a:br>
              <a:rPr lang="en-US" sz="2400">
                <a:solidFill>
                  <a:schemeClr val="dk1"/>
                </a:solidFill>
                <a:latin typeface="Titillium Web"/>
                <a:ea typeface="Titillium Web"/>
                <a:cs typeface="Titillium Web"/>
                <a:sym typeface="Titillium Web"/>
              </a:rPr>
            </a:br>
            <a:r>
              <a:rPr lang="en-US" sz="2400">
                <a:solidFill>
                  <a:schemeClr val="dk1"/>
                </a:solidFill>
                <a:latin typeface="Titillium Web"/>
                <a:ea typeface="Titillium Web"/>
                <a:cs typeface="Titillium Web"/>
                <a:sym typeface="Titillium Web"/>
              </a:rPr>
              <a:t>Here, separating on both tails. Minimum of 5 extreme obs. per ticker for the OLS.</a:t>
            </a:r>
            <a:br>
              <a:rPr lang="en-US" sz="2400">
                <a:solidFill>
                  <a:schemeClr val="dk1"/>
                </a:solidFill>
                <a:latin typeface="Titillium Web"/>
                <a:ea typeface="Titillium Web"/>
                <a:cs typeface="Titillium Web"/>
                <a:sym typeface="Titillium Web"/>
              </a:rPr>
            </a:br>
            <a:endParaRPr sz="2400">
              <a:solidFill>
                <a:schemeClr val="dk1"/>
              </a:solidFill>
              <a:latin typeface="Titillium Web"/>
              <a:ea typeface="Titillium Web"/>
              <a:cs typeface="Titillium Web"/>
              <a:sym typeface="Titillium Web"/>
            </a:endParaRPr>
          </a:p>
          <a:p>
            <a:pPr indent="0" lvl="0" marL="342900" rtl="0" algn="l">
              <a:spcBef>
                <a:spcPts val="0"/>
              </a:spcBef>
              <a:spcAft>
                <a:spcPts val="0"/>
              </a:spcAft>
              <a:buNone/>
            </a:pPr>
            <a:r>
              <a:t/>
            </a:r>
            <a:endParaRPr sz="2400">
              <a:solidFill>
                <a:schemeClr val="dk1"/>
              </a:solidFill>
              <a:latin typeface="Titillium Web"/>
              <a:ea typeface="Titillium Web"/>
              <a:cs typeface="Titillium Web"/>
              <a:sym typeface="Titillium Web"/>
            </a:endParaRPr>
          </a:p>
          <a:p>
            <a:pPr indent="0" lvl="0" marL="342900" rtl="0" algn="l">
              <a:spcBef>
                <a:spcPts val="0"/>
              </a:spcBef>
              <a:spcAft>
                <a:spcPts val="0"/>
              </a:spcAft>
              <a:buNone/>
            </a:pPr>
            <a:r>
              <a:rPr lang="en-US" sz="2400">
                <a:solidFill>
                  <a:srgbClr val="FF0000"/>
                </a:solidFill>
                <a:latin typeface="Titillium Web"/>
                <a:ea typeface="Titillium Web"/>
                <a:cs typeface="Titillium Web"/>
                <a:sym typeface="Titillium Web"/>
              </a:rPr>
              <a:t>CAPM shows no correlation between stock excess and market excess in the tails !</a:t>
            </a:r>
            <a:endParaRPr sz="2400">
              <a:solidFill>
                <a:srgbClr val="FF0000"/>
              </a:solidFill>
              <a:latin typeface="Titillium Web"/>
              <a:ea typeface="Titillium Web"/>
              <a:cs typeface="Titillium Web"/>
              <a:sym typeface="Titillium Web"/>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g3dfdcedfbbb_0_8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Approach-4 (FF3)</a:t>
            </a:r>
            <a:endParaRPr/>
          </a:p>
        </p:txBody>
      </p:sp>
      <p:sp>
        <p:nvSpPr>
          <p:cNvPr id="434" name="Google Shape;434;g3dfdcedfbbb_0_8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Does a model built on normal assumptions break down precisely where normality breaks down?</a:t>
            </a:r>
            <a:br>
              <a:rPr lang="en-US"/>
            </a:br>
            <a:br>
              <a:rPr lang="en-US"/>
            </a:br>
            <a:r>
              <a:rPr lang="en-US"/>
              <a:t>FF3 : Ri​−Rf​=α+β(Rm​−Rf​)</a:t>
            </a:r>
            <a:r>
              <a:rPr lang="en-US"/>
              <a:t>+βSMB​⋅SMB+βHML​⋅HML</a:t>
            </a:r>
            <a:br>
              <a:rPr lang="en-US"/>
            </a:br>
            <a:br>
              <a:rPr lang="en-US"/>
            </a:br>
            <a:r>
              <a:rPr lang="en-US"/>
              <a:t>Ri​ - the return of your stock (or portfolio)</a:t>
            </a:r>
            <a:endParaRPr/>
          </a:p>
          <a:p>
            <a:pPr indent="0" lvl="0" marL="342900" rtl="0" algn="l">
              <a:spcBef>
                <a:spcPts val="0"/>
              </a:spcBef>
              <a:spcAft>
                <a:spcPts val="0"/>
              </a:spcAft>
              <a:buNone/>
            </a:pPr>
            <a:r>
              <a:rPr lang="en-US"/>
              <a:t>Rm - the return of the market (S&amp;P500 index)</a:t>
            </a:r>
            <a:endParaRPr/>
          </a:p>
          <a:p>
            <a:pPr indent="0" lvl="0" marL="342900" rtl="0" algn="l">
              <a:spcBef>
                <a:spcPts val="0"/>
              </a:spcBef>
              <a:spcAft>
                <a:spcPts val="0"/>
              </a:spcAft>
              <a:buNone/>
            </a:pPr>
            <a:r>
              <a:rPr lang="en-US"/>
              <a:t>Rf - the risk-free rate (DTB3, the 3-month T-bill)</a:t>
            </a:r>
            <a:endParaRPr/>
          </a:p>
          <a:p>
            <a:pPr indent="0" lvl="0" marL="342900" rtl="0" algn="l">
              <a:spcBef>
                <a:spcPts val="0"/>
              </a:spcBef>
              <a:spcAft>
                <a:spcPts val="0"/>
              </a:spcAft>
              <a:buNone/>
            </a:pPr>
            <a:r>
              <a:rPr lang="en-US"/>
              <a:t>SMB - Small minus Big (market cap factors)</a:t>
            </a:r>
            <a:endParaRPr/>
          </a:p>
          <a:p>
            <a:pPr indent="0" lvl="0" marL="342900" rtl="0" algn="l">
              <a:spcBef>
                <a:spcPts val="0"/>
              </a:spcBef>
              <a:spcAft>
                <a:spcPts val="0"/>
              </a:spcAft>
              <a:buNone/>
            </a:pPr>
            <a:r>
              <a:rPr lang="en-US"/>
              <a:t>HML - High minus Low (book to market ratio)</a:t>
            </a: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435" name="Google Shape;435;g3dfdcedfbbb_0_8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36" name="Google Shape;436;g3dfdcedfbbb_0_8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g3dfdcedfbbb_0_88"/>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Approach-4 (FF3)</a:t>
            </a:r>
            <a:endParaRPr/>
          </a:p>
        </p:txBody>
      </p:sp>
      <p:sp>
        <p:nvSpPr>
          <p:cNvPr id="443" name="Google Shape;443;g3dfdcedfbbb_0_88"/>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on the whole set of S&amp;P500 from 01.01.2010</a:t>
            </a:r>
            <a:br>
              <a:rPr lang="en-US"/>
            </a:br>
            <a:br>
              <a:rPr lang="en-US"/>
            </a:b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444" name="Google Shape;444;g3dfdcedfbbb_0_88"/>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45" name="Google Shape;445;g3dfdcedfbbb_0_88"/>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46" name="Google Shape;446;g3dfdcedfbbb_0_88"/>
          <p:cNvPicPr preferRelativeResize="0"/>
          <p:nvPr/>
        </p:nvPicPr>
        <p:blipFill>
          <a:blip r:embed="rId3">
            <a:alphaModFix/>
          </a:blip>
          <a:stretch>
            <a:fillRect/>
          </a:stretch>
        </p:blipFill>
        <p:spPr>
          <a:xfrm>
            <a:off x="4301325" y="2036425"/>
            <a:ext cx="3590925" cy="36671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dfdcedfbbb_0_9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Approach-4 (FF3)</a:t>
            </a:r>
            <a:endParaRPr/>
          </a:p>
        </p:txBody>
      </p:sp>
      <p:sp>
        <p:nvSpPr>
          <p:cNvPr id="453" name="Google Shape;453;g3dfdcedfbbb_0_9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on the whole set of S&amp;P500 from 01.01.2010</a:t>
            </a:r>
            <a:br>
              <a:rPr lang="en-US"/>
            </a:br>
            <a:br>
              <a:rPr lang="en-US"/>
            </a:br>
            <a:endParaRPr/>
          </a:p>
          <a:p>
            <a:pPr indent="0" lvl="0" marL="342900" rtl="0" algn="l">
              <a:spcBef>
                <a:spcPts val="0"/>
              </a:spcBef>
              <a:spcAft>
                <a:spcPts val="0"/>
              </a:spcAft>
              <a:buNone/>
            </a:pPr>
            <a:r>
              <a:rPr lang="en-US" sz="1200">
                <a:latin typeface="Arial"/>
                <a:ea typeface="Arial"/>
                <a:cs typeface="Arial"/>
                <a:sym typeface="Arial"/>
              </a:rPr>
              <a:t>FF3 adds statistically significant factor loadings for 80-90% of stocks</a:t>
            </a:r>
            <a:endParaRPr sz="1200">
              <a:latin typeface="Arial"/>
              <a:ea typeface="Arial"/>
              <a:cs typeface="Arial"/>
              <a:sym typeface="Arial"/>
            </a:endParaRPr>
          </a:p>
          <a:p>
            <a:pPr indent="0" lvl="0" marL="342900" rtl="0" algn="l">
              <a:spcBef>
                <a:spcPts val="0"/>
              </a:spcBef>
              <a:spcAft>
                <a:spcPts val="0"/>
              </a:spcAft>
              <a:buNone/>
            </a:pPr>
            <a:r>
              <a:rPr lang="en-US" sz="1200">
                <a:latin typeface="Arial"/>
                <a:ea typeface="Arial"/>
                <a:cs typeface="Arial"/>
                <a:sym typeface="Arial"/>
              </a:rPr>
              <a:t>But the R² improvement is limited because the S&amp;P500 universe mutes the size premium</a:t>
            </a:r>
            <a:endParaRPr sz="1200">
              <a:latin typeface="Arial"/>
              <a:ea typeface="Arial"/>
              <a:cs typeface="Arial"/>
              <a:sym typeface="Arial"/>
            </a:endParaRPr>
          </a:p>
          <a:p>
            <a:pPr indent="0" lvl="0" marL="342900" rtl="0" algn="l">
              <a:spcBef>
                <a:spcPts val="0"/>
              </a:spcBef>
              <a:spcAft>
                <a:spcPts val="0"/>
              </a:spcAft>
              <a:buNone/>
            </a:pPr>
            <a:r>
              <a:rPr lang="en-US" sz="1200">
                <a:latin typeface="Arial"/>
                <a:ea typeface="Arial"/>
                <a:cs typeface="Arial"/>
                <a:sym typeface="Arial"/>
              </a:rPr>
              <a:t>Alpha is still present — something remains unexplained</a:t>
            </a:r>
            <a:endParaRPr sz="1200">
              <a:latin typeface="Arial"/>
              <a:ea typeface="Arial"/>
              <a:cs typeface="Arial"/>
              <a:sym typeface="Arial"/>
            </a:endParaRPr>
          </a:p>
          <a:p>
            <a:pPr indent="0" lvl="0" marL="342900" rtl="0" algn="l">
              <a:spcBef>
                <a:spcPts val="0"/>
              </a:spcBef>
              <a:spcAft>
                <a:spcPts val="0"/>
              </a:spcAft>
              <a:buNone/>
            </a:pPr>
            <a:r>
              <a:rPr b="1" lang="en-US" sz="1200">
                <a:latin typeface="Arial"/>
                <a:ea typeface="Arial"/>
                <a:cs typeface="Arial"/>
                <a:sym typeface="Arial"/>
              </a:rPr>
              <a:t>The real test is whether FF3 does better in the tails than CAPM did</a:t>
            </a:r>
            <a:endParaRPr b="1" sz="1200">
              <a:latin typeface="Arial"/>
              <a:ea typeface="Arial"/>
              <a:cs typeface="Arial"/>
              <a:sym typeface="Arial"/>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454" name="Google Shape;454;g3dfdcedfbbb_0_9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55" name="Google Shape;455;g3dfdcedfbbb_0_9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3dfdcedfbbb_0_10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Approach-4 (FF3)</a:t>
            </a:r>
            <a:endParaRPr/>
          </a:p>
        </p:txBody>
      </p:sp>
      <p:sp>
        <p:nvSpPr>
          <p:cNvPr id="462" name="Google Shape;462;g3dfdcedfbbb_0_10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for the top 0.1%. R2 Increases ! ... but no, it is overfit.</a:t>
            </a:r>
            <a:br>
              <a:rPr lang="en-US"/>
            </a:br>
            <a:br>
              <a:rPr lang="en-US"/>
            </a:b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463" name="Google Shape;463;g3dfdcedfbbb_0_10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64" name="Google Shape;464;g3dfdcedfbbb_0_10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65" name="Google Shape;465;g3dfdcedfbbb_0_107"/>
          <p:cNvPicPr preferRelativeResize="0"/>
          <p:nvPr/>
        </p:nvPicPr>
        <p:blipFill>
          <a:blip r:embed="rId3">
            <a:alphaModFix/>
          </a:blip>
          <a:stretch>
            <a:fillRect/>
          </a:stretch>
        </p:blipFill>
        <p:spPr>
          <a:xfrm>
            <a:off x="2005013" y="2314575"/>
            <a:ext cx="8181975" cy="22288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dfdcedfbbb_0_11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Approach-4 (FF3)</a:t>
            </a:r>
            <a:endParaRPr/>
          </a:p>
        </p:txBody>
      </p:sp>
      <p:sp>
        <p:nvSpPr>
          <p:cNvPr id="472" name="Google Shape;472;g3dfdcedfbbb_0_11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FF3 </a:t>
            </a:r>
            <a:r>
              <a:rPr lang="en-US"/>
              <a:t>for the top 0.1%</a:t>
            </a:r>
            <a:r>
              <a:rPr lang="en-US"/>
              <a:t>. With adjusted R2.</a:t>
            </a:r>
            <a:br>
              <a:rPr lang="en-US"/>
            </a:br>
            <a:br>
              <a:rPr lang="en-US"/>
            </a:br>
            <a:endParaRPr/>
          </a:p>
          <a:p>
            <a:pPr indent="0" lvl="0" marL="342900" rtl="0" algn="l">
              <a:lnSpc>
                <a:spcPct val="100000"/>
              </a:lnSpc>
              <a:spcBef>
                <a:spcPts val="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rPr lang="en-US">
                <a:solidFill>
                  <a:srgbClr val="FF0000"/>
                </a:solidFill>
              </a:rPr>
              <a:t>Neither CAPM nor FF3 can explain extreme returns. Adding size and value factors absorbs some alpha but the vast majority of tail behavior remains idiosyncratic and unexplained by systematic factors.</a:t>
            </a:r>
            <a:endParaRPr>
              <a:solidFill>
                <a:srgbClr val="FF0000"/>
              </a:solidFill>
            </a:endParaRPr>
          </a:p>
        </p:txBody>
      </p:sp>
      <p:sp>
        <p:nvSpPr>
          <p:cNvPr id="473" name="Google Shape;473;g3dfdcedfbbb_0_11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74" name="Google Shape;474;g3dfdcedfbbb_0_11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75" name="Google Shape;475;g3dfdcedfbbb_0_117"/>
          <p:cNvPicPr preferRelativeResize="0"/>
          <p:nvPr/>
        </p:nvPicPr>
        <p:blipFill>
          <a:blip r:embed="rId3">
            <a:alphaModFix/>
          </a:blip>
          <a:stretch>
            <a:fillRect/>
          </a:stretch>
        </p:blipFill>
        <p:spPr>
          <a:xfrm>
            <a:off x="2282025" y="2314575"/>
            <a:ext cx="7629525" cy="22288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g3db971e7cb6_0_24"/>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Approach-5 (Momentum)</a:t>
            </a:r>
            <a:endParaRPr/>
          </a:p>
        </p:txBody>
      </p:sp>
      <p:sp>
        <p:nvSpPr>
          <p:cNvPr id="482" name="Google Shape;482;g3db971e7cb6_0_24"/>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a:t>Do extreme returns have a persistence component to them?</a:t>
            </a:r>
            <a:br>
              <a:rPr lang="en-US"/>
            </a:br>
            <a:r>
              <a:rPr lang="en-US"/>
              <a:t>The case for momentum also known as the Carhart 4 factors model.</a:t>
            </a:r>
            <a:endParaRPr/>
          </a:p>
          <a:p>
            <a:pPr indent="0" lvl="0" marL="557213" rtl="0" algn="l">
              <a:lnSpc>
                <a:spcPct val="100000"/>
              </a:lnSpc>
              <a:spcBef>
                <a:spcPts val="400"/>
              </a:spcBef>
              <a:spcAft>
                <a:spcPts val="0"/>
              </a:spcAft>
              <a:buNone/>
            </a:pPr>
            <a:r>
              <a:t/>
            </a:r>
            <a:endParaRPr/>
          </a:p>
          <a:p>
            <a:pPr indent="-190500" lvl="0" marL="342900" rtl="0" algn="l">
              <a:lnSpc>
                <a:spcPct val="100000"/>
              </a:lnSpc>
              <a:spcBef>
                <a:spcPts val="480"/>
              </a:spcBef>
              <a:spcAft>
                <a:spcPts val="0"/>
              </a:spcAft>
              <a:buClr>
                <a:schemeClr val="dk1"/>
              </a:buClr>
              <a:buSzPts val="2400"/>
              <a:buFont typeface="Arial"/>
              <a:buNone/>
            </a:pPr>
            <a:r>
              <a:t/>
            </a:r>
            <a:endParaRPr/>
          </a:p>
          <a:p>
            <a:pPr indent="-190500" lvl="0" marL="342900" rtl="0" algn="l">
              <a:lnSpc>
                <a:spcPct val="100000"/>
              </a:lnSpc>
              <a:spcBef>
                <a:spcPts val="480"/>
              </a:spcBef>
              <a:spcAft>
                <a:spcPts val="0"/>
              </a:spcAft>
              <a:buClr>
                <a:schemeClr val="dk1"/>
              </a:buClr>
              <a:buSzPts val="2400"/>
              <a:buFont typeface="Arial"/>
              <a:buNone/>
            </a:pPr>
            <a:r>
              <a:rPr lang="en-US"/>
              <a:t>Ri−Rf=α+βm(Rm−Rf)+βSMB⋅SMB+βHML⋅HML+βUMD⋅UMD</a:t>
            </a:r>
            <a:br>
              <a:rPr lang="en-US"/>
            </a:br>
            <a:br>
              <a:rPr lang="en-US"/>
            </a:br>
            <a:r>
              <a:rPr lang="en-US"/>
              <a:t>Ri​ - the return of your stock (or portfolio)</a:t>
            </a:r>
            <a:endParaRPr/>
          </a:p>
          <a:p>
            <a:pPr indent="0" lvl="0" marL="342900" rtl="0" algn="l">
              <a:spcBef>
                <a:spcPts val="0"/>
              </a:spcBef>
              <a:spcAft>
                <a:spcPts val="0"/>
              </a:spcAft>
              <a:buClr>
                <a:schemeClr val="dk1"/>
              </a:buClr>
              <a:buSzPts val="1100"/>
              <a:buFont typeface="Arial"/>
              <a:buNone/>
            </a:pPr>
            <a:r>
              <a:rPr lang="en-US"/>
              <a:t>Rm - the return of the market (S&amp;P500 index)</a:t>
            </a:r>
            <a:endParaRPr/>
          </a:p>
          <a:p>
            <a:pPr indent="0" lvl="0" marL="342900" rtl="0" algn="l">
              <a:spcBef>
                <a:spcPts val="0"/>
              </a:spcBef>
              <a:spcAft>
                <a:spcPts val="0"/>
              </a:spcAft>
              <a:buClr>
                <a:schemeClr val="dk1"/>
              </a:buClr>
              <a:buSzPts val="1100"/>
              <a:buFont typeface="Arial"/>
              <a:buNone/>
            </a:pPr>
            <a:r>
              <a:rPr lang="en-US"/>
              <a:t>Rf - the risk-free rate (DTB3, the 3-month T-bill)</a:t>
            </a:r>
            <a:endParaRPr/>
          </a:p>
          <a:p>
            <a:pPr indent="0" lvl="0" marL="342900" rtl="0" algn="l">
              <a:spcBef>
                <a:spcPts val="0"/>
              </a:spcBef>
              <a:spcAft>
                <a:spcPts val="0"/>
              </a:spcAft>
              <a:buClr>
                <a:schemeClr val="dk1"/>
              </a:buClr>
              <a:buSzPts val="1100"/>
              <a:buFont typeface="Arial"/>
              <a:buNone/>
            </a:pPr>
            <a:r>
              <a:rPr lang="en-US"/>
              <a:t>SMB - Small minus Big (market cap factors)</a:t>
            </a:r>
            <a:endParaRPr/>
          </a:p>
          <a:p>
            <a:pPr indent="0" lvl="0" marL="342900" rtl="0" algn="l">
              <a:spcBef>
                <a:spcPts val="0"/>
              </a:spcBef>
              <a:spcAft>
                <a:spcPts val="0"/>
              </a:spcAft>
              <a:buClr>
                <a:schemeClr val="dk1"/>
              </a:buClr>
              <a:buSzPts val="1100"/>
              <a:buFont typeface="Arial"/>
              <a:buNone/>
            </a:pPr>
            <a:r>
              <a:rPr lang="en-US"/>
              <a:t>HML - High minus Low (book to market ratio)</a:t>
            </a:r>
            <a:br>
              <a:rPr lang="en-US"/>
            </a:br>
            <a:r>
              <a:rPr lang="en-US"/>
              <a:t>UMD - Up minus Down (long time winners vs long time losers)</a:t>
            </a:r>
            <a:endParaRPr/>
          </a:p>
        </p:txBody>
      </p:sp>
      <p:sp>
        <p:nvSpPr>
          <p:cNvPr id="483" name="Google Shape;483;g3db971e7cb6_0_24"/>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84" name="Google Shape;484;g3db971e7cb6_0_24"/>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dfdcedfbbb_0_149"/>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Approach-5 (Momentum)</a:t>
            </a:r>
            <a:endParaRPr/>
          </a:p>
        </p:txBody>
      </p:sp>
      <p:sp>
        <p:nvSpPr>
          <p:cNvPr id="491" name="Google Shape;491;g3dfdcedfbbb_0_149"/>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Adjusted R2 doubles in the tails and the </a:t>
            </a:r>
            <a:r>
              <a:rPr lang="en-US"/>
              <a:t>percentage</a:t>
            </a:r>
            <a:r>
              <a:rPr lang="en-US"/>
              <a:t> of stocks with a significant alpha is halved ! Rallies go against momentum. Crashes follow it. The UMD significance tells us that it explains crashes better than rallies.</a:t>
            </a:r>
            <a:endParaRPr/>
          </a:p>
        </p:txBody>
      </p:sp>
      <p:sp>
        <p:nvSpPr>
          <p:cNvPr id="492" name="Google Shape;492;g3dfdcedfbbb_0_149"/>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493" name="Google Shape;493;g3dfdcedfbbb_0_149"/>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94" name="Google Shape;494;g3dfdcedfbbb_0_149"/>
          <p:cNvPicPr preferRelativeResize="0"/>
          <p:nvPr/>
        </p:nvPicPr>
        <p:blipFill>
          <a:blip r:embed="rId3">
            <a:alphaModFix/>
          </a:blip>
          <a:stretch>
            <a:fillRect/>
          </a:stretch>
        </p:blipFill>
        <p:spPr>
          <a:xfrm>
            <a:off x="2538413" y="2865750"/>
            <a:ext cx="7115175" cy="35242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g3dfdcedfbbb_0_160"/>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Approach-6 (Sentiment)</a:t>
            </a:r>
            <a:endParaRPr/>
          </a:p>
        </p:txBody>
      </p:sp>
      <p:sp>
        <p:nvSpPr>
          <p:cNvPr id="501" name="Google Shape;501;g3dfdcedfbbb_0_160"/>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t>(using a proxy of financial news headlines)</a:t>
            </a:r>
            <a:br>
              <a:rPr lang="en-US"/>
            </a:br>
            <a:br>
              <a:rPr lang="en-US"/>
            </a:br>
            <a:r>
              <a:rPr lang="en-US" u="sng">
                <a:solidFill>
                  <a:schemeClr val="hlink"/>
                </a:solidFill>
                <a:hlinkClick r:id="rId3"/>
              </a:rPr>
              <a:t>Kaggle </a:t>
            </a:r>
            <a:r>
              <a:rPr b="1" lang="en-US" sz="2300" u="sng">
                <a:solidFill>
                  <a:schemeClr val="hlink"/>
                </a:solidFill>
                <a:latin typeface="Arial"/>
                <a:ea typeface="Arial"/>
                <a:cs typeface="Arial"/>
                <a:sym typeface="Arial"/>
                <a:hlinkClick r:id="rId4"/>
              </a:rPr>
              <a:t>S&amp;P 500 with Financial News Headlines (2008–2024)</a:t>
            </a: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502" name="Google Shape;502;g3dfdcedfbbb_0_160"/>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03" name="Google Shape;503;g3dfdcedfbbb_0_160"/>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04" name="Google Shape;504;g3dfdcedfbbb_0_160"/>
          <p:cNvPicPr preferRelativeResize="0"/>
          <p:nvPr/>
        </p:nvPicPr>
        <p:blipFill>
          <a:blip r:embed="rId5">
            <a:alphaModFix/>
          </a:blip>
          <a:stretch>
            <a:fillRect/>
          </a:stretch>
        </p:blipFill>
        <p:spPr>
          <a:xfrm>
            <a:off x="4824450" y="3193225"/>
            <a:ext cx="2544675" cy="29046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3dfdcedfbbb_0_171"/>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Approach-6 (Sentiment)</a:t>
            </a:r>
            <a:endParaRPr/>
          </a:p>
        </p:txBody>
      </p:sp>
      <p:sp>
        <p:nvSpPr>
          <p:cNvPr id="511" name="Google Shape;511;g3dfdcedfbbb_0_171"/>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t>FinBERT for NLP analysis :</a:t>
            </a:r>
            <a:br>
              <a:rPr lang="en-US"/>
            </a:br>
            <a:br>
              <a:rPr lang="en-US"/>
            </a:br>
            <a:r>
              <a:rPr lang="en-US" u="sng">
                <a:solidFill>
                  <a:schemeClr val="hlink"/>
                </a:solidFill>
                <a:hlinkClick r:id="rId3"/>
              </a:rPr>
              <a:t>Hugging Face FinBERT</a:t>
            </a:r>
            <a:endParaRPr/>
          </a:p>
          <a:p>
            <a:pPr indent="0" lvl="0" marL="342900" rtl="0" algn="l">
              <a:spcBef>
                <a:spcPts val="0"/>
              </a:spcBef>
              <a:spcAft>
                <a:spcPts val="0"/>
              </a:spcAft>
              <a:buClr>
                <a:schemeClr val="dk1"/>
              </a:buClr>
              <a:buSzPts val="1100"/>
              <a:buFont typeface="Arial"/>
              <a:buNone/>
            </a:pPr>
            <a:r>
              <a:t/>
            </a:r>
            <a:endParaRPr/>
          </a:p>
          <a:p>
            <a:pPr indent="0" lvl="0" marL="342900" rtl="0" algn="l">
              <a:spcBef>
                <a:spcPts val="0"/>
              </a:spcBef>
              <a:spcAft>
                <a:spcPts val="0"/>
              </a:spcAft>
              <a:buClr>
                <a:schemeClr val="dk1"/>
              </a:buClr>
              <a:buSzPts val="1100"/>
              <a:buFont typeface="Arial"/>
              <a:buNone/>
            </a:pPr>
            <a:r>
              <a:rPr lang="en-US" sz="1900"/>
              <a:t>FinBERT is a pre-trained NLP model to analyze sentiment of financial text. It is built by further training the BERT language model in the finance domain, using a large financial corpus and thereby fine-tuning it for financial sentiment classification.</a:t>
            </a:r>
            <a:r>
              <a:rPr lang="en-US" sz="1900">
                <a:uFill>
                  <a:noFill/>
                </a:uFill>
                <a:hlinkClick r:id="rId4"/>
              </a:rPr>
              <a:t> Financial PhraseBank</a:t>
            </a:r>
            <a:r>
              <a:rPr lang="en-US" sz="1900"/>
              <a:t> by Malo et al. (2014) is used for fine-tuning. </a:t>
            </a:r>
            <a:br>
              <a:rPr lang="en-US"/>
            </a:b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512" name="Google Shape;512;g3dfdcedfbbb_0_171"/>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13" name="Google Shape;513;g3dfdcedfbbb_0_171"/>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14" name="Google Shape;514;g3dfdcedfbbb_0_171"/>
          <p:cNvPicPr preferRelativeResize="0"/>
          <p:nvPr/>
        </p:nvPicPr>
        <p:blipFill>
          <a:blip r:embed="rId5">
            <a:alphaModFix/>
          </a:blip>
          <a:stretch>
            <a:fillRect/>
          </a:stretch>
        </p:blipFill>
        <p:spPr>
          <a:xfrm>
            <a:off x="5055050" y="4991775"/>
            <a:ext cx="2081902" cy="1045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dfdcedfbbb_0_18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Approach-6 (Sentiment)</a:t>
            </a:r>
            <a:endParaRPr/>
          </a:p>
        </p:txBody>
      </p:sp>
      <p:sp>
        <p:nvSpPr>
          <p:cNvPr id="521" name="Google Shape;521;g3dfdcedfbbb_0_18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br>
              <a:rPr lang="en-US"/>
            </a:br>
            <a:r>
              <a:rPr lang="en-US">
                <a:solidFill>
                  <a:srgbClr val="FF0000"/>
                </a:solidFill>
              </a:rPr>
              <a:t>But limitations of the dataset… (sparsity and cutoff)</a:t>
            </a:r>
            <a:endParaRPr>
              <a:solidFill>
                <a:srgbClr val="FF0000"/>
              </a:solidFill>
            </a:endParaRPr>
          </a:p>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522" name="Google Shape;522;g3dfdcedfbbb_0_18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23" name="Google Shape;523;g3dfdcedfbbb_0_18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24" name="Google Shape;524;g3dfdcedfbbb_0_182"/>
          <p:cNvPicPr preferRelativeResize="0"/>
          <p:nvPr/>
        </p:nvPicPr>
        <p:blipFill>
          <a:blip r:embed="rId3">
            <a:alphaModFix/>
          </a:blip>
          <a:stretch>
            <a:fillRect/>
          </a:stretch>
        </p:blipFill>
        <p:spPr>
          <a:xfrm>
            <a:off x="476146" y="2427225"/>
            <a:ext cx="11239707" cy="40322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g3dfdcedfbbb_0_192"/>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rPr lang="en-US"/>
              <a:t>Approach-6 (Sentiment)</a:t>
            </a:r>
            <a:endParaRPr/>
          </a:p>
        </p:txBody>
      </p:sp>
      <p:sp>
        <p:nvSpPr>
          <p:cNvPr id="531" name="Google Shape;531;g3dfdcedfbbb_0_192"/>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0" lvl="0" marL="342900" rtl="0" algn="l">
              <a:spcBef>
                <a:spcPts val="0"/>
              </a:spcBef>
              <a:spcAft>
                <a:spcPts val="0"/>
              </a:spcAft>
              <a:buClr>
                <a:schemeClr val="dk1"/>
              </a:buClr>
              <a:buSzPts val="1100"/>
              <a:buFont typeface="Arial"/>
              <a:buNone/>
            </a:pPr>
            <a:r>
              <a:rPr lang="en-US"/>
              <a:t>Does market sentiment explain these extreme returns?</a:t>
            </a:r>
            <a:endParaRPr/>
          </a:p>
          <a:p>
            <a:pPr indent="0" lvl="0" marL="342900" rtl="0" algn="l">
              <a:spcBef>
                <a:spcPts val="0"/>
              </a:spcBef>
              <a:spcAft>
                <a:spcPts val="0"/>
              </a:spcAft>
              <a:buClr>
                <a:schemeClr val="dk1"/>
              </a:buClr>
              <a:buSzPts val="1100"/>
              <a:buFont typeface="Arial"/>
              <a:buNone/>
            </a:pPr>
            <a:r>
              <a:rPr lang="en-US"/>
              <a:t>Sentiment explains nothing but why does the significance of alpha diminishes?</a:t>
            </a:r>
            <a:br>
              <a:rPr lang="en-US"/>
            </a:br>
            <a:endParaRPr>
              <a:solidFill>
                <a:srgbClr val="FF0000"/>
              </a:solidFill>
            </a:endParaRPr>
          </a:p>
          <a:p>
            <a:pPr indent="0" lvl="0" marL="342900" rtl="0" algn="l">
              <a:spcBef>
                <a:spcPts val="0"/>
              </a:spcBef>
              <a:spcAft>
                <a:spcPts val="0"/>
              </a:spcAft>
              <a:buClr>
                <a:schemeClr val="dk1"/>
              </a:buClr>
              <a:buSzPts val="1100"/>
              <a:buFont typeface="Arial"/>
              <a:buNone/>
            </a:pPr>
            <a:br>
              <a:rPr lang="en-US"/>
            </a:br>
            <a:endParaRPr b="1" sz="2300">
              <a:latin typeface="Arial"/>
              <a:ea typeface="Arial"/>
              <a:cs typeface="Arial"/>
              <a:sym typeface="Arial"/>
            </a:endParaRPr>
          </a:p>
          <a:p>
            <a:pPr indent="0" lvl="0" marL="342900" rtl="0" algn="l">
              <a:spcBef>
                <a:spcPts val="0"/>
              </a:spcBef>
              <a:spcAft>
                <a:spcPts val="0"/>
              </a:spcAft>
              <a:buClr>
                <a:schemeClr val="dk1"/>
              </a:buClr>
              <a:buSzPts val="1100"/>
              <a:buFont typeface="Arial"/>
              <a:buNone/>
            </a:pPr>
            <a:r>
              <a:t/>
            </a:r>
            <a:endParaRPr/>
          </a:p>
        </p:txBody>
      </p:sp>
      <p:sp>
        <p:nvSpPr>
          <p:cNvPr id="532" name="Google Shape;532;g3dfdcedfbbb_0_192"/>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33" name="Google Shape;533;g3dfdcedfbbb_0_192"/>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534" name="Google Shape;534;g3dfdcedfbbb_0_192"/>
          <p:cNvPicPr preferRelativeResize="0"/>
          <p:nvPr/>
        </p:nvPicPr>
        <p:blipFill>
          <a:blip r:embed="rId3">
            <a:alphaModFix/>
          </a:blip>
          <a:stretch>
            <a:fillRect/>
          </a:stretch>
        </p:blipFill>
        <p:spPr>
          <a:xfrm>
            <a:off x="1313225" y="2045150"/>
            <a:ext cx="9565525" cy="38903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g3dfdcedfbbb_0_137"/>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t/>
            </a:r>
            <a:endParaRPr/>
          </a:p>
        </p:txBody>
      </p:sp>
      <p:sp>
        <p:nvSpPr>
          <p:cNvPr id="541" name="Google Shape;541;g3dfdcedfbbb_0_137"/>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Point 1</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214313" lvl="1" marL="557213" rtl="0" algn="l">
              <a:lnSpc>
                <a:spcPct val="100000"/>
              </a:lnSpc>
              <a:spcBef>
                <a:spcPts val="400"/>
              </a:spcBef>
              <a:spcAft>
                <a:spcPts val="0"/>
              </a:spcAft>
              <a:buClr>
                <a:schemeClr val="dk1"/>
              </a:buClr>
              <a:buSzPts val="2000"/>
              <a:buChar char="–"/>
            </a:pPr>
            <a:r>
              <a:rPr lang="en-US"/>
              <a:t>Sub-point 3</a:t>
            </a:r>
            <a:endParaRPr/>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sz="2400"/>
              <a:t>Point 2</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542" name="Google Shape;542;g3dfdcedfbbb_0_137"/>
          <p:cNvSpPr/>
          <p:nvPr/>
        </p:nvSpPr>
        <p:spPr>
          <a:xfrm>
            <a:off x="552178" y="4697102"/>
            <a:ext cx="2520300" cy="1728300"/>
          </a:xfrm>
          <a:prstGeom prst="rect">
            <a:avLst/>
          </a:prstGeom>
          <a:solidFill>
            <a:srgbClr val="FFFED9">
              <a:alpha val="90200"/>
            </a:srgbClr>
          </a:solidFill>
          <a:ln cap="flat" cmpd="sng" w="19050">
            <a:solidFill>
              <a:srgbClr val="0C0C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67">
                <a:solidFill>
                  <a:schemeClr val="dk1"/>
                </a:solidFill>
                <a:latin typeface="Arial"/>
                <a:ea typeface="Arial"/>
                <a:cs typeface="Arial"/>
                <a:sym typeface="Arial"/>
              </a:rPr>
              <a:t>Example:</a:t>
            </a:r>
            <a:endParaRPr/>
          </a:p>
          <a:p>
            <a:pPr indent="0" lvl="0" marL="0" marR="0" rtl="0" algn="ctr">
              <a:spcBef>
                <a:spcPts val="0"/>
              </a:spcBef>
              <a:spcAft>
                <a:spcPts val="0"/>
              </a:spcAft>
              <a:buNone/>
            </a:pPr>
            <a:r>
              <a:rPr lang="en-US" sz="1867">
                <a:solidFill>
                  <a:schemeClr val="dk1"/>
                </a:solidFill>
                <a:latin typeface="Arial"/>
                <a:ea typeface="Arial"/>
                <a:cs typeface="Arial"/>
                <a:sym typeface="Arial"/>
              </a:rPr>
              <a:t>Text</a:t>
            </a:r>
            <a:endParaRPr/>
          </a:p>
        </p:txBody>
      </p:sp>
      <p:sp>
        <p:nvSpPr>
          <p:cNvPr id="543" name="Google Shape;543;g3dfdcedfbbb_0_137"/>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44" name="Google Shape;544;g3dfdcedfbbb_0_137"/>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db971e7cb6_0_15"/>
          <p:cNvSpPr txBox="1"/>
          <p:nvPr>
            <p:ph type="title"/>
          </p:nvPr>
        </p:nvSpPr>
        <p:spPr>
          <a:xfrm>
            <a:off x="3240000" y="116632"/>
            <a:ext cx="8233200" cy="540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chemeClr val="lt1"/>
              </a:buClr>
              <a:buSzPts val="3200"/>
              <a:buFont typeface="Titillium Web"/>
              <a:buNone/>
            </a:pPr>
            <a:r>
              <a:t/>
            </a:r>
            <a:endParaRPr/>
          </a:p>
        </p:txBody>
      </p:sp>
      <p:sp>
        <p:nvSpPr>
          <p:cNvPr id="551" name="Google Shape;551;g3db971e7cb6_0_15"/>
          <p:cNvSpPr txBox="1"/>
          <p:nvPr>
            <p:ph idx="1" type="body"/>
          </p:nvPr>
        </p:nvSpPr>
        <p:spPr>
          <a:xfrm>
            <a:off x="720000" y="1350000"/>
            <a:ext cx="10753200" cy="5040000"/>
          </a:xfrm>
          <a:prstGeom prst="rect">
            <a:avLst/>
          </a:prstGeom>
          <a:noFill/>
          <a:ln>
            <a:noFill/>
          </a:ln>
        </p:spPr>
        <p:txBody>
          <a:bodyPr anchorCtr="0" anchor="t" bIns="0" lIns="0" spcFirstLastPara="1" rIns="0" wrap="square" tIns="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Point 1</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214313" lvl="1" marL="557213" rtl="0" algn="l">
              <a:lnSpc>
                <a:spcPct val="100000"/>
              </a:lnSpc>
              <a:spcBef>
                <a:spcPts val="400"/>
              </a:spcBef>
              <a:spcAft>
                <a:spcPts val="0"/>
              </a:spcAft>
              <a:buClr>
                <a:schemeClr val="dk1"/>
              </a:buClr>
              <a:buSzPts val="2000"/>
              <a:buChar char="–"/>
            </a:pPr>
            <a:r>
              <a:rPr lang="en-US"/>
              <a:t>Sub-point 3</a:t>
            </a:r>
            <a:endParaRPr/>
          </a:p>
          <a:p>
            <a:pPr indent="-87313" lvl="1" marL="557213" rtl="0" algn="l">
              <a:lnSpc>
                <a:spcPct val="100000"/>
              </a:lnSpc>
              <a:spcBef>
                <a:spcPts val="400"/>
              </a:spcBef>
              <a:spcAft>
                <a:spcPts val="0"/>
              </a:spcAft>
              <a:buClr>
                <a:schemeClr val="dk1"/>
              </a:buClr>
              <a:buSzPts val="2000"/>
              <a:buNone/>
            </a:pPr>
            <a:r>
              <a:t/>
            </a:r>
            <a:endParaRPr/>
          </a:p>
          <a:p>
            <a:pPr indent="-342900" lvl="0" marL="342900" rtl="0" algn="l">
              <a:lnSpc>
                <a:spcPct val="100000"/>
              </a:lnSpc>
              <a:spcBef>
                <a:spcPts val="480"/>
              </a:spcBef>
              <a:spcAft>
                <a:spcPts val="0"/>
              </a:spcAft>
              <a:buClr>
                <a:schemeClr val="dk1"/>
              </a:buClr>
              <a:buSzPts val="2400"/>
              <a:buFont typeface="Arial"/>
              <a:buChar char="•"/>
            </a:pPr>
            <a:r>
              <a:rPr lang="en-US" sz="2400"/>
              <a:t>Point 2</a:t>
            </a:r>
            <a:endParaRPr/>
          </a:p>
          <a:p>
            <a:pPr indent="-214313" lvl="1" marL="557213" rtl="0" algn="l">
              <a:lnSpc>
                <a:spcPct val="100000"/>
              </a:lnSpc>
              <a:spcBef>
                <a:spcPts val="400"/>
              </a:spcBef>
              <a:spcAft>
                <a:spcPts val="0"/>
              </a:spcAft>
              <a:buClr>
                <a:schemeClr val="dk1"/>
              </a:buClr>
              <a:buSzPts val="2000"/>
              <a:buChar char="–"/>
            </a:pPr>
            <a:r>
              <a:rPr lang="en-US"/>
              <a:t>Sub-point 1</a:t>
            </a:r>
            <a:endParaRPr/>
          </a:p>
          <a:p>
            <a:pPr indent="-214313" lvl="1" marL="557213" rtl="0" algn="l">
              <a:lnSpc>
                <a:spcPct val="100000"/>
              </a:lnSpc>
              <a:spcBef>
                <a:spcPts val="400"/>
              </a:spcBef>
              <a:spcAft>
                <a:spcPts val="0"/>
              </a:spcAft>
              <a:buClr>
                <a:schemeClr val="dk1"/>
              </a:buClr>
              <a:buSzPts val="2000"/>
              <a:buChar char="–"/>
            </a:pPr>
            <a:r>
              <a:rPr lang="en-US"/>
              <a:t>Sub-point 2</a:t>
            </a:r>
            <a:endParaRPr/>
          </a:p>
          <a:p>
            <a:pPr indent="-190500" lvl="0" marL="342900" rtl="0" algn="l">
              <a:lnSpc>
                <a:spcPct val="100000"/>
              </a:lnSpc>
              <a:spcBef>
                <a:spcPts val="480"/>
              </a:spcBef>
              <a:spcAft>
                <a:spcPts val="0"/>
              </a:spcAft>
              <a:buClr>
                <a:schemeClr val="dk1"/>
              </a:buClr>
              <a:buSzPts val="2400"/>
              <a:buFont typeface="Arial"/>
              <a:buNone/>
            </a:pPr>
            <a:r>
              <a:t/>
            </a:r>
            <a:endParaRPr/>
          </a:p>
        </p:txBody>
      </p:sp>
      <p:sp>
        <p:nvSpPr>
          <p:cNvPr id="552" name="Google Shape;552;g3db971e7cb6_0_15"/>
          <p:cNvSpPr txBox="1"/>
          <p:nvPr>
            <p:ph idx="11" type="ftr"/>
          </p:nvPr>
        </p:nvSpPr>
        <p:spPr>
          <a:xfrm>
            <a:off x="719999" y="6660000"/>
            <a:ext cx="5445600" cy="1971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CFDS-11: Summer 2026</a:t>
            </a:r>
            <a:endParaRPr/>
          </a:p>
        </p:txBody>
      </p:sp>
      <p:sp>
        <p:nvSpPr>
          <p:cNvPr id="553" name="Google Shape;553;g3db971e7cb6_0_15"/>
          <p:cNvSpPr txBox="1"/>
          <p:nvPr>
            <p:ph idx="12" type="sldNum"/>
          </p:nvPr>
        </p:nvSpPr>
        <p:spPr>
          <a:xfrm>
            <a:off x="10781211" y="6655411"/>
            <a:ext cx="692100" cy="2232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
          <p:cNvSpPr/>
          <p:nvPr/>
        </p:nvSpPr>
        <p:spPr>
          <a:xfrm>
            <a:off x="0" y="808038"/>
            <a:ext cx="12193200" cy="5886000"/>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67">
              <a:solidFill>
                <a:schemeClr val="dk1"/>
              </a:solidFill>
              <a:latin typeface="Arial"/>
              <a:ea typeface="Arial"/>
              <a:cs typeface="Arial"/>
              <a:sym typeface="Arial"/>
            </a:endParaRPr>
          </a:p>
        </p:txBody>
      </p:sp>
      <p:pic>
        <p:nvPicPr>
          <p:cNvPr id="560" name="Google Shape;560;p4"/>
          <p:cNvPicPr preferRelativeResize="0"/>
          <p:nvPr/>
        </p:nvPicPr>
        <p:blipFill rotWithShape="1">
          <a:blip r:embed="rId3">
            <a:alphaModFix/>
          </a:blip>
          <a:srcRect b="28637" l="0" r="0" t="12018"/>
          <a:stretch/>
        </p:blipFill>
        <p:spPr>
          <a:xfrm>
            <a:off x="794" y="825910"/>
            <a:ext cx="12192000" cy="4739148"/>
          </a:xfrm>
          <a:prstGeom prst="rect">
            <a:avLst/>
          </a:prstGeom>
          <a:noFill/>
          <a:ln>
            <a:noFill/>
          </a:ln>
        </p:spPr>
      </p:pic>
      <p:sp>
        <p:nvSpPr>
          <p:cNvPr id="561" name="Google Shape;561;p4"/>
          <p:cNvSpPr txBox="1"/>
          <p:nvPr>
            <p:ph type="title"/>
          </p:nvPr>
        </p:nvSpPr>
        <p:spPr>
          <a:xfrm>
            <a:off x="696913" y="5841328"/>
            <a:ext cx="8233200" cy="540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lt1"/>
              </a:buClr>
              <a:buSzPts val="4200"/>
              <a:buFont typeface="Titillium Web"/>
              <a:buNone/>
            </a:pPr>
            <a:r>
              <a:rPr lang="en-US" sz="4200"/>
              <a:t>Questions?</a:t>
            </a:r>
            <a:endParaRPr/>
          </a:p>
        </p:txBody>
      </p:sp>
      <p:cxnSp>
        <p:nvCxnSpPr>
          <p:cNvPr id="562" name="Google Shape;562;p4"/>
          <p:cNvCxnSpPr/>
          <p:nvPr/>
        </p:nvCxnSpPr>
        <p:spPr>
          <a:xfrm>
            <a:off x="-1" y="5580000"/>
            <a:ext cx="12186000" cy="0"/>
          </a:xfrm>
          <a:prstGeom prst="straightConnector1">
            <a:avLst/>
          </a:prstGeom>
          <a:noFill/>
          <a:ln cap="flat" cmpd="sng" w="19050">
            <a:solidFill>
              <a:srgbClr val="0C0C0C"/>
            </a:solidFill>
            <a:prstDash val="solid"/>
            <a:round/>
            <a:headEnd len="sm" w="sm" type="none"/>
            <a:tailEnd len="sm" w="sm" type="none"/>
          </a:ln>
        </p:spPr>
      </p:cxnSp>
      <p:sp>
        <p:nvSpPr>
          <p:cNvPr id="563" name="Google Shape;563;p4"/>
          <p:cNvSpPr txBox="1"/>
          <p:nvPr>
            <p:ph idx="11" type="ftr"/>
          </p:nvPr>
        </p:nvSpPr>
        <p:spPr>
          <a:xfrm>
            <a:off x="719999" y="6660000"/>
            <a:ext cx="5445670" cy="19719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CFDS-11: Summer 2026</a:t>
            </a:r>
            <a:endParaRPr/>
          </a:p>
        </p:txBody>
      </p:sp>
      <p:sp>
        <p:nvSpPr>
          <p:cNvPr id="564" name="Google Shape;564;p4"/>
          <p:cNvSpPr txBox="1"/>
          <p:nvPr>
            <p:ph idx="12" type="sldNum"/>
          </p:nvPr>
        </p:nvSpPr>
        <p:spPr>
          <a:xfrm>
            <a:off x="10781211" y="6655411"/>
            <a:ext cx="691988" cy="223112"/>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FDS - Master">
  <a:themeElements>
    <a:clrScheme name="UNISG Grün">
      <a:dk1>
        <a:srgbClr val="000000"/>
      </a:dk1>
      <a:lt1>
        <a:srgbClr val="FFFFFF"/>
      </a:lt1>
      <a:dk2>
        <a:srgbClr val="115C2E"/>
      </a:dk2>
      <a:lt2>
        <a:srgbClr val="CCCCCC"/>
      </a:lt2>
      <a:accent1>
        <a:srgbClr val="115C2E"/>
      </a:accent1>
      <a:accent2>
        <a:srgbClr val="249662"/>
      </a:accent2>
      <a:accent3>
        <a:srgbClr val="54A47C"/>
      </a:accent3>
      <a:accent4>
        <a:srgbClr val="8FBFA9"/>
      </a:accent4>
      <a:accent5>
        <a:srgbClr val="ED904B"/>
      </a:accent5>
      <a:accent6>
        <a:srgbClr val="FAB73E"/>
      </a:accent6>
      <a:hlink>
        <a:srgbClr val="115C2E"/>
      </a:hlink>
      <a:folHlink>
        <a:srgbClr val="54A47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2016-04-12T09:28:03Z</dcterms:created>
  <dc:creator>Prof. Dr. Damian Borth</dc:creator>
</cp:coreProperties>
</file>