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Lst>
  <p:sldSz cy="6858000" cx="12193575"/>
  <p:notesSz cx="6858000" cy="9144000"/>
  <p:embeddedFontLst>
    <p:embeddedFont>
      <p:font typeface="Titillium Web"/>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5" roundtripDataSignature="AMtx7mgY38GWjc6ZIqtgTL+0VBjsV9WeE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20" Type="http://schemas.openxmlformats.org/officeDocument/2006/relationships/slide" Target="slides/slide16.xml"/><Relationship Id="rId42" Type="http://schemas.openxmlformats.org/officeDocument/2006/relationships/font" Target="fonts/TitilliumWeb-bold.fntdata"/><Relationship Id="rId41" Type="http://schemas.openxmlformats.org/officeDocument/2006/relationships/font" Target="fonts/TitilliumWeb-regular.fntdata"/><Relationship Id="rId22" Type="http://schemas.openxmlformats.org/officeDocument/2006/relationships/slide" Target="slides/slide18.xml"/><Relationship Id="rId44" Type="http://schemas.openxmlformats.org/officeDocument/2006/relationships/font" Target="fonts/TitilliumWeb-boldItalic.fntdata"/><Relationship Id="rId21" Type="http://schemas.openxmlformats.org/officeDocument/2006/relationships/slide" Target="slides/slide17.xml"/><Relationship Id="rId43" Type="http://schemas.openxmlformats.org/officeDocument/2006/relationships/font" Target="fonts/TitilliumWeb-italic.fntdata"/><Relationship Id="rId24" Type="http://schemas.openxmlformats.org/officeDocument/2006/relationships/slide" Target="slides/slide20.xml"/><Relationship Id="rId23" Type="http://schemas.openxmlformats.org/officeDocument/2006/relationships/slide" Target="slides/slide19.xml"/><Relationship Id="rId45" Type="http://customschemas.google.com/relationships/presentationmetadata" Target="meta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slide" Target="slides/slide31.xml"/><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37" Type="http://schemas.openxmlformats.org/officeDocument/2006/relationships/slide" Target="slides/slide33.xml"/><Relationship Id="rId14" Type="http://schemas.openxmlformats.org/officeDocument/2006/relationships/slide" Target="slides/slide10.xml"/><Relationship Id="rId36" Type="http://schemas.openxmlformats.org/officeDocument/2006/relationships/slide" Target="slides/slide32.xml"/><Relationship Id="rId17" Type="http://schemas.openxmlformats.org/officeDocument/2006/relationships/slide" Target="slides/slide13.xml"/><Relationship Id="rId39" Type="http://schemas.openxmlformats.org/officeDocument/2006/relationships/slide" Target="slides/slide35.xml"/><Relationship Id="rId16" Type="http://schemas.openxmlformats.org/officeDocument/2006/relationships/slide" Target="slides/slide12.xml"/><Relationship Id="rId38" Type="http://schemas.openxmlformats.org/officeDocument/2006/relationships/slide" Target="slides/slide34.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 name="Google Shape;5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 name="Google Shape;6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 name="Google Shape;7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96c7f3a6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g3d96c7f3a6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0" name="Google Shape;80;g3d96c7f3a6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96c7f3a6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g3d96c7f3a6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g3d96c7f3a6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96c7f3a6c_0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g3d96c7f3a6c_0_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g3d96c7f3a6c_0_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96c7f3a6c_0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d96c7f3a6c_0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 name="Google Shape;108;g3d96c7f3a6c_0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b971e7cb6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db971e7cb6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 name="Google Shape;118;g3db971e7cb6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d96c7f3a6c_0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d96c7f3a6c_0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g3d96c7f3a6c_0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d96c7f3a6c_0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g3d96c7f3a6c_0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 name="Google Shape;138;g3d96c7f3a6c_0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96c7f3a6c_0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96c7f3a6c_0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 name="Google Shape;148;g3d96c7f3a6c_0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96c7f3a6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g3d96c7f3a6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g3d96c7f3a6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d96c7f3a6c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g3d96c7f3a6c_0_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6" name="Google Shape;166;g3d96c7f3a6c_0_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d96c7f3a6c_0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 name="Google Shape;175;g3d96c7f3a6c_0_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6" name="Google Shape;176;g3d96c7f3a6c_0_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db971e7cb6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g3db971e7cb6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g3db971e7cb6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d96c7f3a6c_0_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d96c7f3a6c_0_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g3d96c7f3a6c_0_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b971e7cb6_0_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g3db971e7cb6_0_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7" name="Google Shape;207;g3db971e7cb6_0_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db971e7cb6_0_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g3db971e7cb6_0_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g3db971e7cb6_0_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b971e7cb6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g3db971e7cb6_0_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7" name="Google Shape;227;g3db971e7cb6_0_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9a84e3b28a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g39a84e3b28a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8" name="Google Shape;238;g39a84e3b28a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b971e7cb6_0_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g3db971e7cb6_0_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8" name="Google Shape;248;g3db971e7cb6_0_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db971e7cb6_0_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g3db971e7cb6_0_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g3db971e7cb6_0_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db971e7cb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g3db971e7cb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g3db971e7cb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db971e7cb6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g3db971e7cb6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 name="Google Shape;280;g3db971e7cb6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9a84e3b28a_0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g39a84e3b28a_0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g39a84e3b28a_0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db971e7cb6_0_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g3db971e7cb6_0_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1" name="Google Shape;301;g3db971e7cb6_0_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db971e7cb6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g3db971e7cb6_0_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g3db971e7cb6_0_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9a84e3b28a_0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g39a84e3b28a_0_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g39a84e3b28a_0_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9a84e3b28a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g39a84e3b28a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g39a84e3b28a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9a84e3b28a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g39a84e3b28a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0" name="Google Shape;340;g39a84e3b28a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9a84e3b28a_0_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8" name="Google Shape;348;g39a84e3b28a_0_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9" name="Google Shape;349;g39a84e3b28a_0_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9a84e3b28a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g39a84e3b28a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g39a84e3b28a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9a84e3b28a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9a84e3b28a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9" name="Google Shape;369;g39a84e3b28a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db971e7cb6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g3db971e7cb6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8" name="Google Shape;378;g3db971e7cb6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db971e7cb6_0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g3db971e7cb6_0_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8" name="Google Shape;388;g3db971e7cb6_0_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 name="Google Shape;3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7" name="Google Shape;3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Title">
  <p:cSld name="CFDS - Title">
    <p:spTree>
      <p:nvGrpSpPr>
        <p:cNvPr id="21" name="Shape 21"/>
        <p:cNvGrpSpPr/>
        <p:nvPr/>
      </p:nvGrpSpPr>
      <p:grpSpPr>
        <a:xfrm>
          <a:off x="0" y="0"/>
          <a:ext cx="0" cy="0"/>
          <a:chOff x="0" y="0"/>
          <a:chExt cx="0" cy="0"/>
        </a:xfrm>
      </p:grpSpPr>
      <p:sp>
        <p:nvSpPr>
          <p:cNvPr id="22" name="Google Shape;22;p6"/>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sp>
        <p:nvSpPr>
          <p:cNvPr id="23" name="Google Shape;23;p6"/>
          <p:cNvSpPr txBox="1"/>
          <p:nvPr>
            <p:ph idx="1" type="subTitle"/>
          </p:nvPr>
        </p:nvSpPr>
        <p:spPr>
          <a:xfrm>
            <a:off x="720000" y="5220000"/>
            <a:ext cx="8640000" cy="2700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Titillium Web"/>
                <a:ea typeface="Titillium Web"/>
                <a:cs typeface="Titillium Web"/>
                <a:sym typeface="Titillium Web"/>
              </a:defRPr>
            </a:lvl1pPr>
            <a:lvl2pPr lvl="1"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Titillium Web"/>
                <a:ea typeface="Titillium Web"/>
                <a:cs typeface="Titillium Web"/>
                <a:sym typeface="Titillium Web"/>
              </a:defRPr>
            </a:lvl2pPr>
            <a:lvl3pPr lvl="2" marR="0" rtl="0" algn="ctr">
              <a:lnSpc>
                <a:spcPct val="100000"/>
              </a:lnSpc>
              <a:spcBef>
                <a:spcPts val="270"/>
              </a:spcBef>
              <a:spcAft>
                <a:spcPts val="0"/>
              </a:spcAft>
              <a:buClr>
                <a:srgbClr val="888888"/>
              </a:buClr>
              <a:buSzPts val="1350"/>
              <a:buFont typeface="Arial"/>
              <a:buNone/>
              <a:defRPr b="0" i="0" sz="1350" u="none" cap="none" strike="noStrike">
                <a:solidFill>
                  <a:srgbClr val="888888"/>
                </a:solidFill>
                <a:latin typeface="Titillium Web"/>
                <a:ea typeface="Titillium Web"/>
                <a:cs typeface="Titillium Web"/>
                <a:sym typeface="Titillium Web"/>
              </a:defRPr>
            </a:lvl3pPr>
            <a:lvl4pPr lvl="3"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4pPr>
            <a:lvl5pPr lvl="4"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5pPr>
            <a:lvl6pPr lvl="5"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6pPr>
            <a:lvl7pPr lvl="6"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7pPr>
            <a:lvl8pPr lvl="7"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8pPr>
            <a:lvl9pPr lvl="8"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9pPr>
          </a:lstStyle>
          <a:p/>
        </p:txBody>
      </p:sp>
      <p:cxnSp>
        <p:nvCxnSpPr>
          <p:cNvPr id="24" name="Google Shape;24;p6"/>
          <p:cNvCxnSpPr/>
          <p:nvPr/>
        </p:nvCxnSpPr>
        <p:spPr>
          <a:xfrm>
            <a:off x="0" y="4921254"/>
            <a:ext cx="12193587" cy="0"/>
          </a:xfrm>
          <a:prstGeom prst="straightConnector1">
            <a:avLst/>
          </a:prstGeom>
          <a:noFill/>
          <a:ln cap="flat" cmpd="sng" w="9525">
            <a:solidFill>
              <a:srgbClr val="3F3F3F"/>
            </a:solidFill>
            <a:prstDash val="solid"/>
            <a:round/>
            <a:headEnd len="sm" w="sm" type="none"/>
            <a:tailEnd len="sm" w="sm" type="none"/>
          </a:ln>
        </p:spPr>
      </p:cxnSp>
      <p:sp>
        <p:nvSpPr>
          <p:cNvPr id="25" name="Google Shape;25;p6"/>
          <p:cNvSpPr txBox="1"/>
          <p:nvPr>
            <p:ph type="title"/>
          </p:nvPr>
        </p:nvSpPr>
        <p:spPr>
          <a:xfrm>
            <a:off x="720000" y="5490000"/>
            <a:ext cx="8640000" cy="540000"/>
          </a:xfrm>
          <a:prstGeom prst="rect">
            <a:avLst/>
          </a:prstGeom>
          <a:noFill/>
          <a:ln>
            <a:noFill/>
          </a:ln>
        </p:spPr>
        <p:txBody>
          <a:bodyPr anchorCtr="0" anchor="ctr" bIns="0" lIns="0" spcFirstLastPara="1" rIns="0" wrap="square" tIns="0">
            <a:normAutofit/>
          </a:bodyPr>
          <a:lstStyle>
            <a:lvl1pPr lvl="0" algn="l">
              <a:spcBef>
                <a:spcPts val="0"/>
              </a:spcBef>
              <a:spcAft>
                <a:spcPts val="0"/>
              </a:spcAft>
              <a:buClr>
                <a:schemeClr val="lt1"/>
              </a:buClr>
              <a:buSzPts val="3200"/>
              <a:buFont typeface="Titillium Web"/>
              <a:buNone/>
              <a:defRPr sz="3200">
                <a:solidFill>
                  <a:schemeClr val="lt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6"/>
          <p:cNvSpPr txBox="1"/>
          <p:nvPr>
            <p:ph idx="2" type="body"/>
          </p:nvPr>
        </p:nvSpPr>
        <p:spPr>
          <a:xfrm>
            <a:off x="720000" y="6030000"/>
            <a:ext cx="8640000" cy="3600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320"/>
              </a:spcBef>
              <a:spcAft>
                <a:spcPts val="0"/>
              </a:spcAft>
              <a:buClr>
                <a:schemeClr val="lt1"/>
              </a:buClr>
              <a:buSzPts val="1600"/>
              <a:buFont typeface="Arial"/>
              <a:buNone/>
              <a:defRPr b="0" i="0" sz="1600" u="none" cap="none" strike="noStrike">
                <a:solidFill>
                  <a:schemeClr val="lt1"/>
                </a:solidFill>
                <a:latin typeface="Titillium Web"/>
                <a:ea typeface="Titillium Web"/>
                <a:cs typeface="Titillium Web"/>
                <a:sym typeface="Titillium Web"/>
              </a:defRPr>
            </a:lvl1pPr>
            <a:lvl2pPr indent="-228600" lvl="1" marL="914400" marR="0" rtl="0" algn="l">
              <a:lnSpc>
                <a:spcPct val="100000"/>
              </a:lnSpc>
              <a:spcBef>
                <a:spcPts val="300"/>
              </a:spcBef>
              <a:spcAft>
                <a:spcPts val="0"/>
              </a:spcAft>
              <a:buClr>
                <a:schemeClr val="dk1"/>
              </a:buClr>
              <a:buSzPts val="1500"/>
              <a:buFont typeface="Arial"/>
              <a:buNone/>
              <a:defRPr b="0" i="0" sz="1500" u="none" cap="none" strike="noStrike">
                <a:solidFill>
                  <a:schemeClr val="dk1"/>
                </a:solidFill>
                <a:latin typeface="Titillium Web"/>
                <a:ea typeface="Titillium Web"/>
                <a:cs typeface="Titillium Web"/>
                <a:sym typeface="Titillium Web"/>
              </a:defRPr>
            </a:lvl2pPr>
            <a:lvl3pPr indent="-228600" lvl="2" marL="1371600" marR="0" rtl="0" algn="l">
              <a:lnSpc>
                <a:spcPct val="100000"/>
              </a:lnSpc>
              <a:spcBef>
                <a:spcPts val="270"/>
              </a:spcBef>
              <a:spcAft>
                <a:spcPts val="0"/>
              </a:spcAft>
              <a:buClr>
                <a:schemeClr val="dk1"/>
              </a:buClr>
              <a:buSzPts val="1350"/>
              <a:buFont typeface="Arial"/>
              <a:buNone/>
              <a:defRPr b="0" i="0" sz="1350" u="none" cap="none" strike="noStrike">
                <a:solidFill>
                  <a:schemeClr val="dk1"/>
                </a:solidFill>
                <a:latin typeface="Titillium Web"/>
                <a:ea typeface="Titillium Web"/>
                <a:cs typeface="Titillium Web"/>
                <a:sym typeface="Titillium Web"/>
              </a:defRPr>
            </a:lvl3pPr>
            <a:lvl4pPr indent="-228600" lvl="3" marL="1828800" marR="0" rtl="0" algn="l">
              <a:spcBef>
                <a:spcPts val="300"/>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27" name="Google Shape;27;p6"/>
          <p:cNvSpPr txBox="1"/>
          <p:nvPr/>
        </p:nvSpPr>
        <p:spPr>
          <a:xfrm>
            <a:off x="3358662" y="-1186962"/>
            <a:ext cx="0" cy="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28" name="Google Shape;28;p6"/>
          <p:cNvPicPr preferRelativeResize="0"/>
          <p:nvPr/>
        </p:nvPicPr>
        <p:blipFill rotWithShape="1">
          <a:blip r:embed="rId2">
            <a:alphaModFix/>
          </a:blip>
          <a:srcRect b="25283" l="-63" r="-133" t="-151"/>
          <a:stretch/>
        </p:blipFill>
        <p:spPr>
          <a:xfrm>
            <a:off x="-1" y="810000"/>
            <a:ext cx="12193589" cy="4140000"/>
          </a:xfrm>
          <a:prstGeom prst="rect">
            <a:avLst/>
          </a:prstGeom>
          <a:noFill/>
          <a:ln>
            <a:noFill/>
          </a:ln>
        </p:spPr>
      </p:pic>
      <p:cxnSp>
        <p:nvCxnSpPr>
          <p:cNvPr id="29" name="Google Shape;29;p6"/>
          <p:cNvCxnSpPr/>
          <p:nvPr/>
        </p:nvCxnSpPr>
        <p:spPr>
          <a:xfrm>
            <a:off x="-1" y="4950000"/>
            <a:ext cx="12186000" cy="0"/>
          </a:xfrm>
          <a:prstGeom prst="straightConnector1">
            <a:avLst/>
          </a:prstGeom>
          <a:noFill/>
          <a:ln cap="flat" cmpd="sng" w="19050">
            <a:solidFill>
              <a:srgbClr val="0C0C0C"/>
            </a:solidFill>
            <a:prstDash val="solid"/>
            <a:round/>
            <a:headEnd len="sm" w="sm" type="none"/>
            <a:tailEnd len="sm" w="sm" type="none"/>
          </a:ln>
        </p:spPr>
      </p:cxnSp>
      <p:sp>
        <p:nvSpPr>
          <p:cNvPr id="30" name="Google Shape;30;p6"/>
          <p:cNvSpPr txBox="1"/>
          <p:nvPr/>
        </p:nvSpPr>
        <p:spPr>
          <a:xfrm>
            <a:off x="630000" y="6318000"/>
            <a:ext cx="5826834"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rgbClr val="D8D8D8"/>
                </a:solidFill>
                <a:latin typeface="Calibri"/>
                <a:ea typeface="Calibri"/>
                <a:cs typeface="Calibri"/>
                <a:sym typeface="Calibri"/>
              </a:rPr>
              <a:t>ALL RIGHTS RESERVED. No part of this work may be reproduced in any form or by any means, electronic or mechanical, including photocopying, recording, or by any information storage and retrieval system without expressed written permission from the authors.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Main Slides - Top-Title">
  <p:cSld name="CFDS - Main Slides - Top-Title">
    <p:spTree>
      <p:nvGrpSpPr>
        <p:cNvPr id="31" name="Shape 31"/>
        <p:cNvGrpSpPr/>
        <p:nvPr/>
      </p:nvGrpSpPr>
      <p:grpSpPr>
        <a:xfrm>
          <a:off x="0" y="0"/>
          <a:ext cx="0" cy="0"/>
          <a:chOff x="0" y="0"/>
          <a:chExt cx="0" cy="0"/>
        </a:xfrm>
      </p:grpSpPr>
      <p:sp>
        <p:nvSpPr>
          <p:cNvPr id="32" name="Google Shape;32;p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lvl1pPr lvl="0" algn="r">
              <a:spcBef>
                <a:spcPts val="0"/>
              </a:spcBef>
              <a:spcAft>
                <a:spcPts val="0"/>
              </a:spcAft>
              <a:buClr>
                <a:schemeClr val="lt1"/>
              </a:buClr>
              <a:buSzPts val="3200"/>
              <a:buFont typeface="Titillium Web"/>
              <a:buNone/>
              <a:defRPr b="0" sz="3200">
                <a:solidFill>
                  <a:schemeClr val="lt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lvl1pPr indent="-381000" lvl="0" marL="4572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Titillium Web"/>
                <a:ea typeface="Titillium Web"/>
                <a:cs typeface="Titillium Web"/>
                <a:sym typeface="Titillium Web"/>
              </a:defRPr>
            </a:lvl1pPr>
            <a:lvl2pPr indent="-355600" lvl="1" marL="914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Titillium Web"/>
                <a:ea typeface="Titillium Web"/>
                <a:cs typeface="Titillium Web"/>
                <a:sym typeface="Titillium Web"/>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Titillium Web"/>
                <a:ea typeface="Titillium Web"/>
                <a:cs typeface="Titillium Web"/>
                <a:sym typeface="Titillium Web"/>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34" name="Google Shape;34;p7"/>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35" name="Google Shape;35;p7"/>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extLst>
    <p:ext uri="{DCECCB84-F9BA-43D5-87BE-67443E8EF086}">
      <p15:sldGuideLst>
        <p15:guide id="1" orient="horz" pos="890">
          <p15:clr>
            <a:srgbClr val="FBAE40"/>
          </p15:clr>
        </p15:guide>
        <p15:guide id="2" orient="horz" pos="4020">
          <p15:clr>
            <a:srgbClr val="FBAE40"/>
          </p15:clr>
        </p15:guide>
        <p15:guide id="3" pos="439">
          <p15:clr>
            <a:srgbClr val="FBAE40"/>
          </p15:clr>
        </p15:guide>
        <p15:guide id="4" pos="724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Main Slides - In-Title">
  <p:cSld name="CFDS - Main Slides - In-Title">
    <p:spTree>
      <p:nvGrpSpPr>
        <p:cNvPr id="36" name="Shape 36"/>
        <p:cNvGrpSpPr/>
        <p:nvPr/>
      </p:nvGrpSpPr>
      <p:grpSpPr>
        <a:xfrm>
          <a:off x="0" y="0"/>
          <a:ext cx="0" cy="0"/>
          <a:chOff x="0" y="0"/>
          <a:chExt cx="0" cy="0"/>
        </a:xfrm>
      </p:grpSpPr>
      <p:sp>
        <p:nvSpPr>
          <p:cNvPr id="37" name="Google Shape;37;p8"/>
          <p:cNvSpPr txBox="1"/>
          <p:nvPr>
            <p:ph type="title"/>
          </p:nvPr>
        </p:nvSpPr>
        <p:spPr>
          <a:xfrm>
            <a:off x="720000" y="1080000"/>
            <a:ext cx="10730589" cy="370800"/>
          </a:xfrm>
          <a:prstGeom prst="rect">
            <a:avLst/>
          </a:prstGeom>
          <a:noFill/>
          <a:ln>
            <a:noFill/>
          </a:ln>
        </p:spPr>
        <p:txBody>
          <a:bodyPr anchorCtr="0" anchor="ctr" bIns="0" lIns="0" spcFirstLastPara="1" rIns="0" wrap="square" tIns="0">
            <a:noAutofit/>
          </a:bodyPr>
          <a:lstStyle>
            <a:lvl1pPr lvl="0" algn="l">
              <a:spcBef>
                <a:spcPts val="0"/>
              </a:spcBef>
              <a:spcAft>
                <a:spcPts val="0"/>
              </a:spcAft>
              <a:buClr>
                <a:schemeClr val="dk1"/>
              </a:buClr>
              <a:buSzPts val="2800"/>
              <a:buFont typeface="Titillium Web"/>
              <a:buNone/>
              <a:defRPr b="1" sz="2800">
                <a:solidFill>
                  <a:schemeClr val="dk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8"/>
          <p:cNvSpPr txBox="1"/>
          <p:nvPr>
            <p:ph idx="1" type="body"/>
          </p:nvPr>
        </p:nvSpPr>
        <p:spPr>
          <a:xfrm>
            <a:off x="719999" y="1800000"/>
            <a:ext cx="10753200" cy="4590000"/>
          </a:xfrm>
          <a:prstGeom prst="rect">
            <a:avLst/>
          </a:prstGeom>
          <a:noFill/>
          <a:ln>
            <a:noFill/>
          </a:ln>
        </p:spPr>
        <p:txBody>
          <a:bodyPr anchorCtr="0" anchor="t" bIns="0" lIns="0" spcFirstLastPara="1" rIns="0" wrap="square" tIns="0">
            <a:noAutofit/>
          </a:bodyPr>
          <a:lstStyle>
            <a:lvl1pPr indent="-381000" lvl="0" marL="4572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Titillium Web"/>
                <a:ea typeface="Titillium Web"/>
                <a:cs typeface="Titillium Web"/>
                <a:sym typeface="Titillium Web"/>
              </a:defRPr>
            </a:lvl1pPr>
            <a:lvl2pPr indent="-355600" lvl="1" marL="914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Titillium Web"/>
                <a:ea typeface="Titillium Web"/>
                <a:cs typeface="Titillium Web"/>
                <a:sym typeface="Titillium Web"/>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Titillium Web"/>
                <a:ea typeface="Titillium Web"/>
                <a:cs typeface="Titillium Web"/>
                <a:sym typeface="Titillium Web"/>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39" name="Google Shape;39;p8"/>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40" name="Google Shape;40;p8"/>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extLst>
    <p:ext uri="{DCECCB84-F9BA-43D5-87BE-67443E8EF086}">
      <p15:sldGuideLst>
        <p15:guide id="1" pos="439">
          <p15:clr>
            <a:srgbClr val="FBAE40"/>
          </p15:clr>
        </p15:guide>
        <p15:guide id="2" pos="7242">
          <p15:clr>
            <a:srgbClr val="FBAE40"/>
          </p15:clr>
        </p15:guide>
        <p15:guide id="3" orient="horz" pos="1117">
          <p15:clr>
            <a:srgbClr val="547EBF"/>
          </p15:clr>
        </p15:guide>
        <p15:guide id="4" orient="horz" pos="4020">
          <p15:clr>
            <a:srgbClr val="547EBF"/>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Empty Slide" type="blank">
  <p:cSld name="BLANK">
    <p:spTree>
      <p:nvGrpSpPr>
        <p:cNvPr id="41" name="Shape 41"/>
        <p:cNvGrpSpPr/>
        <p:nvPr/>
      </p:nvGrpSpPr>
      <p:grpSpPr>
        <a:xfrm>
          <a:off x="0" y="0"/>
          <a:ext cx="0" cy="0"/>
          <a:chOff x="0" y="0"/>
          <a:chExt cx="0" cy="0"/>
        </a:xfrm>
      </p:grpSpPr>
      <p:sp>
        <p:nvSpPr>
          <p:cNvPr id="42" name="Google Shape;42;p9"/>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43" name="Google Shape;43;p9"/>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Last Slide">
  <p:cSld name="CFDS - Last Slide">
    <p:spTree>
      <p:nvGrpSpPr>
        <p:cNvPr id="44" name="Shape 44"/>
        <p:cNvGrpSpPr/>
        <p:nvPr/>
      </p:nvGrpSpPr>
      <p:grpSpPr>
        <a:xfrm>
          <a:off x="0" y="0"/>
          <a:ext cx="0" cy="0"/>
          <a:chOff x="0" y="0"/>
          <a:chExt cx="0" cy="0"/>
        </a:xfrm>
      </p:grpSpPr>
      <p:sp>
        <p:nvSpPr>
          <p:cNvPr id="45" name="Google Shape;45;p10"/>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46" name="Google Shape;46;p10"/>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0"/>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48" name="Google Shape;48;p10"/>
          <p:cNvPicPr preferRelativeResize="0"/>
          <p:nvPr/>
        </p:nvPicPr>
        <p:blipFill rotWithShape="1">
          <a:blip r:embed="rId2">
            <a:alphaModFix/>
          </a:blip>
          <a:srcRect b="28637" l="0" r="0" t="12018"/>
          <a:stretch/>
        </p:blipFill>
        <p:spPr>
          <a:xfrm>
            <a:off x="794" y="825910"/>
            <a:ext cx="12192000" cy="4739148"/>
          </a:xfrm>
          <a:prstGeom prst="rect">
            <a:avLst/>
          </a:prstGeom>
          <a:noFill/>
          <a:ln>
            <a:noFill/>
          </a:ln>
        </p:spPr>
      </p:pic>
      <p:cxnSp>
        <p:nvCxnSpPr>
          <p:cNvPr id="49" name="Google Shape;49;p10"/>
          <p:cNvCxnSpPr/>
          <p:nvPr/>
        </p:nvCxnSpPr>
        <p:spPr>
          <a:xfrm>
            <a:off x="-1" y="5580000"/>
            <a:ext cx="12186000" cy="0"/>
          </a:xfrm>
          <a:prstGeom prst="straightConnector1">
            <a:avLst/>
          </a:prstGeom>
          <a:noFill/>
          <a:ln cap="flat" cmpd="sng" w="19050">
            <a:solidFill>
              <a:srgbClr val="0C0C0C"/>
            </a:solidFill>
            <a:prstDash val="solid"/>
            <a:round/>
            <a:headEnd len="sm" w="sm" type="none"/>
            <a:tailEnd len="sm" w="sm" type="none"/>
          </a:ln>
        </p:spPr>
      </p:cxnSp>
      <p:sp>
        <p:nvSpPr>
          <p:cNvPr id="50" name="Google Shape;50;p10"/>
          <p:cNvSpPr txBox="1"/>
          <p:nvPr>
            <p:ph type="title"/>
          </p:nvPr>
        </p:nvSpPr>
        <p:spPr>
          <a:xfrm>
            <a:off x="696913" y="5841328"/>
            <a:ext cx="8233200" cy="5400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chemeClr val="lt1"/>
              </a:buClr>
              <a:buSzPts val="3200"/>
              <a:buFont typeface="Titillium Web"/>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5"/>
          <p:cNvSpPr/>
          <p:nvPr/>
        </p:nvSpPr>
        <p:spPr>
          <a:xfrm>
            <a:off x="0" y="6678000"/>
            <a:ext cx="12193588" cy="180000"/>
          </a:xfrm>
          <a:prstGeom prst="rect">
            <a:avLst/>
          </a:prstGeom>
          <a:solidFill>
            <a:srgbClr val="2626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1" name="Google Shape;11;p5"/>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000" u="none" cap="none" strike="noStrike">
                <a:solidFill>
                  <a:schemeClr val="lt1"/>
                </a:solidFill>
                <a:latin typeface="Titillium Web"/>
                <a:ea typeface="Titillium Web"/>
                <a:cs typeface="Titillium Web"/>
                <a:sym typeface="Titillium Web"/>
              </a:defRPr>
            </a:lvl1pPr>
            <a:lvl2pPr indent="0" lvl="1" marL="0" marR="0" rtl="0" algn="r">
              <a:spcBef>
                <a:spcPts val="0"/>
              </a:spcBef>
              <a:buNone/>
              <a:defRPr b="0" i="0" sz="1000" u="none" cap="none" strike="noStrike">
                <a:solidFill>
                  <a:schemeClr val="lt1"/>
                </a:solidFill>
                <a:latin typeface="Titillium Web"/>
                <a:ea typeface="Titillium Web"/>
                <a:cs typeface="Titillium Web"/>
                <a:sym typeface="Titillium Web"/>
              </a:defRPr>
            </a:lvl2pPr>
            <a:lvl3pPr indent="0" lvl="2" marL="0" marR="0" rtl="0" algn="r">
              <a:spcBef>
                <a:spcPts val="0"/>
              </a:spcBef>
              <a:buNone/>
              <a:defRPr b="0" i="0" sz="1000" u="none" cap="none" strike="noStrike">
                <a:solidFill>
                  <a:schemeClr val="lt1"/>
                </a:solidFill>
                <a:latin typeface="Titillium Web"/>
                <a:ea typeface="Titillium Web"/>
                <a:cs typeface="Titillium Web"/>
                <a:sym typeface="Titillium Web"/>
              </a:defRPr>
            </a:lvl3pPr>
            <a:lvl4pPr indent="0" lvl="3" marL="0" marR="0" rtl="0" algn="r">
              <a:spcBef>
                <a:spcPts val="0"/>
              </a:spcBef>
              <a:buNone/>
              <a:defRPr b="0" i="0" sz="1000" u="none" cap="none" strike="noStrike">
                <a:solidFill>
                  <a:schemeClr val="lt1"/>
                </a:solidFill>
                <a:latin typeface="Titillium Web"/>
                <a:ea typeface="Titillium Web"/>
                <a:cs typeface="Titillium Web"/>
                <a:sym typeface="Titillium Web"/>
              </a:defRPr>
            </a:lvl4pPr>
            <a:lvl5pPr indent="0" lvl="4" marL="0" marR="0" rtl="0" algn="r">
              <a:spcBef>
                <a:spcPts val="0"/>
              </a:spcBef>
              <a:buNone/>
              <a:defRPr b="0" i="0" sz="1000" u="none" cap="none" strike="noStrike">
                <a:solidFill>
                  <a:schemeClr val="lt1"/>
                </a:solidFill>
                <a:latin typeface="Titillium Web"/>
                <a:ea typeface="Titillium Web"/>
                <a:cs typeface="Titillium Web"/>
                <a:sym typeface="Titillium Web"/>
              </a:defRPr>
            </a:lvl5pPr>
            <a:lvl6pPr indent="0" lvl="5" marL="0" marR="0" rtl="0" algn="r">
              <a:spcBef>
                <a:spcPts val="0"/>
              </a:spcBef>
              <a:buNone/>
              <a:defRPr b="0" i="0" sz="1000" u="none" cap="none" strike="noStrike">
                <a:solidFill>
                  <a:schemeClr val="lt1"/>
                </a:solidFill>
                <a:latin typeface="Titillium Web"/>
                <a:ea typeface="Titillium Web"/>
                <a:cs typeface="Titillium Web"/>
                <a:sym typeface="Titillium Web"/>
              </a:defRPr>
            </a:lvl6pPr>
            <a:lvl7pPr indent="0" lvl="6" marL="0" marR="0" rtl="0" algn="r">
              <a:spcBef>
                <a:spcPts val="0"/>
              </a:spcBef>
              <a:buNone/>
              <a:defRPr b="0" i="0" sz="1000" u="none" cap="none" strike="noStrike">
                <a:solidFill>
                  <a:schemeClr val="lt1"/>
                </a:solidFill>
                <a:latin typeface="Titillium Web"/>
                <a:ea typeface="Titillium Web"/>
                <a:cs typeface="Titillium Web"/>
                <a:sym typeface="Titillium Web"/>
              </a:defRPr>
            </a:lvl7pPr>
            <a:lvl8pPr indent="0" lvl="7" marL="0" marR="0" rtl="0" algn="r">
              <a:spcBef>
                <a:spcPts val="0"/>
              </a:spcBef>
              <a:buNone/>
              <a:defRPr b="0" i="0" sz="1000" u="none" cap="none" strike="noStrike">
                <a:solidFill>
                  <a:schemeClr val="lt1"/>
                </a:solidFill>
                <a:latin typeface="Titillium Web"/>
                <a:ea typeface="Titillium Web"/>
                <a:cs typeface="Titillium Web"/>
                <a:sym typeface="Titillium Web"/>
              </a:defRPr>
            </a:lvl8pPr>
            <a:lvl9pPr indent="0" lvl="8" marL="0" marR="0" rtl="0" algn="r">
              <a:spcBef>
                <a:spcPts val="0"/>
              </a:spcBef>
              <a:buNone/>
              <a:defRPr b="0" i="0" sz="1000" u="none" cap="none" strike="noStrike">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pic>
        <p:nvPicPr>
          <p:cNvPr id="12" name="Google Shape;12;p5"/>
          <p:cNvPicPr preferRelativeResize="0"/>
          <p:nvPr/>
        </p:nvPicPr>
        <p:blipFill rotWithShape="1">
          <a:blip r:embed="rId1">
            <a:alphaModFix/>
          </a:blip>
          <a:srcRect b="0" l="0" r="0" t="0"/>
          <a:stretch/>
        </p:blipFill>
        <p:spPr>
          <a:xfrm>
            <a:off x="540000" y="180000"/>
            <a:ext cx="2371115" cy="626251"/>
          </a:xfrm>
          <a:prstGeom prst="rect">
            <a:avLst/>
          </a:prstGeom>
          <a:noFill/>
          <a:ln>
            <a:noFill/>
          </a:ln>
        </p:spPr>
      </p:pic>
      <p:sp>
        <p:nvSpPr>
          <p:cNvPr id="13" name="Google Shape;13;p5"/>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000" u="none" cap="none" strike="noStrike">
                <a:solidFill>
                  <a:schemeClr val="lt1"/>
                </a:solidFill>
                <a:latin typeface="Titillium Web"/>
                <a:ea typeface="Titillium Web"/>
                <a:cs typeface="Titillium Web"/>
                <a:sym typeface="Titillium Web"/>
              </a:defRPr>
            </a:lvl1pPr>
            <a:lvl2pPr lvl="1" marR="0" rtl="0" algn="l">
              <a:spcBef>
                <a:spcPts val="0"/>
              </a:spcBef>
              <a:spcAft>
                <a:spcPts val="0"/>
              </a:spcAft>
              <a:buSzPts val="1400"/>
              <a:buNone/>
              <a:defRPr b="0" i="0" sz="186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6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6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6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6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6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6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67" u="none" cap="none" strike="noStrike">
                <a:solidFill>
                  <a:schemeClr val="dk1"/>
                </a:solidFill>
                <a:latin typeface="Arial"/>
                <a:ea typeface="Arial"/>
                <a:cs typeface="Arial"/>
                <a:sym typeface="Arial"/>
              </a:defRPr>
            </a:lvl9pPr>
          </a:lstStyle>
          <a:p/>
        </p:txBody>
      </p:sp>
      <p:sp>
        <p:nvSpPr>
          <p:cNvPr id="14" name="Google Shape;14;p5"/>
          <p:cNvSpPr txBox="1"/>
          <p:nvPr>
            <p:ph type="title"/>
          </p:nvPr>
        </p:nvSpPr>
        <p:spPr>
          <a:xfrm>
            <a:off x="3240000" y="288000"/>
            <a:ext cx="8233200" cy="540000"/>
          </a:xfrm>
          <a:prstGeom prst="rect">
            <a:avLst/>
          </a:prstGeom>
          <a:noFill/>
          <a:ln>
            <a:noFill/>
          </a:ln>
        </p:spPr>
        <p:txBody>
          <a:bodyPr anchorCtr="0" anchor="ctr" bIns="45700" lIns="91425" spcFirstLastPara="1" rIns="91425" wrap="square" tIns="45700">
            <a:normAutofit/>
          </a:bodyPr>
          <a:lstStyle>
            <a:lvl1pPr lvl="0" marR="0" rtl="0" algn="r">
              <a:spcBef>
                <a:spcPts val="0"/>
              </a:spcBef>
              <a:spcAft>
                <a:spcPts val="0"/>
              </a:spcAft>
              <a:buClr>
                <a:srgbClr val="262626"/>
              </a:buClr>
              <a:buSzPts val="3200"/>
              <a:buFont typeface="Titillium Web"/>
              <a:buNone/>
              <a:defRPr b="0" i="0" sz="3200" u="none" cap="none" strike="noStrike">
                <a:solidFill>
                  <a:srgbClr val="262626"/>
                </a:solidFill>
                <a:latin typeface="Titillium Web"/>
                <a:ea typeface="Titillium Web"/>
                <a:cs typeface="Titillium Web"/>
                <a:sym typeface="Titillium Web"/>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 name="Google Shape;15;p5"/>
          <p:cNvSpPr/>
          <p:nvPr/>
        </p:nvSpPr>
        <p:spPr>
          <a:xfrm>
            <a:off x="0" y="0"/>
            <a:ext cx="12193588" cy="828675"/>
          </a:xfrm>
          <a:prstGeom prst="rect">
            <a:avLst/>
          </a:prstGeom>
          <a:solidFill>
            <a:srgbClr val="3F3F3F">
              <a:alpha val="98823"/>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pic>
        <p:nvPicPr>
          <p:cNvPr descr="FDS_logo-white.png" id="16" name="Google Shape;16;p5"/>
          <p:cNvPicPr preferRelativeResize="0"/>
          <p:nvPr/>
        </p:nvPicPr>
        <p:blipFill rotWithShape="1">
          <a:blip r:embed="rId2">
            <a:alphaModFix/>
          </a:blip>
          <a:srcRect b="0" l="0" r="0" t="0"/>
          <a:stretch/>
        </p:blipFill>
        <p:spPr>
          <a:xfrm>
            <a:off x="323528" y="44624"/>
            <a:ext cx="1512168" cy="554462"/>
          </a:xfrm>
          <a:prstGeom prst="rect">
            <a:avLst/>
          </a:prstGeom>
          <a:noFill/>
          <a:ln>
            <a:noFill/>
          </a:ln>
        </p:spPr>
      </p:pic>
      <p:sp>
        <p:nvSpPr>
          <p:cNvPr id="17" name="Google Shape;17;p5"/>
          <p:cNvSpPr/>
          <p:nvPr/>
        </p:nvSpPr>
        <p:spPr>
          <a:xfrm>
            <a:off x="0" y="720725"/>
            <a:ext cx="5759450" cy="107950"/>
          </a:xfrm>
          <a:prstGeom prst="rect">
            <a:avLst/>
          </a:prstGeom>
          <a:solidFill>
            <a:srgbClr val="F26901">
              <a:alpha val="98823"/>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sp>
        <p:nvSpPr>
          <p:cNvPr id="18" name="Google Shape;18;p5"/>
          <p:cNvSpPr/>
          <p:nvPr/>
        </p:nvSpPr>
        <p:spPr>
          <a:xfrm>
            <a:off x="0" y="720725"/>
            <a:ext cx="4319588" cy="107950"/>
          </a:xfrm>
          <a:prstGeom prst="rect">
            <a:avLst/>
          </a:prstGeom>
          <a:solidFill>
            <a:srgbClr val="FF960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sp>
        <p:nvSpPr>
          <p:cNvPr id="19" name="Google Shape;19;p5"/>
          <p:cNvSpPr/>
          <p:nvPr/>
        </p:nvSpPr>
        <p:spPr>
          <a:xfrm>
            <a:off x="0" y="720000"/>
            <a:ext cx="2232248" cy="107950"/>
          </a:xfrm>
          <a:prstGeom prst="rect">
            <a:avLst/>
          </a:prstGeom>
          <a:solidFill>
            <a:srgbClr val="FFCC0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cxnSp>
        <p:nvCxnSpPr>
          <p:cNvPr id="20" name="Google Shape;20;p5"/>
          <p:cNvCxnSpPr/>
          <p:nvPr/>
        </p:nvCxnSpPr>
        <p:spPr>
          <a:xfrm>
            <a:off x="-609301" y="6678000"/>
            <a:ext cx="13404600" cy="0"/>
          </a:xfrm>
          <a:prstGeom prst="straightConnector1">
            <a:avLst/>
          </a:prstGeom>
          <a:noFill/>
          <a:ln cap="flat" cmpd="sng" w="12700">
            <a:solidFill>
              <a:schemeClr val="dk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0.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3.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
          <p:cNvSpPr txBox="1"/>
          <p:nvPr>
            <p:ph idx="1" type="subTitle"/>
          </p:nvPr>
        </p:nvSpPr>
        <p:spPr>
          <a:xfrm>
            <a:off x="720000" y="5220000"/>
            <a:ext cx="8640000" cy="2700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lt1"/>
              </a:buClr>
              <a:buSzPts val="1600"/>
              <a:buNone/>
            </a:pPr>
            <a:r>
              <a:rPr lang="en-US"/>
              <a:t>Chartered Financial Data Scientist (CFDS)</a:t>
            </a:r>
            <a:endParaRPr/>
          </a:p>
        </p:txBody>
      </p:sp>
      <p:sp>
        <p:nvSpPr>
          <p:cNvPr id="57" name="Google Shape;57;p1"/>
          <p:cNvSpPr txBox="1"/>
          <p:nvPr>
            <p:ph type="title"/>
          </p:nvPr>
        </p:nvSpPr>
        <p:spPr>
          <a:xfrm>
            <a:off x="720000" y="5490000"/>
            <a:ext cx="8640000" cy="540000"/>
          </a:xfrm>
          <a:prstGeom prst="rect">
            <a:avLst/>
          </a:prstGeom>
          <a:noFill/>
          <a:ln>
            <a:noFill/>
          </a:ln>
        </p:spPr>
        <p:txBody>
          <a:bodyPr anchorCtr="0" anchor="ctr" bIns="0" lIns="0" spcFirstLastPara="1" rIns="0" wrap="square" tIns="0">
            <a:normAutofit/>
          </a:bodyPr>
          <a:lstStyle/>
          <a:p>
            <a:pPr indent="0" lvl="0" marL="0" rtl="0" algn="l">
              <a:spcBef>
                <a:spcPts val="0"/>
              </a:spcBef>
              <a:spcAft>
                <a:spcPts val="0"/>
              </a:spcAft>
              <a:buClr>
                <a:schemeClr val="dk1"/>
              </a:buClr>
              <a:buSzPts val="1100"/>
              <a:buFont typeface="Arial"/>
              <a:buNone/>
            </a:pPr>
            <a:r>
              <a:rPr b="1" lang="en-US" sz="1600">
                <a:latin typeface="Calibri"/>
                <a:ea typeface="Calibri"/>
                <a:cs typeface="Calibri"/>
                <a:sym typeface="Calibri"/>
              </a:rPr>
              <a:t>Study on the Tail Distribution of Stock Returns: From Empirical Analysis to Factor Explanations</a:t>
            </a:r>
            <a:endParaRPr sz="3800"/>
          </a:p>
        </p:txBody>
      </p:sp>
      <p:sp>
        <p:nvSpPr>
          <p:cNvPr id="58" name="Google Shape;58;p1"/>
          <p:cNvSpPr txBox="1"/>
          <p:nvPr>
            <p:ph idx="2" type="body"/>
          </p:nvPr>
        </p:nvSpPr>
        <p:spPr>
          <a:xfrm>
            <a:off x="720000" y="6030000"/>
            <a:ext cx="8640000" cy="360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600"/>
              <a:buFont typeface="Arial"/>
              <a:buNone/>
            </a:pPr>
            <a:r>
              <a:rPr lang="en-US"/>
              <a:t>CFDS-11 – Project Presentation - Pierre Nibéron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2"/>
          <p:cNvSpPr txBox="1"/>
          <p:nvPr>
            <p:ph type="title"/>
          </p:nvPr>
        </p:nvSpPr>
        <p:spPr>
          <a:xfrm>
            <a:off x="3240000" y="116632"/>
            <a:ext cx="8233200" cy="540000"/>
          </a:xfrm>
          <a:prstGeom prst="rect">
            <a:avLst/>
          </a:prstGeom>
          <a:noFill/>
          <a:ln>
            <a:noFill/>
          </a:ln>
        </p:spPr>
        <p:txBody>
          <a:bodyPr anchorCtr="0" anchor="ctr" bIns="0" lIns="0" spcFirstLastPara="1" rIns="0" wrap="square" tIns="0">
            <a:normAutofit/>
          </a:bodyPr>
          <a:lstStyle/>
          <a:p>
            <a:pPr indent="0" lvl="0" marL="0" rtl="0" algn="r">
              <a:spcBef>
                <a:spcPts val="0"/>
              </a:spcBef>
              <a:spcAft>
                <a:spcPts val="0"/>
              </a:spcAft>
              <a:buClr>
                <a:schemeClr val="lt1"/>
              </a:buClr>
              <a:buSzPts val="3200"/>
              <a:buFont typeface="Titillium Web"/>
              <a:buNone/>
            </a:pPr>
            <a:r>
              <a:rPr lang="en-US"/>
              <a:t>Contents</a:t>
            </a:r>
            <a:endParaRPr/>
          </a:p>
        </p:txBody>
      </p:sp>
      <p:sp>
        <p:nvSpPr>
          <p:cNvPr id="65" name="Google Shape;65;p2"/>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sz="2400"/>
              <a:t>Motivation</a:t>
            </a:r>
            <a:endParaRPr/>
          </a:p>
          <a:p>
            <a:pPr indent="-342900" lvl="0" marL="342900" rtl="0" algn="l">
              <a:lnSpc>
                <a:spcPct val="100000"/>
              </a:lnSpc>
              <a:spcBef>
                <a:spcPts val="480"/>
              </a:spcBef>
              <a:spcAft>
                <a:spcPts val="0"/>
              </a:spcAft>
              <a:buClr>
                <a:schemeClr val="dk1"/>
              </a:buClr>
              <a:buSzPts val="2400"/>
              <a:buFont typeface="Arial"/>
              <a:buChar char="•"/>
            </a:pPr>
            <a:r>
              <a:rPr lang="en-US" sz="2400"/>
              <a:t>Problem Description</a:t>
            </a:r>
            <a:endParaRPr/>
          </a:p>
          <a:p>
            <a:pPr indent="-342900" lvl="0" marL="342900" rtl="0" algn="l">
              <a:lnSpc>
                <a:spcPct val="100000"/>
              </a:lnSpc>
              <a:spcBef>
                <a:spcPts val="480"/>
              </a:spcBef>
              <a:spcAft>
                <a:spcPts val="0"/>
              </a:spcAft>
              <a:buClr>
                <a:schemeClr val="dk1"/>
              </a:buClr>
              <a:buSzPts val="2400"/>
              <a:buFont typeface="Arial"/>
              <a:buChar char="•"/>
            </a:pPr>
            <a:r>
              <a:rPr lang="en-US" sz="2400"/>
              <a:t>Data</a:t>
            </a:r>
            <a:endParaRPr/>
          </a:p>
          <a:p>
            <a:pPr indent="-342900" lvl="0" marL="342900" rtl="0" algn="l">
              <a:lnSpc>
                <a:spcPct val="100000"/>
              </a:lnSpc>
              <a:spcBef>
                <a:spcPts val="480"/>
              </a:spcBef>
              <a:spcAft>
                <a:spcPts val="0"/>
              </a:spcAft>
              <a:buClr>
                <a:schemeClr val="dk1"/>
              </a:buClr>
              <a:buSzPts val="2400"/>
              <a:buFont typeface="Arial"/>
              <a:buChar char="•"/>
            </a:pPr>
            <a:r>
              <a:rPr lang="en-US" sz="2400"/>
              <a:t>Approach-1, whole set</a:t>
            </a:r>
            <a:endParaRPr sz="2400"/>
          </a:p>
          <a:p>
            <a:pPr indent="-342900" lvl="0" marL="342900" rtl="0" algn="l">
              <a:lnSpc>
                <a:spcPct val="100000"/>
              </a:lnSpc>
              <a:spcBef>
                <a:spcPts val="480"/>
              </a:spcBef>
              <a:spcAft>
                <a:spcPts val="0"/>
              </a:spcAft>
              <a:buSzPts val="2400"/>
              <a:buChar char="•"/>
            </a:pPr>
            <a:r>
              <a:rPr lang="en-US"/>
              <a:t>Approach-2, top 0.1%</a:t>
            </a:r>
            <a:endParaRPr/>
          </a:p>
          <a:p>
            <a:pPr indent="-342900" lvl="0" marL="342900" rtl="0" algn="l">
              <a:lnSpc>
                <a:spcPct val="100000"/>
              </a:lnSpc>
              <a:spcBef>
                <a:spcPts val="480"/>
              </a:spcBef>
              <a:spcAft>
                <a:spcPts val="0"/>
              </a:spcAft>
              <a:buClr>
                <a:schemeClr val="dk1"/>
              </a:buClr>
              <a:buSzPts val="2400"/>
              <a:buFont typeface="Arial"/>
              <a:buChar char="•"/>
            </a:pPr>
            <a:r>
              <a:rPr lang="en-US" sz="2400"/>
              <a:t>Results</a:t>
            </a:r>
            <a:endParaRPr/>
          </a:p>
          <a:p>
            <a:pPr indent="-342900" lvl="0" marL="342900" rtl="0" algn="l">
              <a:lnSpc>
                <a:spcPct val="100000"/>
              </a:lnSpc>
              <a:spcBef>
                <a:spcPts val="480"/>
              </a:spcBef>
              <a:spcAft>
                <a:spcPts val="0"/>
              </a:spcAft>
              <a:buClr>
                <a:schemeClr val="dk1"/>
              </a:buClr>
              <a:buSzPts val="2400"/>
              <a:buFont typeface="Arial"/>
              <a:buChar char="•"/>
            </a:pPr>
            <a:r>
              <a:rPr lang="en-US" sz="2400"/>
              <a:t>Conclusion</a:t>
            </a:r>
            <a:endParaRPr sz="2400"/>
          </a:p>
          <a:p>
            <a:pPr indent="-214313" lvl="1" marL="557213" rtl="0" algn="l">
              <a:lnSpc>
                <a:spcPct val="100000"/>
              </a:lnSpc>
              <a:spcBef>
                <a:spcPts val="480"/>
              </a:spcBef>
              <a:spcAft>
                <a:spcPts val="0"/>
              </a:spcAft>
              <a:buSzPts val="2000"/>
              <a:buChar char="–"/>
            </a:pPr>
            <a:r>
              <a:rPr lang="en-US"/>
              <a:t>Extreme Value Theory ? (https://en.wikipedia.org/wiki/Extreme_value_theory)</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66" name="Google Shape;66;p2"/>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67" name="Google Shape;67;p2"/>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Motivation</a:t>
            </a:r>
            <a:endParaRPr/>
          </a:p>
        </p:txBody>
      </p:sp>
      <p:sp>
        <p:nvSpPr>
          <p:cNvPr id="74" name="Google Shape;74;p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On Fat-Tails</a:t>
            </a:r>
            <a:endParaRPr/>
          </a:p>
          <a:p>
            <a:pPr indent="-214313" lvl="1" marL="557213" rtl="0" algn="l">
              <a:lnSpc>
                <a:spcPct val="100000"/>
              </a:lnSpc>
              <a:spcBef>
                <a:spcPts val="400"/>
              </a:spcBef>
              <a:spcAft>
                <a:spcPts val="0"/>
              </a:spcAft>
              <a:buClr>
                <a:schemeClr val="dk1"/>
              </a:buClr>
              <a:buSzPts val="2000"/>
              <a:buChar char="–"/>
            </a:pPr>
            <a:r>
              <a:rPr lang="en-US"/>
              <a:t>Mention by Dr. Sikandar Siddiqui during CFDS lessons</a:t>
            </a:r>
            <a:endParaRPr/>
          </a:p>
          <a:p>
            <a:pPr indent="-214313" lvl="1" marL="557213" rtl="0" algn="l">
              <a:lnSpc>
                <a:spcPct val="100000"/>
              </a:lnSpc>
              <a:spcBef>
                <a:spcPts val="400"/>
              </a:spcBef>
              <a:spcAft>
                <a:spcPts val="0"/>
              </a:spcAft>
              <a:buClr>
                <a:schemeClr val="dk1"/>
              </a:buClr>
              <a:buSzPts val="2000"/>
              <a:buChar char="–"/>
            </a:pPr>
            <a:r>
              <a:rPr lang="en-US"/>
              <a:t>Personal IT Background going into finance</a:t>
            </a:r>
            <a:endParaRPr/>
          </a:p>
          <a:p>
            <a:pPr indent="-214313" lvl="1" marL="557213" rtl="0" algn="l">
              <a:lnSpc>
                <a:spcPct val="100000"/>
              </a:lnSpc>
              <a:spcBef>
                <a:spcPts val="400"/>
              </a:spcBef>
              <a:spcAft>
                <a:spcPts val="0"/>
              </a:spcAft>
              <a:buClr>
                <a:schemeClr val="dk1"/>
              </a:buClr>
              <a:buSzPts val="2000"/>
              <a:buChar char="–"/>
            </a:pPr>
            <a:r>
              <a:rPr lang="en-US"/>
              <a:t>Describing and finding explanatory models</a:t>
            </a:r>
            <a:endParaRPr/>
          </a:p>
          <a:p>
            <a:pPr indent="-171450" lvl="2" marL="857250" rtl="0" algn="l">
              <a:lnSpc>
                <a:spcPct val="100000"/>
              </a:lnSpc>
              <a:spcBef>
                <a:spcPts val="400"/>
              </a:spcBef>
              <a:spcAft>
                <a:spcPts val="0"/>
              </a:spcAft>
              <a:buSzPts val="1600"/>
              <a:buChar char="•"/>
            </a:pPr>
            <a:r>
              <a:rPr lang="en-US"/>
              <a:t>Reading </a:t>
            </a:r>
            <a:r>
              <a:rPr lang="en-US"/>
              <a:t>literature</a:t>
            </a:r>
            <a:r>
              <a:rPr lang="en-US"/>
              <a:t> on the subject</a:t>
            </a:r>
            <a:endParaRPr/>
          </a:p>
          <a:p>
            <a:pPr indent="-171450" lvl="2" marL="857250" rtl="0" algn="l">
              <a:lnSpc>
                <a:spcPct val="100000"/>
              </a:lnSpc>
              <a:spcBef>
                <a:spcPts val="400"/>
              </a:spcBef>
              <a:spcAft>
                <a:spcPts val="0"/>
              </a:spcAft>
              <a:buSzPts val="1600"/>
              <a:buChar char="•"/>
            </a:pPr>
            <a:r>
              <a:rPr lang="en-US"/>
              <a:t>Using the tools learned during CFDS course</a:t>
            </a:r>
            <a:endParaRPr/>
          </a:p>
          <a:p>
            <a:pPr indent="-171450" lvl="2" marL="857250" rtl="0" algn="l">
              <a:lnSpc>
                <a:spcPct val="100000"/>
              </a:lnSpc>
              <a:spcBef>
                <a:spcPts val="400"/>
              </a:spcBef>
              <a:spcAft>
                <a:spcPts val="0"/>
              </a:spcAft>
              <a:buSzPts val="1600"/>
              <a:buChar char="•"/>
            </a:pPr>
            <a:r>
              <a:rPr lang="en-US"/>
              <a:t>Initiation to existing financial models (CAPM, Fama-French,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rPr i="1" lang="en-US"/>
              <a:t>“</a:t>
            </a:r>
            <a:r>
              <a:rPr i="1" lang="en-US"/>
              <a:t>large changes tend to be followed by large changes, of either sign, and small changes tend to be followed by small changes.” - </a:t>
            </a:r>
            <a:r>
              <a:rPr b="1" lang="en-US" sz="1100">
                <a:latin typeface="Arial"/>
                <a:ea typeface="Arial"/>
                <a:cs typeface="Arial"/>
                <a:sym typeface="Arial"/>
              </a:rPr>
              <a:t>Benoit B. Mandelbrot, 1963</a:t>
            </a:r>
            <a:endParaRPr i="1"/>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75" name="Google Shape;75;p3"/>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76" name="Google Shape;76;p3"/>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3d96c7f3a6c_0_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Problem Description</a:t>
            </a:r>
            <a:endParaRPr/>
          </a:p>
        </p:txBody>
      </p:sp>
      <p:sp>
        <p:nvSpPr>
          <p:cNvPr id="83" name="Google Shape;83;g3d96c7f3a6c_0_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First Part : Description and statistical testing </a:t>
            </a:r>
            <a:endParaRPr/>
          </a:p>
          <a:p>
            <a:pPr indent="-214313" lvl="1" marL="557213" rtl="0" algn="l">
              <a:lnSpc>
                <a:spcPct val="100000"/>
              </a:lnSpc>
              <a:spcBef>
                <a:spcPts val="400"/>
              </a:spcBef>
              <a:spcAft>
                <a:spcPts val="0"/>
              </a:spcAft>
              <a:buClr>
                <a:schemeClr val="dk1"/>
              </a:buClr>
              <a:buSzPts val="2000"/>
              <a:buChar char="–"/>
            </a:pPr>
            <a:r>
              <a:rPr lang="en-US"/>
              <a:t>Do we observe fat tails which would not exist under normal assumptions ? </a:t>
            </a:r>
            <a:br>
              <a:rPr lang="en-US"/>
            </a:br>
            <a:r>
              <a:rPr i="1" lang="en-US"/>
              <a:t>Arithmetic vs. Log, Skewness, Kutorsis, JB and visualization</a:t>
            </a:r>
            <a:endParaRPr i="1"/>
          </a:p>
          <a:p>
            <a:pPr indent="-214313" lvl="1" marL="557213" rtl="0" algn="l">
              <a:lnSpc>
                <a:spcPct val="100000"/>
              </a:lnSpc>
              <a:spcBef>
                <a:spcPts val="400"/>
              </a:spcBef>
              <a:spcAft>
                <a:spcPts val="0"/>
              </a:spcAft>
              <a:buClr>
                <a:schemeClr val="dk1"/>
              </a:buClr>
              <a:buSzPts val="2000"/>
              <a:buChar char="–"/>
            </a:pPr>
            <a:r>
              <a:rPr lang="en-US"/>
              <a:t>What do these tails look like? Are they symmetrical? </a:t>
            </a:r>
            <a:br>
              <a:rPr lang="en-US"/>
            </a:br>
            <a:r>
              <a:rPr i="1" lang="en-US"/>
              <a:t>99.9th percentile, t-test, f-test and visualization</a:t>
            </a:r>
            <a:endParaRPr i="1"/>
          </a:p>
          <a:p>
            <a:pPr indent="-87313" lvl="1" marL="557213" rtl="0" algn="l">
              <a:lnSpc>
                <a:spcPct val="100000"/>
              </a:lnSpc>
              <a:spcBef>
                <a:spcPts val="400"/>
              </a:spcBef>
              <a:spcAft>
                <a:spcPts val="0"/>
              </a:spcAft>
              <a:buClr>
                <a:schemeClr val="dk1"/>
              </a:buClr>
              <a:buSzPts val="2000"/>
              <a:buNone/>
            </a:pPr>
            <a:r>
              <a:t/>
            </a:r>
            <a:endParaRPr/>
          </a:p>
          <a:p>
            <a:pPr indent="-342900" lvl="0" marL="342900" rtl="0" algn="l">
              <a:lnSpc>
                <a:spcPct val="100000"/>
              </a:lnSpc>
              <a:spcBef>
                <a:spcPts val="480"/>
              </a:spcBef>
              <a:spcAft>
                <a:spcPts val="0"/>
              </a:spcAft>
              <a:buClr>
                <a:schemeClr val="dk1"/>
              </a:buClr>
              <a:buSzPts val="2400"/>
              <a:buFont typeface="Arial"/>
              <a:buChar char="•"/>
            </a:pPr>
            <a:r>
              <a:rPr lang="en-US"/>
              <a:t>Second Part : Model and explanatory power</a:t>
            </a:r>
            <a:endParaRPr/>
          </a:p>
          <a:p>
            <a:pPr indent="-214313" lvl="1" marL="557213" rtl="0" algn="l">
              <a:lnSpc>
                <a:spcPct val="100000"/>
              </a:lnSpc>
              <a:spcBef>
                <a:spcPts val="400"/>
              </a:spcBef>
              <a:spcAft>
                <a:spcPts val="0"/>
              </a:spcAft>
              <a:buClr>
                <a:schemeClr val="dk1"/>
              </a:buClr>
              <a:buSzPts val="2000"/>
              <a:buChar char="–"/>
            </a:pPr>
            <a:r>
              <a:rPr lang="en-US"/>
              <a:t>CAPM</a:t>
            </a:r>
            <a:endParaRPr/>
          </a:p>
          <a:p>
            <a:pPr indent="-214313" lvl="1" marL="557213" rtl="0" algn="l">
              <a:lnSpc>
                <a:spcPct val="100000"/>
              </a:lnSpc>
              <a:spcBef>
                <a:spcPts val="400"/>
              </a:spcBef>
              <a:spcAft>
                <a:spcPts val="0"/>
              </a:spcAft>
              <a:buClr>
                <a:schemeClr val="dk1"/>
              </a:buClr>
              <a:buSzPts val="2000"/>
              <a:buChar char="–"/>
            </a:pPr>
            <a:r>
              <a:rPr lang="en-US"/>
              <a:t>Fama-French Three factors model</a:t>
            </a:r>
            <a:endParaRPr/>
          </a:p>
          <a:p>
            <a:pPr indent="-214313" lvl="1" marL="557213" rtl="0" algn="l">
              <a:lnSpc>
                <a:spcPct val="100000"/>
              </a:lnSpc>
              <a:spcBef>
                <a:spcPts val="400"/>
              </a:spcBef>
              <a:spcAft>
                <a:spcPts val="0"/>
              </a:spcAft>
              <a:buSzPts val="2000"/>
              <a:buChar char="–"/>
            </a:pPr>
            <a:r>
              <a:rPr lang="en-US"/>
              <a:t>Momentum and sentiment</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84" name="Google Shape;84;g3d96c7f3a6c_0_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85" name="Google Shape;85;g3d96c7f3a6c_0_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g3d96c7f3a6c_0_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Data</a:t>
            </a:r>
            <a:endParaRPr/>
          </a:p>
        </p:txBody>
      </p:sp>
      <p:sp>
        <p:nvSpPr>
          <p:cNvPr id="92" name="Google Shape;92;g3d96c7f3a6c_0_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S&amp;P500 stock list from wikipedia</a:t>
            </a:r>
            <a:endParaRPr/>
          </a:p>
          <a:p>
            <a:pPr indent="-342900" lvl="0" marL="342900" rtl="0" algn="l">
              <a:lnSpc>
                <a:spcPct val="100000"/>
              </a:lnSpc>
              <a:spcBef>
                <a:spcPts val="0"/>
              </a:spcBef>
              <a:spcAft>
                <a:spcPts val="0"/>
              </a:spcAft>
              <a:buClr>
                <a:schemeClr val="dk1"/>
              </a:buClr>
              <a:buSzPts val="2400"/>
              <a:buFont typeface="Arial"/>
              <a:buChar char="•"/>
            </a:pPr>
            <a:r>
              <a:rPr lang="en-US"/>
              <a:t>Daily stock prices from 01.01.2010 to today</a:t>
            </a:r>
            <a:endParaRPr/>
          </a:p>
          <a:p>
            <a:pPr indent="-342900" lvl="0" marL="342900" rtl="0" algn="l">
              <a:lnSpc>
                <a:spcPct val="100000"/>
              </a:lnSpc>
              <a:spcBef>
                <a:spcPts val="0"/>
              </a:spcBef>
              <a:spcAft>
                <a:spcPts val="0"/>
              </a:spcAft>
              <a:buSzPts val="2400"/>
              <a:buChar char="•"/>
            </a:pPr>
            <a:r>
              <a:rPr lang="en-US"/>
              <a:t>yFinance api (data from yahoo finance website)</a:t>
            </a:r>
            <a:endParaRPr/>
          </a:p>
          <a:p>
            <a:pPr indent="-342900" lvl="0" marL="342900" rtl="0" algn="l">
              <a:lnSpc>
                <a:spcPct val="100000"/>
              </a:lnSpc>
              <a:spcBef>
                <a:spcPts val="0"/>
              </a:spcBef>
              <a:spcAft>
                <a:spcPts val="0"/>
              </a:spcAft>
              <a:buSzPts val="2400"/>
              <a:buChar char="•"/>
            </a:pPr>
            <a:r>
              <a:rPr lang="en-US"/>
              <a:t>Corporate actions (yFinance api)</a:t>
            </a:r>
            <a:endParaRPr/>
          </a:p>
          <a:p>
            <a:pPr indent="-342900" lvl="0" marL="342900" rtl="0" algn="l">
              <a:lnSpc>
                <a:spcPct val="100000"/>
              </a:lnSpc>
              <a:spcBef>
                <a:spcPts val="0"/>
              </a:spcBef>
              <a:spcAft>
                <a:spcPts val="0"/>
              </a:spcAft>
              <a:buSzPts val="2400"/>
              <a:buChar char="•"/>
            </a:pPr>
            <a:r>
              <a:rPr lang="en-US"/>
              <a:t>Transformation to obtain returns</a:t>
            </a:r>
            <a:endParaRPr/>
          </a:p>
          <a:p>
            <a:pPr indent="-342900" lvl="0" marL="342900" rtl="0" algn="l">
              <a:lnSpc>
                <a:spcPct val="100000"/>
              </a:lnSpc>
              <a:spcBef>
                <a:spcPts val="0"/>
              </a:spcBef>
              <a:spcAft>
                <a:spcPts val="0"/>
              </a:spcAft>
              <a:buSzPts val="2400"/>
              <a:buChar char="•"/>
            </a:pPr>
            <a:r>
              <a:rPr lang="en-US"/>
              <a:t>Flags at a certain threshold</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93" name="Google Shape;93;g3d96c7f3a6c_0_9"/>
          <p:cNvSpPr txBox="1"/>
          <p:nvPr>
            <p:ph idx="11" type="ftr"/>
          </p:nvPr>
        </p:nvSpPr>
        <p:spPr>
          <a:xfrm>
            <a:off x="484024" y="666845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94" name="Google Shape;94;g3d96c7f3a6c_0_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95" name="Google Shape;95;g3d96c7f3a6c_0_9"/>
          <p:cNvPicPr preferRelativeResize="0"/>
          <p:nvPr/>
        </p:nvPicPr>
        <p:blipFill>
          <a:blip r:embed="rId3">
            <a:alphaModFix/>
          </a:blip>
          <a:stretch>
            <a:fillRect/>
          </a:stretch>
        </p:blipFill>
        <p:spPr>
          <a:xfrm>
            <a:off x="-787" y="4224925"/>
            <a:ext cx="12193577" cy="19601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g3d96c7f3a6c_0_2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02" name="Google Shape;102;g3d96c7f3a6c_0_2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S&amp;P500 whole dataset</a:t>
            </a:r>
            <a:endParaRPr/>
          </a:p>
          <a:p>
            <a:pPr indent="-214313" lvl="1" marL="557213" rtl="0" algn="l">
              <a:lnSpc>
                <a:spcPct val="100000"/>
              </a:lnSpc>
              <a:spcBef>
                <a:spcPts val="400"/>
              </a:spcBef>
              <a:spcAft>
                <a:spcPts val="0"/>
              </a:spcAft>
              <a:buClr>
                <a:schemeClr val="dk1"/>
              </a:buClr>
              <a:buSzPts val="2000"/>
              <a:buChar char="–"/>
            </a:pPr>
            <a:r>
              <a:rPr lang="en-US"/>
              <a:t>Statistics</a:t>
            </a:r>
            <a:endParaRPr/>
          </a:p>
          <a:p>
            <a:pPr indent="-214313" lvl="1" marL="557213" rtl="0" algn="l">
              <a:lnSpc>
                <a:spcPct val="100000"/>
              </a:lnSpc>
              <a:spcBef>
                <a:spcPts val="400"/>
              </a:spcBef>
              <a:spcAft>
                <a:spcPts val="0"/>
              </a:spcAft>
              <a:buClr>
                <a:schemeClr val="dk1"/>
              </a:buClr>
              <a:buSzPts val="2000"/>
              <a:buChar char="–"/>
            </a:pPr>
            <a:r>
              <a:rPr lang="en-US"/>
              <a:t>Visualization</a:t>
            </a: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03" name="Google Shape;103;g3d96c7f3a6c_0_2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104" name="Google Shape;104;g3d96c7f3a6c_0_2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g3d96c7f3a6c_0_7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11" name="Google Shape;111;g3d96c7f3a6c_0_7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Arithmetic-Returns stats table:</a:t>
            </a:r>
            <a:br>
              <a:rPr lang="en-US"/>
            </a:br>
            <a:endParaRPr/>
          </a:p>
          <a:p>
            <a:pPr indent="0" lvl="0" marL="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342900" lvl="0" marL="342900" rtl="0" algn="l">
              <a:spcBef>
                <a:spcPts val="0"/>
              </a:spcBef>
              <a:spcAft>
                <a:spcPts val="0"/>
              </a:spcAft>
              <a:buSzPts val="2400"/>
              <a:buChar char="•"/>
            </a:pPr>
            <a:r>
              <a:rPr lang="en-US"/>
              <a:t>Jarque-Berra</a:t>
            </a:r>
            <a:br>
              <a:rPr lang="en-US"/>
            </a:br>
            <a:endParaRPr/>
          </a:p>
          <a:p>
            <a:pPr indent="0" lvl="0" marL="342900" rtl="0" algn="l">
              <a:spcBef>
                <a:spcPts val="0"/>
              </a:spcBef>
              <a:spcAft>
                <a:spcPts val="0"/>
              </a:spcAft>
              <a:buNone/>
            </a:pPr>
            <a:r>
              <a:rPr lang="en-US"/>
              <a:t>JB statistic: 40458666.05</a:t>
            </a:r>
            <a:endParaRPr/>
          </a:p>
          <a:p>
            <a:pPr indent="0" lvl="0" marL="342900" rtl="0" algn="l">
              <a:spcBef>
                <a:spcPts val="0"/>
              </a:spcBef>
              <a:spcAft>
                <a:spcPts val="0"/>
              </a:spcAft>
              <a:buNone/>
            </a:pPr>
            <a:r>
              <a:rPr lang="en-US"/>
              <a:t>p-value: 0.00e+00</a:t>
            </a:r>
            <a:br>
              <a:rPr lang="en-US"/>
            </a:b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12" name="Google Shape;112;g3d96c7f3a6c_0_7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13" name="Google Shape;113;g3d96c7f3a6c_0_7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14" name="Google Shape;114;g3d96c7f3a6c_0_79"/>
          <p:cNvPicPr preferRelativeResize="0"/>
          <p:nvPr/>
        </p:nvPicPr>
        <p:blipFill>
          <a:blip r:embed="rId3">
            <a:alphaModFix/>
          </a:blip>
          <a:stretch>
            <a:fillRect/>
          </a:stretch>
        </p:blipFill>
        <p:spPr>
          <a:xfrm>
            <a:off x="4781538" y="1771650"/>
            <a:ext cx="2628900" cy="33147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3db971e7cb6_0_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21" name="Google Shape;121;g3db971e7cb6_0_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Log-Returns stats table:</a:t>
            </a:r>
            <a:br>
              <a:rPr lang="en-US"/>
            </a:br>
            <a:r>
              <a:rPr lang="en-US"/>
              <a:t>(check skewness and max,</a:t>
            </a:r>
            <a:br>
              <a:rPr lang="en-US"/>
            </a:br>
            <a:r>
              <a:rPr lang="en-US"/>
              <a:t>effect of the log)</a:t>
            </a:r>
            <a:endParaRPr/>
          </a:p>
          <a:p>
            <a:pPr indent="0" lvl="0" marL="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342900" lvl="0" marL="342900" rtl="0" algn="l">
              <a:spcBef>
                <a:spcPts val="0"/>
              </a:spcBef>
              <a:spcAft>
                <a:spcPts val="0"/>
              </a:spcAft>
              <a:buSzPts val="2400"/>
              <a:buChar char="•"/>
            </a:pPr>
            <a:r>
              <a:rPr lang="en-US"/>
              <a:t>Jarque-Berra</a:t>
            </a:r>
            <a:endParaRPr/>
          </a:p>
          <a:p>
            <a:pPr indent="0" lvl="0" marL="342900" rtl="0" algn="l">
              <a:spcBef>
                <a:spcPts val="0"/>
              </a:spcBef>
              <a:spcAft>
                <a:spcPts val="0"/>
              </a:spcAft>
              <a:buNone/>
            </a:pPr>
            <a:br>
              <a:rPr lang="en-US"/>
            </a:br>
            <a:r>
              <a:rPr lang="en-US"/>
              <a:t>JB statistic: 51077412.92</a:t>
            </a:r>
            <a:endParaRPr/>
          </a:p>
          <a:p>
            <a:pPr indent="0" lvl="0" marL="342900" rtl="0" algn="l">
              <a:spcBef>
                <a:spcPts val="0"/>
              </a:spcBef>
              <a:spcAft>
                <a:spcPts val="0"/>
              </a:spcAft>
              <a:buNone/>
            </a:pPr>
            <a:r>
              <a:rPr lang="en-US"/>
              <a:t>p-value: 0.00e+00</a:t>
            </a: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22" name="Google Shape;122;g3db971e7cb6_0_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23" name="Google Shape;123;g3db971e7cb6_0_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24" name="Google Shape;124;g3db971e7cb6_0_3"/>
          <p:cNvPicPr preferRelativeResize="0"/>
          <p:nvPr/>
        </p:nvPicPr>
        <p:blipFill>
          <a:blip r:embed="rId3">
            <a:alphaModFix/>
          </a:blip>
          <a:stretch>
            <a:fillRect/>
          </a:stretch>
        </p:blipFill>
        <p:spPr>
          <a:xfrm>
            <a:off x="4782325" y="1781175"/>
            <a:ext cx="2628900" cy="32956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g3d96c7f3a6c_0_3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31" name="Google Shape;131;g3d96c7f3a6c_0_3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32" name="Google Shape;132;g3d96c7f3a6c_0_3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33" name="Google Shape;133;g3d96c7f3a6c_0_39"/>
          <p:cNvPicPr preferRelativeResize="0"/>
          <p:nvPr/>
        </p:nvPicPr>
        <p:blipFill>
          <a:blip r:embed="rId3">
            <a:alphaModFix/>
          </a:blip>
          <a:stretch>
            <a:fillRect/>
          </a:stretch>
        </p:blipFill>
        <p:spPr>
          <a:xfrm>
            <a:off x="0" y="1231600"/>
            <a:ext cx="6026774" cy="4853425"/>
          </a:xfrm>
          <a:prstGeom prst="rect">
            <a:avLst/>
          </a:prstGeom>
          <a:noFill/>
          <a:ln>
            <a:noFill/>
          </a:ln>
        </p:spPr>
      </p:pic>
      <p:pic>
        <p:nvPicPr>
          <p:cNvPr id="134" name="Google Shape;134;g3d96c7f3a6c_0_39"/>
          <p:cNvPicPr preferRelativeResize="0"/>
          <p:nvPr/>
        </p:nvPicPr>
        <p:blipFill>
          <a:blip r:embed="rId4">
            <a:alphaModFix/>
          </a:blip>
          <a:stretch>
            <a:fillRect/>
          </a:stretch>
        </p:blipFill>
        <p:spPr>
          <a:xfrm>
            <a:off x="6165599" y="1319949"/>
            <a:ext cx="5965977" cy="467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g3d96c7f3a6c_0_4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41" name="Google Shape;141;g3d96c7f3a6c_0_4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42" name="Google Shape;142;g3d96c7f3a6c_0_4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43" name="Google Shape;143;g3d96c7f3a6c_0_49"/>
          <p:cNvPicPr preferRelativeResize="0"/>
          <p:nvPr/>
        </p:nvPicPr>
        <p:blipFill>
          <a:blip r:embed="rId3">
            <a:alphaModFix/>
          </a:blip>
          <a:stretch>
            <a:fillRect/>
          </a:stretch>
        </p:blipFill>
        <p:spPr>
          <a:xfrm>
            <a:off x="5825000" y="1060251"/>
            <a:ext cx="6257375" cy="5039125"/>
          </a:xfrm>
          <a:prstGeom prst="rect">
            <a:avLst/>
          </a:prstGeom>
          <a:noFill/>
          <a:ln>
            <a:noFill/>
          </a:ln>
        </p:spPr>
      </p:pic>
      <p:pic>
        <p:nvPicPr>
          <p:cNvPr id="144" name="Google Shape;144;g3d96c7f3a6c_0_49"/>
          <p:cNvPicPr preferRelativeResize="0"/>
          <p:nvPr/>
        </p:nvPicPr>
        <p:blipFill>
          <a:blip r:embed="rId4">
            <a:alphaModFix/>
          </a:blip>
          <a:stretch>
            <a:fillRect/>
          </a:stretch>
        </p:blipFill>
        <p:spPr>
          <a:xfrm>
            <a:off x="245975" y="1412882"/>
            <a:ext cx="5467350" cy="43338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d96c7f3a6c_0_6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51" name="Google Shape;151;g3d96c7f3a6c_0_6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52" name="Google Shape;152;g3d96c7f3a6c_0_6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53" name="Google Shape;153;g3d96c7f3a6c_0_60"/>
          <p:cNvPicPr preferRelativeResize="0"/>
          <p:nvPr/>
        </p:nvPicPr>
        <p:blipFill>
          <a:blip r:embed="rId3">
            <a:alphaModFix/>
          </a:blip>
          <a:stretch>
            <a:fillRect/>
          </a:stretch>
        </p:blipFill>
        <p:spPr>
          <a:xfrm>
            <a:off x="1168575" y="791450"/>
            <a:ext cx="10304727" cy="573369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g3d96c7f3a6c_0_9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60" name="Google Shape;160;g3d96c7f3a6c_0_9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61" name="Google Shape;161;g3d96c7f3a6c_0_9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62" name="Google Shape;162;g3d96c7f3a6c_0_97"/>
          <p:cNvPicPr preferRelativeResize="0"/>
          <p:nvPr/>
        </p:nvPicPr>
        <p:blipFill>
          <a:blip r:embed="rId3">
            <a:alphaModFix/>
          </a:blip>
          <a:stretch>
            <a:fillRect/>
          </a:stretch>
        </p:blipFill>
        <p:spPr>
          <a:xfrm>
            <a:off x="0" y="2086400"/>
            <a:ext cx="12193577" cy="2685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d96c7f3a6c_0_8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Approach-1</a:t>
            </a:r>
            <a:endParaRPr/>
          </a:p>
        </p:txBody>
      </p:sp>
      <p:sp>
        <p:nvSpPr>
          <p:cNvPr id="169" name="Google Shape;169;g3d96c7f3a6c_0_8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70" name="Google Shape;170;g3d96c7f3a6c_0_8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71" name="Google Shape;171;g3d96c7f3a6c_0_87"/>
          <p:cNvPicPr preferRelativeResize="0"/>
          <p:nvPr/>
        </p:nvPicPr>
        <p:blipFill>
          <a:blip r:embed="rId3">
            <a:alphaModFix/>
          </a:blip>
          <a:stretch>
            <a:fillRect/>
          </a:stretch>
        </p:blipFill>
        <p:spPr>
          <a:xfrm>
            <a:off x="841125" y="1357320"/>
            <a:ext cx="5324475" cy="4143375"/>
          </a:xfrm>
          <a:prstGeom prst="rect">
            <a:avLst/>
          </a:prstGeom>
          <a:noFill/>
          <a:ln>
            <a:noFill/>
          </a:ln>
        </p:spPr>
      </p:pic>
      <p:pic>
        <p:nvPicPr>
          <p:cNvPr id="172" name="Google Shape;172;g3d96c7f3a6c_0_87"/>
          <p:cNvPicPr preferRelativeResize="0"/>
          <p:nvPr/>
        </p:nvPicPr>
        <p:blipFill>
          <a:blip r:embed="rId4">
            <a:alphaModFix/>
          </a:blip>
          <a:stretch>
            <a:fillRect/>
          </a:stretch>
        </p:blipFill>
        <p:spPr>
          <a:xfrm>
            <a:off x="6165600" y="1357332"/>
            <a:ext cx="5324475" cy="41433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d96c7f3a6c_0_2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a:t>
            </a:r>
            <a:endParaRPr/>
          </a:p>
        </p:txBody>
      </p:sp>
      <p:sp>
        <p:nvSpPr>
          <p:cNvPr id="179" name="Google Shape;179;g3d96c7f3a6c_0_2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Analysis of the top 0.1% (no clustering)</a:t>
            </a:r>
            <a:endParaRPr/>
          </a:p>
          <a:p>
            <a:pPr indent="0" lvl="0" marL="342900" rtl="0" algn="l">
              <a:lnSpc>
                <a:spcPct val="100000"/>
              </a:lnSpc>
              <a:spcBef>
                <a:spcPts val="0"/>
              </a:spcBef>
              <a:spcAft>
                <a:spcPts val="0"/>
              </a:spcAft>
              <a:buNone/>
            </a:pPr>
            <a:r>
              <a:t/>
            </a:r>
            <a:endParaRPr/>
          </a:p>
          <a:p>
            <a:pPr indent="-342900" lvl="0" marL="342900" rtl="0" algn="l">
              <a:lnSpc>
                <a:spcPct val="100000"/>
              </a:lnSpc>
              <a:spcBef>
                <a:spcPts val="0"/>
              </a:spcBef>
              <a:spcAft>
                <a:spcPts val="0"/>
              </a:spcAft>
              <a:buClr>
                <a:schemeClr val="dk1"/>
              </a:buClr>
              <a:buSzPts val="2400"/>
              <a:buFont typeface="Arial"/>
              <a:buChar char="•"/>
            </a:pPr>
            <a:r>
              <a:rPr lang="en-US"/>
              <a:t>Clustering</a:t>
            </a:r>
            <a:endParaRPr/>
          </a:p>
          <a:p>
            <a:pPr indent="-214313" lvl="1" marL="557213" rtl="0" algn="l">
              <a:lnSpc>
                <a:spcPct val="100000"/>
              </a:lnSpc>
              <a:spcBef>
                <a:spcPts val="400"/>
              </a:spcBef>
              <a:spcAft>
                <a:spcPts val="0"/>
              </a:spcAft>
              <a:buClr>
                <a:schemeClr val="dk1"/>
              </a:buClr>
              <a:buSzPts val="2000"/>
              <a:buChar char="–"/>
            </a:pPr>
            <a:r>
              <a:rPr lang="en-US"/>
              <a:t>Time clustering</a:t>
            </a:r>
            <a:endParaRPr/>
          </a:p>
          <a:p>
            <a:pPr indent="-214313" lvl="1" marL="557213" rtl="0" algn="l">
              <a:lnSpc>
                <a:spcPct val="100000"/>
              </a:lnSpc>
              <a:spcBef>
                <a:spcPts val="400"/>
              </a:spcBef>
              <a:spcAft>
                <a:spcPts val="0"/>
              </a:spcAft>
              <a:buClr>
                <a:schemeClr val="dk1"/>
              </a:buClr>
              <a:buSzPts val="2000"/>
              <a:buChar char="–"/>
            </a:pPr>
            <a:r>
              <a:rPr lang="en-US"/>
              <a:t>Sectors </a:t>
            </a:r>
            <a:br>
              <a:rPr lang="en-US"/>
            </a:br>
            <a:endParaRPr/>
          </a:p>
          <a:p>
            <a:pPr indent="0" lvl="0" marL="0" rtl="0" algn="l">
              <a:spcBef>
                <a:spcPts val="0"/>
              </a:spcBef>
              <a:spcAft>
                <a:spcPts val="0"/>
              </a:spcAft>
              <a:buNone/>
            </a:pPr>
            <a:r>
              <a:t/>
            </a: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80" name="Google Shape;180;g3d96c7f3a6c_0_2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181" name="Google Shape;181;g3d96c7f3a6c_0_2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g3db971e7cb6_0_10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Approach-2(statistical tests, no clustering)</a:t>
            </a:r>
            <a:endParaRPr/>
          </a:p>
        </p:txBody>
      </p:sp>
      <p:sp>
        <p:nvSpPr>
          <p:cNvPr id="188" name="Google Shape;188;g3db971e7cb6_0_107"/>
          <p:cNvSpPr txBox="1"/>
          <p:nvPr>
            <p:ph idx="1" type="body"/>
          </p:nvPr>
        </p:nvSpPr>
        <p:spPr>
          <a:xfrm>
            <a:off x="720188" y="134175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the two top 0.1% have the same statistical </a:t>
            </a:r>
            <a:r>
              <a:rPr lang="en-US"/>
              <a:t>resemblance?</a:t>
            </a:r>
            <a:br>
              <a:rPr lang="en-US"/>
            </a:br>
            <a:r>
              <a:rPr lang="en-US"/>
              <a:t>Check both return definition, log_return (left), arithmetic_return (right)</a:t>
            </a:r>
            <a:br>
              <a:rPr lang="en-US"/>
            </a:br>
            <a:r>
              <a:rPr i="1" lang="en-US" sz="1800"/>
              <a:t>Extreme Value Theory and Generalized Pareto Distribution territory.</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89" name="Google Shape;189;g3db971e7cb6_0_10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90" name="Google Shape;190;g3db971e7cb6_0_10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91" name="Google Shape;191;g3db971e7cb6_0_107"/>
          <p:cNvPicPr preferRelativeResize="0"/>
          <p:nvPr/>
        </p:nvPicPr>
        <p:blipFill>
          <a:blip r:embed="rId3">
            <a:alphaModFix/>
          </a:blip>
          <a:stretch>
            <a:fillRect/>
          </a:stretch>
        </p:blipFill>
        <p:spPr>
          <a:xfrm>
            <a:off x="8005500" y="2575925"/>
            <a:ext cx="3390900" cy="3657600"/>
          </a:xfrm>
          <a:prstGeom prst="rect">
            <a:avLst/>
          </a:prstGeom>
          <a:noFill/>
          <a:ln>
            <a:noFill/>
          </a:ln>
        </p:spPr>
      </p:pic>
      <p:pic>
        <p:nvPicPr>
          <p:cNvPr id="192" name="Google Shape;192;g3db971e7cb6_0_107"/>
          <p:cNvPicPr preferRelativeResize="0"/>
          <p:nvPr/>
        </p:nvPicPr>
        <p:blipFill>
          <a:blip r:embed="rId4">
            <a:alphaModFix/>
          </a:blip>
          <a:stretch>
            <a:fillRect/>
          </a:stretch>
        </p:blipFill>
        <p:spPr>
          <a:xfrm>
            <a:off x="4401350" y="2575925"/>
            <a:ext cx="3390900" cy="3657600"/>
          </a:xfrm>
          <a:prstGeom prst="rect">
            <a:avLst/>
          </a:prstGeom>
          <a:noFill/>
          <a:ln>
            <a:noFill/>
          </a:ln>
        </p:spPr>
      </p:pic>
      <p:pic>
        <p:nvPicPr>
          <p:cNvPr id="193" name="Google Shape;193;g3db971e7cb6_0_107"/>
          <p:cNvPicPr preferRelativeResize="0"/>
          <p:nvPr/>
        </p:nvPicPr>
        <p:blipFill>
          <a:blip r:embed="rId5">
            <a:alphaModFix/>
          </a:blip>
          <a:stretch>
            <a:fillRect/>
          </a:stretch>
        </p:blipFill>
        <p:spPr>
          <a:xfrm>
            <a:off x="797197" y="3535660"/>
            <a:ext cx="3390900" cy="123431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g3d96c7f3a6c_0_7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(time clustering)</a:t>
            </a:r>
            <a:endParaRPr/>
          </a:p>
        </p:txBody>
      </p:sp>
      <p:sp>
        <p:nvSpPr>
          <p:cNvPr id="200" name="Google Shape;200;g3d96c7f3a6c_0_7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years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01" name="Google Shape;201;g3d96c7f3a6c_0_7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02" name="Google Shape;202;g3d96c7f3a6c_0_7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03" name="Google Shape;203;g3d96c7f3a6c_0_70"/>
          <p:cNvPicPr preferRelativeResize="0"/>
          <p:nvPr/>
        </p:nvPicPr>
        <p:blipFill>
          <a:blip r:embed="rId3">
            <a:alphaModFix/>
          </a:blip>
          <a:stretch>
            <a:fillRect/>
          </a:stretch>
        </p:blipFill>
        <p:spPr>
          <a:xfrm>
            <a:off x="5372875" y="1898325"/>
            <a:ext cx="1447800" cy="39433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db971e7cb6_0_4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a:t>
            </a:r>
            <a:r>
              <a:rPr lang="en-US"/>
              <a:t> (time clustering)</a:t>
            </a:r>
            <a:endParaRPr/>
          </a:p>
        </p:txBody>
      </p:sp>
      <p:sp>
        <p:nvSpPr>
          <p:cNvPr id="210" name="Google Shape;210;g3db971e7cb6_0_4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days, ordered, head(10)</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11" name="Google Shape;211;g3db971e7cb6_0_4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12" name="Google Shape;212;g3db971e7cb6_0_4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13" name="Google Shape;213;g3db971e7cb6_0_43"/>
          <p:cNvPicPr preferRelativeResize="0"/>
          <p:nvPr/>
        </p:nvPicPr>
        <p:blipFill>
          <a:blip r:embed="rId3">
            <a:alphaModFix/>
          </a:blip>
          <a:stretch>
            <a:fillRect/>
          </a:stretch>
        </p:blipFill>
        <p:spPr>
          <a:xfrm>
            <a:off x="4875400" y="1811863"/>
            <a:ext cx="2441200" cy="32342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g3db971e7cb6_0_64"/>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(time clustering)</a:t>
            </a:r>
            <a:endParaRPr/>
          </a:p>
        </p:txBody>
      </p:sp>
      <p:sp>
        <p:nvSpPr>
          <p:cNvPr id="220" name="Google Shape;220;g3db971e7cb6_0_64"/>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years were good / bad for the top 0.1%?</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21" name="Google Shape;221;g3db971e7cb6_0_64"/>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22" name="Google Shape;222;g3db971e7cb6_0_64"/>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23" name="Google Shape;223;g3db971e7cb6_0_64"/>
          <p:cNvPicPr preferRelativeResize="0"/>
          <p:nvPr/>
        </p:nvPicPr>
        <p:blipFill>
          <a:blip r:embed="rId3">
            <a:alphaModFix/>
          </a:blip>
          <a:stretch>
            <a:fillRect/>
          </a:stretch>
        </p:blipFill>
        <p:spPr>
          <a:xfrm>
            <a:off x="2436800" y="1891175"/>
            <a:ext cx="7319976" cy="47384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g3db971e7cb6_0_8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(time clustering)</a:t>
            </a:r>
            <a:endParaRPr/>
          </a:p>
        </p:txBody>
      </p:sp>
      <p:sp>
        <p:nvSpPr>
          <p:cNvPr id="230" name="Google Shape;230;g3db971e7cb6_0_8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31" name="Google Shape;231;g3db971e7cb6_0_8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32" name="Google Shape;232;g3db971e7cb6_0_8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33" name="Google Shape;233;g3db971e7cb6_0_87"/>
          <p:cNvPicPr preferRelativeResize="0"/>
          <p:nvPr/>
        </p:nvPicPr>
        <p:blipFill>
          <a:blip r:embed="rId3">
            <a:alphaModFix/>
          </a:blip>
          <a:stretch>
            <a:fillRect/>
          </a:stretch>
        </p:blipFill>
        <p:spPr>
          <a:xfrm>
            <a:off x="6096000" y="2318975"/>
            <a:ext cx="5764977" cy="3916950"/>
          </a:xfrm>
          <a:prstGeom prst="rect">
            <a:avLst/>
          </a:prstGeom>
          <a:noFill/>
          <a:ln>
            <a:noFill/>
          </a:ln>
        </p:spPr>
      </p:pic>
      <p:pic>
        <p:nvPicPr>
          <p:cNvPr id="234" name="Google Shape;234;g3db971e7cb6_0_87"/>
          <p:cNvPicPr preferRelativeResize="0"/>
          <p:nvPr/>
        </p:nvPicPr>
        <p:blipFill>
          <a:blip r:embed="rId4">
            <a:alphaModFix/>
          </a:blip>
          <a:stretch>
            <a:fillRect/>
          </a:stretch>
        </p:blipFill>
        <p:spPr>
          <a:xfrm>
            <a:off x="0" y="2318975"/>
            <a:ext cx="6095999" cy="391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g39a84e3b28a_0_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(time clustering)</a:t>
            </a:r>
            <a:endParaRPr/>
          </a:p>
        </p:txBody>
      </p:sp>
      <p:sp>
        <p:nvSpPr>
          <p:cNvPr id="241" name="Google Shape;241;g39a84e3b28a_0_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42" name="Google Shape;242;g39a84e3b28a_0_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43" name="Google Shape;243;g39a84e3b28a_0_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44" name="Google Shape;244;g39a84e3b28a_0_0"/>
          <p:cNvPicPr preferRelativeResize="0"/>
          <p:nvPr/>
        </p:nvPicPr>
        <p:blipFill>
          <a:blip r:embed="rId3">
            <a:alphaModFix/>
          </a:blip>
          <a:stretch>
            <a:fillRect/>
          </a:stretch>
        </p:blipFill>
        <p:spPr>
          <a:xfrm>
            <a:off x="1187463" y="1784000"/>
            <a:ext cx="9817074" cy="48714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db971e7cb6_0_12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(time clustering, statistical testing)</a:t>
            </a:r>
            <a:endParaRPr/>
          </a:p>
        </p:txBody>
      </p:sp>
      <p:sp>
        <p:nvSpPr>
          <p:cNvPr id="251" name="Google Shape;251;g3db971e7cb6_0_12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the top 0.1% mean across years are statistically different within each positive extreme and negative extreme? log_return (left), arithmetic_return (right)</a:t>
            </a:r>
            <a:endParaRPr/>
          </a:p>
          <a:p>
            <a:pPr indent="457200" lvl="0" marL="0" rtl="0" algn="l">
              <a:lnSpc>
                <a:spcPct val="100000"/>
              </a:lnSpc>
              <a:spcBef>
                <a:spcPts val="400"/>
              </a:spcBef>
              <a:spcAft>
                <a:spcPts val="0"/>
              </a:spcAft>
              <a:buNone/>
            </a:pPr>
            <a:r>
              <a:rPr i="1" lang="en-US" sz="1800"/>
              <a:t>Less impact of return definition because we are comparing positive / positive and negative / negative.</a:t>
            </a:r>
            <a:br>
              <a:rPr i="1" lang="en-US" sz="1800"/>
            </a:br>
            <a:r>
              <a:rPr i="1" lang="en-US" sz="1800"/>
              <a:t>	Extreme Value Theory and Generalized Pareto Distribution territory.</a:t>
            </a:r>
            <a:endParaRPr i="1" sz="1800"/>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52" name="Google Shape;252;g3db971e7cb6_0_12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53" name="Google Shape;253;g3db971e7cb6_0_12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54" name="Google Shape;254;g3db971e7cb6_0_120"/>
          <p:cNvPicPr preferRelativeResize="0"/>
          <p:nvPr/>
        </p:nvPicPr>
        <p:blipFill>
          <a:blip r:embed="rId3">
            <a:alphaModFix/>
          </a:blip>
          <a:stretch>
            <a:fillRect/>
          </a:stretch>
        </p:blipFill>
        <p:spPr>
          <a:xfrm>
            <a:off x="1028688" y="3417550"/>
            <a:ext cx="5067300" cy="904875"/>
          </a:xfrm>
          <a:prstGeom prst="rect">
            <a:avLst/>
          </a:prstGeom>
          <a:noFill/>
          <a:ln>
            <a:noFill/>
          </a:ln>
        </p:spPr>
      </p:pic>
      <p:pic>
        <p:nvPicPr>
          <p:cNvPr id="255" name="Google Shape;255;g3db971e7cb6_0_120"/>
          <p:cNvPicPr preferRelativeResize="0"/>
          <p:nvPr/>
        </p:nvPicPr>
        <p:blipFill>
          <a:blip r:embed="rId4">
            <a:alphaModFix/>
          </a:blip>
          <a:stretch>
            <a:fillRect/>
          </a:stretch>
        </p:blipFill>
        <p:spPr>
          <a:xfrm>
            <a:off x="6096000" y="3417550"/>
            <a:ext cx="4981575" cy="9048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g3db971e7cb6_0_5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a:t>
            </a:r>
            <a:r>
              <a:rPr lang="en-US"/>
              <a:t> (sector clustering)</a:t>
            </a:r>
            <a:endParaRPr/>
          </a:p>
        </p:txBody>
      </p:sp>
      <p:sp>
        <p:nvSpPr>
          <p:cNvPr id="262" name="Google Shape;262;g3db971e7cb6_0_5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sectors, ordered</a:t>
            </a:r>
            <a:endParaRPr/>
          </a:p>
          <a:p>
            <a:pPr indent="0" lvl="0" marL="342900" rtl="0" algn="l">
              <a:lnSpc>
                <a:spcPct val="100000"/>
              </a:lnSpc>
              <a:spcBef>
                <a:spcPts val="0"/>
              </a:spcBef>
              <a:spcAft>
                <a:spcPts val="0"/>
              </a:spcAft>
              <a:buNone/>
            </a:pPr>
            <a:r>
              <a:rPr lang="en-US"/>
              <a:t>Raw count and normalized (events/nbr_stocks) count.</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63" name="Google Shape;263;g3db971e7cb6_0_5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64" name="Google Shape;264;g3db971e7cb6_0_5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65" name="Google Shape;265;g3db971e7cb6_0_53"/>
          <p:cNvPicPr preferRelativeResize="0"/>
          <p:nvPr/>
        </p:nvPicPr>
        <p:blipFill>
          <a:blip r:embed="rId3">
            <a:alphaModFix/>
          </a:blip>
          <a:stretch>
            <a:fillRect/>
          </a:stretch>
        </p:blipFill>
        <p:spPr>
          <a:xfrm>
            <a:off x="1918788" y="2550788"/>
            <a:ext cx="3048000" cy="2638425"/>
          </a:xfrm>
          <a:prstGeom prst="rect">
            <a:avLst/>
          </a:prstGeom>
          <a:noFill/>
          <a:ln>
            <a:noFill/>
          </a:ln>
        </p:spPr>
      </p:pic>
      <p:pic>
        <p:nvPicPr>
          <p:cNvPr id="266" name="Google Shape;266;g3db971e7cb6_0_53"/>
          <p:cNvPicPr preferRelativeResize="0"/>
          <p:nvPr/>
        </p:nvPicPr>
        <p:blipFill>
          <a:blip r:embed="rId4">
            <a:alphaModFix/>
          </a:blip>
          <a:stretch>
            <a:fillRect/>
          </a:stretch>
        </p:blipFill>
        <p:spPr>
          <a:xfrm>
            <a:off x="5608763" y="2569825"/>
            <a:ext cx="3495675" cy="26003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g3db971e7cb6_0_75"/>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(sector clustering)</a:t>
            </a:r>
            <a:endParaRPr/>
          </a:p>
        </p:txBody>
      </p:sp>
      <p:sp>
        <p:nvSpPr>
          <p:cNvPr id="273" name="Google Shape;273;g3db971e7cb6_0_75"/>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sectors performed best in the top 0.1%?</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74" name="Google Shape;274;g3db971e7cb6_0_75"/>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75" name="Google Shape;275;g3db971e7cb6_0_75"/>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76" name="Google Shape;276;g3db971e7cb6_0_75"/>
          <p:cNvPicPr preferRelativeResize="0"/>
          <p:nvPr/>
        </p:nvPicPr>
        <p:blipFill>
          <a:blip r:embed="rId3">
            <a:alphaModFix/>
          </a:blip>
          <a:stretch>
            <a:fillRect/>
          </a:stretch>
        </p:blipFill>
        <p:spPr>
          <a:xfrm>
            <a:off x="2506150" y="1771437"/>
            <a:ext cx="7181275" cy="41971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db971e7cb6_0_9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(sector clustering)</a:t>
            </a:r>
            <a:endParaRPr/>
          </a:p>
        </p:txBody>
      </p:sp>
      <p:sp>
        <p:nvSpPr>
          <p:cNvPr id="283" name="Google Shape;283;g3db971e7cb6_0_9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t>
            </a:r>
            <a:r>
              <a:rPr lang="en-US"/>
              <a:t>(Arithmetic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84" name="Google Shape;284;g3db971e7cb6_0_9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85" name="Google Shape;285;g3db971e7cb6_0_9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86" name="Google Shape;286;g3db971e7cb6_0_97"/>
          <p:cNvPicPr preferRelativeResize="0"/>
          <p:nvPr/>
        </p:nvPicPr>
        <p:blipFill>
          <a:blip r:embed="rId3">
            <a:alphaModFix/>
          </a:blip>
          <a:stretch>
            <a:fillRect/>
          </a:stretch>
        </p:blipFill>
        <p:spPr>
          <a:xfrm>
            <a:off x="6096000" y="2305800"/>
            <a:ext cx="6097574" cy="3018904"/>
          </a:xfrm>
          <a:prstGeom prst="rect">
            <a:avLst/>
          </a:prstGeom>
          <a:noFill/>
          <a:ln>
            <a:noFill/>
          </a:ln>
        </p:spPr>
      </p:pic>
      <p:pic>
        <p:nvPicPr>
          <p:cNvPr id="287" name="Google Shape;287;g3db971e7cb6_0_97"/>
          <p:cNvPicPr preferRelativeResize="0"/>
          <p:nvPr/>
        </p:nvPicPr>
        <p:blipFill>
          <a:blip r:embed="rId4">
            <a:alphaModFix/>
          </a:blip>
          <a:stretch>
            <a:fillRect/>
          </a:stretch>
        </p:blipFill>
        <p:spPr>
          <a:xfrm>
            <a:off x="0" y="2305805"/>
            <a:ext cx="6097574" cy="301889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g39a84e3b28a_0_1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(sector clustering)</a:t>
            </a:r>
            <a:endParaRPr/>
          </a:p>
        </p:txBody>
      </p:sp>
      <p:sp>
        <p:nvSpPr>
          <p:cNvPr id="294" name="Google Shape;294;g39a84e3b28a_0_11"/>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95" name="Google Shape;295;g39a84e3b28a_0_1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96" name="Google Shape;296;g39a84e3b28a_0_1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97" name="Google Shape;297;g39a84e3b28a_0_11"/>
          <p:cNvPicPr preferRelativeResize="0"/>
          <p:nvPr/>
        </p:nvPicPr>
        <p:blipFill>
          <a:blip r:embed="rId3">
            <a:alphaModFix/>
          </a:blip>
          <a:stretch>
            <a:fillRect/>
          </a:stretch>
        </p:blipFill>
        <p:spPr>
          <a:xfrm>
            <a:off x="1134775" y="1730950"/>
            <a:ext cx="9924024" cy="49244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g3db971e7cb6_0_132"/>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Approach-2 (sector clustering</a:t>
            </a:r>
            <a:r>
              <a:rPr lang="en-US"/>
              <a:t>,statistical testing</a:t>
            </a:r>
            <a:r>
              <a:rPr lang="en-US"/>
              <a:t>)</a:t>
            </a:r>
            <a:endParaRPr/>
          </a:p>
        </p:txBody>
      </p:sp>
      <p:sp>
        <p:nvSpPr>
          <p:cNvPr id="304" name="Google Shape;304;g3db971e7cb6_0_132"/>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Do the top 0.1% mean across sectors are statistically different within each positive extreme and negative extreme? log_return (left), arithmetic_return (right)</a:t>
            </a:r>
            <a:endParaRPr/>
          </a:p>
          <a:p>
            <a:pPr indent="457200" lvl="0" marL="0" rtl="0" algn="l">
              <a:spcBef>
                <a:spcPts val="400"/>
              </a:spcBef>
              <a:spcAft>
                <a:spcPts val="0"/>
              </a:spcAft>
              <a:buNone/>
            </a:pPr>
            <a:r>
              <a:rPr i="1" lang="en-US" sz="1800"/>
              <a:t>Less impact of return definition because we are comparing positive / positive and negative / negative.</a:t>
            </a:r>
            <a:br>
              <a:rPr i="1" lang="en-US" sz="1800"/>
            </a:br>
            <a:r>
              <a:rPr i="1" lang="en-US" sz="1800"/>
              <a:t>	Extreme Value Theory and Generalized Pareto Distribution territory.</a:t>
            </a:r>
            <a:endParaRPr i="1" sz="1800"/>
          </a:p>
          <a:p>
            <a:pPr indent="457200" lvl="0" marL="0" rtl="0" algn="l">
              <a:spcBef>
                <a:spcPts val="400"/>
              </a:spcBef>
              <a:spcAft>
                <a:spcPts val="0"/>
              </a:spcAft>
              <a:buNone/>
            </a:pPr>
            <a:r>
              <a:t/>
            </a:r>
            <a:endParaRPr i="1" sz="1800"/>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05" name="Google Shape;305;g3db971e7cb6_0_132"/>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06" name="Google Shape;306;g3db971e7cb6_0_132"/>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07" name="Google Shape;307;g3db971e7cb6_0_132"/>
          <p:cNvPicPr preferRelativeResize="0"/>
          <p:nvPr/>
        </p:nvPicPr>
        <p:blipFill>
          <a:blip r:embed="rId3">
            <a:alphaModFix/>
          </a:blip>
          <a:stretch>
            <a:fillRect/>
          </a:stretch>
        </p:blipFill>
        <p:spPr>
          <a:xfrm>
            <a:off x="6165588" y="3671563"/>
            <a:ext cx="5791200" cy="771525"/>
          </a:xfrm>
          <a:prstGeom prst="rect">
            <a:avLst/>
          </a:prstGeom>
          <a:noFill/>
          <a:ln>
            <a:noFill/>
          </a:ln>
        </p:spPr>
      </p:pic>
      <p:pic>
        <p:nvPicPr>
          <p:cNvPr id="308" name="Google Shape;308;g3db971e7cb6_0_132"/>
          <p:cNvPicPr preferRelativeResize="0"/>
          <p:nvPr/>
        </p:nvPicPr>
        <p:blipFill>
          <a:blip r:embed="rId4">
            <a:alphaModFix/>
          </a:blip>
          <a:stretch>
            <a:fillRect/>
          </a:stretch>
        </p:blipFill>
        <p:spPr>
          <a:xfrm>
            <a:off x="374388" y="3671563"/>
            <a:ext cx="5791200" cy="7715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g3db971e7cb6_0_3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 (CAPM)</a:t>
            </a:r>
            <a:endParaRPr/>
          </a:p>
        </p:txBody>
      </p:sp>
      <p:sp>
        <p:nvSpPr>
          <p:cNvPr id="315" name="Google Shape;315;g3db971e7cb6_0_3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a:t>
            </a:r>
            <a:r>
              <a:rPr lang="en-US"/>
              <a:t>oes a model built on normal assumptions break down precisely where normality breaks down?</a:t>
            </a:r>
            <a:br>
              <a:rPr lang="en-US"/>
            </a:br>
            <a:br>
              <a:rPr lang="en-US"/>
            </a:br>
            <a:r>
              <a:rPr lang="en-US"/>
              <a:t>CAPM : Ri​−Rf​=α+β(Rm​−Rf​)+ϵ</a:t>
            </a:r>
            <a:br>
              <a:rPr lang="en-US"/>
            </a:br>
            <a:br>
              <a:rPr lang="en-US"/>
            </a:br>
            <a:r>
              <a:rPr lang="en-US"/>
              <a:t>Ri​ — the return of your stock (or portfolio)</a:t>
            </a:r>
            <a:endParaRPr/>
          </a:p>
          <a:p>
            <a:pPr indent="0" lvl="0" marL="342900" rtl="0" algn="l">
              <a:spcBef>
                <a:spcPts val="0"/>
              </a:spcBef>
              <a:spcAft>
                <a:spcPts val="0"/>
              </a:spcAft>
              <a:buNone/>
            </a:pPr>
            <a:r>
              <a:rPr lang="en-US"/>
              <a:t>Rm — the return of the market (S&amp;P500 index)</a:t>
            </a:r>
            <a:endParaRPr/>
          </a:p>
          <a:p>
            <a:pPr indent="0" lvl="0" marL="342900" rtl="0" algn="l">
              <a:spcBef>
                <a:spcPts val="0"/>
              </a:spcBef>
              <a:spcAft>
                <a:spcPts val="0"/>
              </a:spcAft>
              <a:buNone/>
            </a:pPr>
            <a:r>
              <a:rPr lang="en-US"/>
              <a:t>Rf — the risk-free rate (DTB3, the 3-month T-bill)</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16" name="Google Shape;316;g3db971e7cb6_0_3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17" name="Google Shape;317;g3db971e7cb6_0_3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g39a84e3b28a_0_2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24" name="Google Shape;324;g39a84e3b28a_0_2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a:t>Build a simple OLS for CAPM on AAPL to test.</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25" name="Google Shape;325;g39a84e3b28a_0_2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26" name="Google Shape;326;g39a84e3b28a_0_2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27" name="Google Shape;327;g39a84e3b28a_0_29"/>
          <p:cNvPicPr preferRelativeResize="0"/>
          <p:nvPr/>
        </p:nvPicPr>
        <p:blipFill>
          <a:blip r:embed="rId3">
            <a:alphaModFix/>
          </a:blip>
          <a:stretch>
            <a:fillRect/>
          </a:stretch>
        </p:blipFill>
        <p:spPr>
          <a:xfrm>
            <a:off x="696925" y="1732600"/>
            <a:ext cx="7838575" cy="486329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g39a84e3b28a_0_3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34" name="Google Shape;334;g39a84e3b28a_0_38"/>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sz="1800"/>
              <a:t>Beta = 1.12 and highly significant (t = 59, p ≈ 0). AAPL moves slightly more than the market — a 1% market move corresponds to a 1.12% AAPL move on average. This makes intuitive sense for a large-cap tech stock.</a:t>
            </a:r>
            <a:endParaRPr sz="1800"/>
          </a:p>
          <a:p>
            <a:pPr indent="0" lvl="0" marL="342900" rtl="0" algn="l">
              <a:spcBef>
                <a:spcPts val="0"/>
              </a:spcBef>
              <a:spcAft>
                <a:spcPts val="0"/>
              </a:spcAft>
              <a:buNone/>
            </a:pPr>
            <a:r>
              <a:rPr lang="en-US" sz="1800"/>
              <a:t>R² = 0.47 means 47% of AAPL's daily return variance is explained by the market alone. For a single factor model on a single stock, that is respectable. The remaining 53% is idiosyncratic — company-specific news, earnings, product launches etc.</a:t>
            </a:r>
            <a:endParaRPr sz="1800"/>
          </a:p>
          <a:p>
            <a:pPr indent="0" lvl="0" marL="342900" rtl="0" algn="l">
              <a:spcBef>
                <a:spcPts val="0"/>
              </a:spcBef>
              <a:spcAft>
                <a:spcPts val="0"/>
              </a:spcAft>
              <a:buNone/>
            </a:pPr>
            <a:r>
              <a:rPr lang="en-US" sz="1800"/>
              <a:t>Alpha = 0.0005 and significant (p = 0.009). This is small but tells you AAPL generates a tiny daily excess return above what CAPM predicts — annualized that is roughly 0.0005 × 252 ≈ 12.6% annual alpha. That is actually substantial and reflects AAPL's well-documented outperformance over this period.</a:t>
            </a:r>
            <a:endParaRPr sz="1800"/>
          </a:p>
          <a:p>
            <a:pPr indent="0" lvl="0" marL="342900" rtl="0" algn="l">
              <a:spcBef>
                <a:spcPts val="0"/>
              </a:spcBef>
              <a:spcAft>
                <a:spcPts val="0"/>
              </a:spcAft>
              <a:buNone/>
            </a:pPr>
            <a:r>
              <a:rPr lang="en-US" sz="1800"/>
              <a:t>The Warning Signs — And This Is Key For Your Project</a:t>
            </a:r>
            <a:endParaRPr sz="1800"/>
          </a:p>
          <a:p>
            <a:pPr indent="0" lvl="0" marL="342900" rtl="0" algn="l">
              <a:spcBef>
                <a:spcPts val="0"/>
              </a:spcBef>
              <a:spcAft>
                <a:spcPts val="0"/>
              </a:spcAft>
              <a:buNone/>
            </a:pPr>
            <a:r>
              <a:rPr lang="en-US" sz="1800"/>
              <a:t>Look at the bottom of the output. This is where it gets really interesting:</a:t>
            </a:r>
            <a:endParaRPr sz="1800"/>
          </a:p>
          <a:p>
            <a:pPr indent="0" lvl="0" marL="342900" rtl="0" algn="l">
              <a:spcBef>
                <a:spcPts val="0"/>
              </a:spcBef>
              <a:spcAft>
                <a:spcPts val="0"/>
              </a:spcAft>
              <a:buNone/>
            </a:pPr>
            <a:r>
              <a:rPr lang="en-US" sz="1800"/>
              <a:t>Jarque-Bera = 7574, p ≈ 0 — the residuals are overwhelmingly non-normal. CAPM assumes normally distributed residuals and this is rejected with extreme force.</a:t>
            </a:r>
            <a:endParaRPr sz="1800"/>
          </a:p>
          <a:p>
            <a:pPr indent="0" lvl="0" marL="342900" rtl="0" algn="l">
              <a:spcBef>
                <a:spcPts val="0"/>
              </a:spcBef>
              <a:spcAft>
                <a:spcPts val="0"/>
              </a:spcAft>
              <a:buNone/>
            </a:pPr>
            <a:r>
              <a:rPr lang="en-US" sz="1800"/>
              <a:t>Kurtosis = 9.79 — the residuals have fat tails. A normal distribution has kurtosis of 3. You are at nearly 10. </a:t>
            </a:r>
            <a:endParaRPr sz="1800"/>
          </a:p>
          <a:p>
            <a:pPr indent="0" lvl="0" marL="342900" rtl="0" algn="l">
              <a:spcBef>
                <a:spcPts val="0"/>
              </a:spcBef>
              <a:spcAft>
                <a:spcPts val="0"/>
              </a:spcAft>
              <a:buNone/>
            </a:pPr>
            <a:r>
              <a:rPr lang="en-US" sz="1800"/>
              <a:t>This means CAPM is not just leaving 53% of variance unexplained — it is leaving the extreme part of that variance unexplained in a structured, non-random way. Which is exactly what your tail regression will demonstrate next.</a:t>
            </a:r>
            <a:endParaRPr sz="1800"/>
          </a:p>
          <a:p>
            <a:pPr indent="0" lvl="0" marL="342900" rtl="0" algn="l">
              <a:lnSpc>
                <a:spcPct val="100000"/>
              </a:lnSpc>
              <a:spcBef>
                <a:spcPts val="0"/>
              </a:spcBef>
              <a:spcAft>
                <a:spcPts val="0"/>
              </a:spcAft>
              <a:buNone/>
            </a:pPr>
            <a:r>
              <a:t/>
            </a:r>
            <a:endParaRPr sz="1800"/>
          </a:p>
          <a:p>
            <a:pPr indent="-190500" lvl="0" marL="342900" rtl="0" algn="l">
              <a:lnSpc>
                <a:spcPct val="100000"/>
              </a:lnSpc>
              <a:spcBef>
                <a:spcPts val="480"/>
              </a:spcBef>
              <a:spcAft>
                <a:spcPts val="0"/>
              </a:spcAft>
              <a:buClr>
                <a:schemeClr val="dk1"/>
              </a:buClr>
              <a:buSzPts val="2400"/>
              <a:buFont typeface="Arial"/>
              <a:buNone/>
            </a:pPr>
            <a:r>
              <a:t/>
            </a:r>
            <a:endParaRPr sz="1800"/>
          </a:p>
        </p:txBody>
      </p:sp>
      <p:sp>
        <p:nvSpPr>
          <p:cNvPr id="335" name="Google Shape;335;g39a84e3b28a_0_3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36" name="Google Shape;336;g39a84e3b28a_0_3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g39a84e3b28a_0_4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43" name="Google Shape;343;g39a84e3b28a_0_4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44" name="Google Shape;344;g39a84e3b28a_0_4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45" name="Google Shape;345;g39a84e3b28a_0_48"/>
          <p:cNvPicPr preferRelativeResize="0"/>
          <p:nvPr/>
        </p:nvPicPr>
        <p:blipFill>
          <a:blip r:embed="rId3">
            <a:alphaModFix/>
          </a:blip>
          <a:stretch>
            <a:fillRect/>
          </a:stretch>
        </p:blipFill>
        <p:spPr>
          <a:xfrm>
            <a:off x="366275" y="969457"/>
            <a:ext cx="11325225" cy="561975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g39a84e3b28a_0_5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52" name="Google Shape;352;g39a84e3b28a_0_5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a:t>Do the CAPM regression on each individual stock for the whole set and summarize.</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53" name="Google Shape;353;g39a84e3b28a_0_5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54" name="Google Shape;354;g39a84e3b28a_0_5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55" name="Google Shape;355;g39a84e3b28a_0_57"/>
          <p:cNvPicPr preferRelativeResize="0"/>
          <p:nvPr/>
        </p:nvPicPr>
        <p:blipFill>
          <a:blip r:embed="rId3">
            <a:alphaModFix/>
          </a:blip>
          <a:stretch>
            <a:fillRect/>
          </a:stretch>
        </p:blipFill>
        <p:spPr>
          <a:xfrm>
            <a:off x="3248800" y="4970463"/>
            <a:ext cx="5695950" cy="981075"/>
          </a:xfrm>
          <a:prstGeom prst="rect">
            <a:avLst/>
          </a:prstGeom>
          <a:noFill/>
          <a:ln>
            <a:noFill/>
          </a:ln>
        </p:spPr>
      </p:pic>
      <p:pic>
        <p:nvPicPr>
          <p:cNvPr id="356" name="Google Shape;356;g39a84e3b28a_0_57"/>
          <p:cNvPicPr preferRelativeResize="0"/>
          <p:nvPr/>
        </p:nvPicPr>
        <p:blipFill>
          <a:blip r:embed="rId4">
            <a:alphaModFix/>
          </a:blip>
          <a:stretch>
            <a:fillRect/>
          </a:stretch>
        </p:blipFill>
        <p:spPr>
          <a:xfrm>
            <a:off x="3239988" y="2687900"/>
            <a:ext cx="5695950" cy="17335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g39a84e3b28a_0_6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63" name="Google Shape;363;g39a84e3b28a_0_68"/>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sz="1800"/>
              <a:t>Beta Median beta = 0.98, almost exactly 1.0. This is completely expected — you are working with S&amp;P500 constituents, which by construction are the market. The std of 0.28 shows meaningful dispersion though — some stocks are much more sensitive than others (max 1.69, min 0.36).</a:t>
            </a:r>
            <a:endParaRPr sz="1800"/>
          </a:p>
          <a:p>
            <a:pPr indent="0" lvl="0" marL="342900" rtl="0" algn="l">
              <a:spcBef>
                <a:spcPts val="0"/>
              </a:spcBef>
              <a:spcAft>
                <a:spcPts val="0"/>
              </a:spcAft>
              <a:buNone/>
            </a:pPr>
            <a:r>
              <a:rPr lang="en-US" sz="1800"/>
              <a:t>R² </a:t>
            </a:r>
            <a:endParaRPr sz="1800"/>
          </a:p>
          <a:p>
            <a:pPr indent="0" lvl="0" marL="342900" rtl="0" algn="l">
              <a:spcBef>
                <a:spcPts val="0"/>
              </a:spcBef>
              <a:spcAft>
                <a:spcPts val="0"/>
              </a:spcAft>
              <a:buNone/>
            </a:pPr>
            <a:r>
              <a:rPr lang="en-US" sz="1800"/>
              <a:t>Median R² = 0.337 means the market factor explains about 34% of individual stock return variance on average. This is actually the canonical result in the literature — CAPM captures the systematic component reasonably well but leaves the majority of variance unexplained. AAPL at 0.47 is actually above average, reflecting how closely mega-caps track the index.</a:t>
            </a:r>
            <a:endParaRPr sz="1800"/>
          </a:p>
          <a:p>
            <a:pPr indent="0" lvl="0" marL="342900" rtl="0" algn="l">
              <a:spcBef>
                <a:spcPts val="0"/>
              </a:spcBef>
              <a:spcAft>
                <a:spcPts val="0"/>
              </a:spcAft>
              <a:buNone/>
            </a:pPr>
            <a:r>
              <a:rPr lang="en-US" sz="1800"/>
              <a:t>Alpha </a:t>
            </a:r>
            <a:endParaRPr sz="1800"/>
          </a:p>
          <a:p>
            <a:pPr indent="0" lvl="0" marL="342900" rtl="0" algn="l">
              <a:spcBef>
                <a:spcPts val="0"/>
              </a:spcBef>
              <a:spcAft>
                <a:spcPts val="0"/>
              </a:spcAft>
              <a:buNone/>
            </a:pPr>
            <a:r>
              <a:rPr lang="en-US" sz="1800"/>
              <a:t>Only 9.2% of stocks show significant alpha at the 5% level. Under CAPM, alpha should be zero for all stocks, so in a pure sense this looks like CAPM is doing its job — 90.8% of stocks have no statistically detectable excess return. However there are two nuances worth noting:</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rPr lang="en-US" sz="1800"/>
              <a:t>The mean alpha = 0.0002 per day, which annualizes to roughly 0.0002 × 252 ≈ 5%. Small individually but economically meaningful</a:t>
            </a:r>
            <a:endParaRPr sz="1800"/>
          </a:p>
          <a:p>
            <a:pPr indent="0" lvl="0" marL="342900" rtl="0" algn="l">
              <a:spcBef>
                <a:spcPts val="0"/>
              </a:spcBef>
              <a:spcAft>
                <a:spcPts val="0"/>
              </a:spcAft>
              <a:buNone/>
            </a:pPr>
            <a:r>
              <a:rPr lang="en-US" sz="1800"/>
              <a:t>9.2% is still almost double what you'd expect by chance at the 5% significance level — if CAPM were perfectly true, you'd expect exactly 5% false positives by definition</a:t>
            </a:r>
            <a:endParaRPr sz="1800"/>
          </a:p>
          <a:p>
            <a:pPr indent="0" lvl="0" marL="342900" rtl="0" algn="l">
              <a:lnSpc>
                <a:spcPct val="100000"/>
              </a:lnSpc>
              <a:spcBef>
                <a:spcPts val="0"/>
              </a:spcBef>
              <a:spcAft>
                <a:spcPts val="0"/>
              </a:spcAft>
              <a:buNone/>
            </a:pPr>
            <a:r>
              <a:t/>
            </a:r>
            <a:endParaRPr sz="1800"/>
          </a:p>
          <a:p>
            <a:pPr indent="-190500" lvl="0" marL="342900" rtl="0" algn="l">
              <a:lnSpc>
                <a:spcPct val="100000"/>
              </a:lnSpc>
              <a:spcBef>
                <a:spcPts val="480"/>
              </a:spcBef>
              <a:spcAft>
                <a:spcPts val="0"/>
              </a:spcAft>
              <a:buClr>
                <a:schemeClr val="dk1"/>
              </a:buClr>
              <a:buSzPts val="2400"/>
              <a:buFont typeface="Arial"/>
              <a:buNone/>
            </a:pPr>
            <a:r>
              <a:t/>
            </a:r>
            <a:endParaRPr sz="1800"/>
          </a:p>
        </p:txBody>
      </p:sp>
      <p:sp>
        <p:nvSpPr>
          <p:cNvPr id="364" name="Google Shape;364;g39a84e3b28a_0_6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65" name="Google Shape;365;g39a84e3b28a_0_6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g39a84e3b28a_0_7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Approach-3(CAPM)</a:t>
            </a:r>
            <a:endParaRPr/>
          </a:p>
        </p:txBody>
      </p:sp>
      <p:sp>
        <p:nvSpPr>
          <p:cNvPr id="372" name="Google Shape;372;g39a84e3b28a_0_7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73" name="Google Shape;373;g39a84e3b28a_0_7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74" name="Google Shape;374;g39a84e3b28a_0_78"/>
          <p:cNvPicPr preferRelativeResize="0"/>
          <p:nvPr/>
        </p:nvPicPr>
        <p:blipFill>
          <a:blip r:embed="rId3">
            <a:alphaModFix/>
          </a:blip>
          <a:stretch>
            <a:fillRect/>
          </a:stretch>
        </p:blipFill>
        <p:spPr>
          <a:xfrm>
            <a:off x="152400" y="1851782"/>
            <a:ext cx="11888776" cy="3850767"/>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g3db971e7cb6_0_24"/>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t/>
            </a:r>
            <a:endParaRPr/>
          </a:p>
        </p:txBody>
      </p:sp>
      <p:sp>
        <p:nvSpPr>
          <p:cNvPr id="381" name="Google Shape;381;g3db971e7cb6_0_24"/>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sz="2400"/>
              <a:t>Point 1</a:t>
            </a:r>
            <a:endParaRPr/>
          </a:p>
          <a:p>
            <a:pPr indent="-214313" lvl="1" marL="557213" rtl="0" algn="l">
              <a:lnSpc>
                <a:spcPct val="100000"/>
              </a:lnSpc>
              <a:spcBef>
                <a:spcPts val="400"/>
              </a:spcBef>
              <a:spcAft>
                <a:spcPts val="0"/>
              </a:spcAft>
              <a:buClr>
                <a:schemeClr val="dk1"/>
              </a:buClr>
              <a:buSzPts val="2000"/>
              <a:buChar char="–"/>
            </a:pPr>
            <a:r>
              <a:rPr lang="en-US"/>
              <a:t>Sub-point 1</a:t>
            </a:r>
            <a:endParaRPr/>
          </a:p>
          <a:p>
            <a:pPr indent="-214313" lvl="1" marL="557213" rtl="0" algn="l">
              <a:lnSpc>
                <a:spcPct val="100000"/>
              </a:lnSpc>
              <a:spcBef>
                <a:spcPts val="400"/>
              </a:spcBef>
              <a:spcAft>
                <a:spcPts val="0"/>
              </a:spcAft>
              <a:buClr>
                <a:schemeClr val="dk1"/>
              </a:buClr>
              <a:buSzPts val="2000"/>
              <a:buChar char="–"/>
            </a:pPr>
            <a:r>
              <a:rPr lang="en-US"/>
              <a:t>Sub-point 2</a:t>
            </a:r>
            <a:endParaRPr/>
          </a:p>
          <a:p>
            <a:pPr indent="-214313" lvl="1" marL="557213" rtl="0" algn="l">
              <a:lnSpc>
                <a:spcPct val="100000"/>
              </a:lnSpc>
              <a:spcBef>
                <a:spcPts val="400"/>
              </a:spcBef>
              <a:spcAft>
                <a:spcPts val="0"/>
              </a:spcAft>
              <a:buClr>
                <a:schemeClr val="dk1"/>
              </a:buClr>
              <a:buSzPts val="2000"/>
              <a:buChar char="–"/>
            </a:pPr>
            <a:r>
              <a:rPr lang="en-US"/>
              <a:t>Sub-point 3</a:t>
            </a:r>
            <a:endParaRPr/>
          </a:p>
          <a:p>
            <a:pPr indent="-87313" lvl="1" marL="557213" rtl="0" algn="l">
              <a:lnSpc>
                <a:spcPct val="100000"/>
              </a:lnSpc>
              <a:spcBef>
                <a:spcPts val="400"/>
              </a:spcBef>
              <a:spcAft>
                <a:spcPts val="0"/>
              </a:spcAft>
              <a:buClr>
                <a:schemeClr val="dk1"/>
              </a:buClr>
              <a:buSzPts val="2000"/>
              <a:buNone/>
            </a:pPr>
            <a:r>
              <a:t/>
            </a:r>
            <a:endParaRPr/>
          </a:p>
          <a:p>
            <a:pPr indent="-342900" lvl="0" marL="342900" rtl="0" algn="l">
              <a:lnSpc>
                <a:spcPct val="100000"/>
              </a:lnSpc>
              <a:spcBef>
                <a:spcPts val="480"/>
              </a:spcBef>
              <a:spcAft>
                <a:spcPts val="0"/>
              </a:spcAft>
              <a:buClr>
                <a:schemeClr val="dk1"/>
              </a:buClr>
              <a:buSzPts val="2400"/>
              <a:buFont typeface="Arial"/>
              <a:buChar char="•"/>
            </a:pPr>
            <a:r>
              <a:rPr lang="en-US" sz="2400"/>
              <a:t>Point 2</a:t>
            </a:r>
            <a:endParaRPr/>
          </a:p>
          <a:p>
            <a:pPr indent="-214313" lvl="1" marL="557213" rtl="0" algn="l">
              <a:lnSpc>
                <a:spcPct val="100000"/>
              </a:lnSpc>
              <a:spcBef>
                <a:spcPts val="400"/>
              </a:spcBef>
              <a:spcAft>
                <a:spcPts val="0"/>
              </a:spcAft>
              <a:buClr>
                <a:schemeClr val="dk1"/>
              </a:buClr>
              <a:buSzPts val="2000"/>
              <a:buChar char="–"/>
            </a:pPr>
            <a:r>
              <a:rPr lang="en-US"/>
              <a:t>Sub-point 1</a:t>
            </a:r>
            <a:endParaRPr/>
          </a:p>
          <a:p>
            <a:pPr indent="-214313" lvl="1" marL="557213" rtl="0" algn="l">
              <a:lnSpc>
                <a:spcPct val="100000"/>
              </a:lnSpc>
              <a:spcBef>
                <a:spcPts val="400"/>
              </a:spcBef>
              <a:spcAft>
                <a:spcPts val="0"/>
              </a:spcAft>
              <a:buClr>
                <a:schemeClr val="dk1"/>
              </a:buClr>
              <a:buSzPts val="2000"/>
              <a:buChar char="–"/>
            </a:pPr>
            <a:r>
              <a:rPr lang="en-US"/>
              <a:t>Sub-point 2</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82" name="Google Shape;382;g3db971e7cb6_0_24"/>
          <p:cNvSpPr/>
          <p:nvPr/>
        </p:nvSpPr>
        <p:spPr>
          <a:xfrm>
            <a:off x="552178" y="4697102"/>
            <a:ext cx="2520300" cy="1728300"/>
          </a:xfrm>
          <a:prstGeom prst="rect">
            <a:avLst/>
          </a:prstGeom>
          <a:solidFill>
            <a:srgbClr val="FFFED9">
              <a:alpha val="90200"/>
            </a:srgbClr>
          </a:solidFill>
          <a:ln cap="flat" cmpd="sng" w="19050">
            <a:solidFill>
              <a:srgbClr val="0C0C0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1867">
                <a:solidFill>
                  <a:schemeClr val="dk1"/>
                </a:solidFill>
                <a:latin typeface="Arial"/>
                <a:ea typeface="Arial"/>
                <a:cs typeface="Arial"/>
                <a:sym typeface="Arial"/>
              </a:rPr>
              <a:t>Example:</a:t>
            </a:r>
            <a:endParaRPr/>
          </a:p>
          <a:p>
            <a:pPr indent="0" lvl="0" marL="0" marR="0" rtl="0" algn="ctr">
              <a:spcBef>
                <a:spcPts val="0"/>
              </a:spcBef>
              <a:spcAft>
                <a:spcPts val="0"/>
              </a:spcAft>
              <a:buNone/>
            </a:pPr>
            <a:r>
              <a:rPr lang="en-US" sz="1867">
                <a:solidFill>
                  <a:schemeClr val="dk1"/>
                </a:solidFill>
                <a:latin typeface="Arial"/>
                <a:ea typeface="Arial"/>
                <a:cs typeface="Arial"/>
                <a:sym typeface="Arial"/>
              </a:rPr>
              <a:t>Text</a:t>
            </a:r>
            <a:endParaRPr/>
          </a:p>
        </p:txBody>
      </p:sp>
      <p:sp>
        <p:nvSpPr>
          <p:cNvPr id="383" name="Google Shape;383;g3db971e7cb6_0_24"/>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84" name="Google Shape;384;g3db971e7cb6_0_24"/>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g3db971e7cb6_0_15"/>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t/>
            </a:r>
            <a:endParaRPr/>
          </a:p>
        </p:txBody>
      </p:sp>
      <p:sp>
        <p:nvSpPr>
          <p:cNvPr id="391" name="Google Shape;391;g3db971e7cb6_0_15"/>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sz="2400"/>
              <a:t>Point 1</a:t>
            </a:r>
            <a:endParaRPr/>
          </a:p>
          <a:p>
            <a:pPr indent="-214313" lvl="1" marL="557213" rtl="0" algn="l">
              <a:lnSpc>
                <a:spcPct val="100000"/>
              </a:lnSpc>
              <a:spcBef>
                <a:spcPts val="400"/>
              </a:spcBef>
              <a:spcAft>
                <a:spcPts val="0"/>
              </a:spcAft>
              <a:buClr>
                <a:schemeClr val="dk1"/>
              </a:buClr>
              <a:buSzPts val="2000"/>
              <a:buChar char="–"/>
            </a:pPr>
            <a:r>
              <a:rPr lang="en-US"/>
              <a:t>Sub-point 1</a:t>
            </a:r>
            <a:endParaRPr/>
          </a:p>
          <a:p>
            <a:pPr indent="-214313" lvl="1" marL="557213" rtl="0" algn="l">
              <a:lnSpc>
                <a:spcPct val="100000"/>
              </a:lnSpc>
              <a:spcBef>
                <a:spcPts val="400"/>
              </a:spcBef>
              <a:spcAft>
                <a:spcPts val="0"/>
              </a:spcAft>
              <a:buClr>
                <a:schemeClr val="dk1"/>
              </a:buClr>
              <a:buSzPts val="2000"/>
              <a:buChar char="–"/>
            </a:pPr>
            <a:r>
              <a:rPr lang="en-US"/>
              <a:t>Sub-point 2</a:t>
            </a:r>
            <a:endParaRPr/>
          </a:p>
          <a:p>
            <a:pPr indent="-214313" lvl="1" marL="557213" rtl="0" algn="l">
              <a:lnSpc>
                <a:spcPct val="100000"/>
              </a:lnSpc>
              <a:spcBef>
                <a:spcPts val="400"/>
              </a:spcBef>
              <a:spcAft>
                <a:spcPts val="0"/>
              </a:spcAft>
              <a:buClr>
                <a:schemeClr val="dk1"/>
              </a:buClr>
              <a:buSzPts val="2000"/>
              <a:buChar char="–"/>
            </a:pPr>
            <a:r>
              <a:rPr lang="en-US"/>
              <a:t>Sub-point 3</a:t>
            </a:r>
            <a:endParaRPr/>
          </a:p>
          <a:p>
            <a:pPr indent="-87313" lvl="1" marL="557213" rtl="0" algn="l">
              <a:lnSpc>
                <a:spcPct val="100000"/>
              </a:lnSpc>
              <a:spcBef>
                <a:spcPts val="400"/>
              </a:spcBef>
              <a:spcAft>
                <a:spcPts val="0"/>
              </a:spcAft>
              <a:buClr>
                <a:schemeClr val="dk1"/>
              </a:buClr>
              <a:buSzPts val="2000"/>
              <a:buNone/>
            </a:pPr>
            <a:r>
              <a:t/>
            </a:r>
            <a:endParaRPr/>
          </a:p>
          <a:p>
            <a:pPr indent="-342900" lvl="0" marL="342900" rtl="0" algn="l">
              <a:lnSpc>
                <a:spcPct val="100000"/>
              </a:lnSpc>
              <a:spcBef>
                <a:spcPts val="480"/>
              </a:spcBef>
              <a:spcAft>
                <a:spcPts val="0"/>
              </a:spcAft>
              <a:buClr>
                <a:schemeClr val="dk1"/>
              </a:buClr>
              <a:buSzPts val="2400"/>
              <a:buFont typeface="Arial"/>
              <a:buChar char="•"/>
            </a:pPr>
            <a:r>
              <a:rPr lang="en-US" sz="2400"/>
              <a:t>Point 2</a:t>
            </a:r>
            <a:endParaRPr/>
          </a:p>
          <a:p>
            <a:pPr indent="-214313" lvl="1" marL="557213" rtl="0" algn="l">
              <a:lnSpc>
                <a:spcPct val="100000"/>
              </a:lnSpc>
              <a:spcBef>
                <a:spcPts val="400"/>
              </a:spcBef>
              <a:spcAft>
                <a:spcPts val="0"/>
              </a:spcAft>
              <a:buClr>
                <a:schemeClr val="dk1"/>
              </a:buClr>
              <a:buSzPts val="2000"/>
              <a:buChar char="–"/>
            </a:pPr>
            <a:r>
              <a:rPr lang="en-US"/>
              <a:t>Sub-point 1</a:t>
            </a:r>
            <a:endParaRPr/>
          </a:p>
          <a:p>
            <a:pPr indent="-214313" lvl="1" marL="557213" rtl="0" algn="l">
              <a:lnSpc>
                <a:spcPct val="100000"/>
              </a:lnSpc>
              <a:spcBef>
                <a:spcPts val="400"/>
              </a:spcBef>
              <a:spcAft>
                <a:spcPts val="0"/>
              </a:spcAft>
              <a:buClr>
                <a:schemeClr val="dk1"/>
              </a:buClr>
              <a:buSzPts val="2000"/>
              <a:buChar char="–"/>
            </a:pPr>
            <a:r>
              <a:rPr lang="en-US"/>
              <a:t>Sub-point 2</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92" name="Google Shape;392;g3db971e7cb6_0_15"/>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93" name="Google Shape;393;g3db971e7cb6_0_15"/>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4"/>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400" name="Google Shape;400;p4"/>
          <p:cNvPicPr preferRelativeResize="0"/>
          <p:nvPr/>
        </p:nvPicPr>
        <p:blipFill rotWithShape="1">
          <a:blip r:embed="rId3">
            <a:alphaModFix/>
          </a:blip>
          <a:srcRect b="28637" l="0" r="0" t="12018"/>
          <a:stretch/>
        </p:blipFill>
        <p:spPr>
          <a:xfrm>
            <a:off x="794" y="825910"/>
            <a:ext cx="12192000" cy="4739148"/>
          </a:xfrm>
          <a:prstGeom prst="rect">
            <a:avLst/>
          </a:prstGeom>
          <a:noFill/>
          <a:ln>
            <a:noFill/>
          </a:ln>
        </p:spPr>
      </p:pic>
      <p:sp>
        <p:nvSpPr>
          <p:cNvPr id="401" name="Google Shape;401;p4"/>
          <p:cNvSpPr txBox="1"/>
          <p:nvPr>
            <p:ph type="title"/>
          </p:nvPr>
        </p:nvSpPr>
        <p:spPr>
          <a:xfrm>
            <a:off x="696913" y="5841328"/>
            <a:ext cx="8233200" cy="540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4200"/>
              <a:buFont typeface="Titillium Web"/>
              <a:buNone/>
            </a:pPr>
            <a:r>
              <a:rPr lang="en-US" sz="4200"/>
              <a:t>Questions?</a:t>
            </a:r>
            <a:endParaRPr/>
          </a:p>
        </p:txBody>
      </p:sp>
      <p:cxnSp>
        <p:nvCxnSpPr>
          <p:cNvPr id="402" name="Google Shape;402;p4"/>
          <p:cNvCxnSpPr/>
          <p:nvPr/>
        </p:nvCxnSpPr>
        <p:spPr>
          <a:xfrm>
            <a:off x="-1" y="5580000"/>
            <a:ext cx="12186000" cy="0"/>
          </a:xfrm>
          <a:prstGeom prst="straightConnector1">
            <a:avLst/>
          </a:prstGeom>
          <a:noFill/>
          <a:ln cap="flat" cmpd="sng" w="19050">
            <a:solidFill>
              <a:srgbClr val="0C0C0C"/>
            </a:solidFill>
            <a:prstDash val="solid"/>
            <a:round/>
            <a:headEnd len="sm" w="sm" type="none"/>
            <a:tailEnd len="sm" w="sm" type="none"/>
          </a:ln>
        </p:spPr>
      </p:cxnSp>
      <p:sp>
        <p:nvSpPr>
          <p:cNvPr id="403" name="Google Shape;403;p4"/>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404" name="Google Shape;404;p4"/>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CFDS - Master">
  <a:themeElements>
    <a:clrScheme name="UNISG Grün">
      <a:dk1>
        <a:srgbClr val="000000"/>
      </a:dk1>
      <a:lt1>
        <a:srgbClr val="FFFFFF"/>
      </a:lt1>
      <a:dk2>
        <a:srgbClr val="115C2E"/>
      </a:dk2>
      <a:lt2>
        <a:srgbClr val="CCCCCC"/>
      </a:lt2>
      <a:accent1>
        <a:srgbClr val="115C2E"/>
      </a:accent1>
      <a:accent2>
        <a:srgbClr val="249662"/>
      </a:accent2>
      <a:accent3>
        <a:srgbClr val="54A47C"/>
      </a:accent3>
      <a:accent4>
        <a:srgbClr val="8FBFA9"/>
      </a:accent4>
      <a:accent5>
        <a:srgbClr val="ED904B"/>
      </a:accent5>
      <a:accent6>
        <a:srgbClr val="FAB73E"/>
      </a:accent6>
      <a:hlink>
        <a:srgbClr val="115C2E"/>
      </a:hlink>
      <a:folHlink>
        <a:srgbClr val="54A47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2016-04-12T09:28:03Z</dcterms:created>
  <dc:creator>Prof. Dr. Damian Borth</dc:creator>
</cp:coreProperties>
</file>