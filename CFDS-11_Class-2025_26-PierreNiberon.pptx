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Lst>
  <p:sldSz cy="6858000" cx="12193575"/>
  <p:notesSz cx="6858000" cy="9144000"/>
  <p:embeddedFontLst>
    <p:embeddedFont>
      <p:font typeface="Titillium Web"/>
      <p:regular r:id="rId58"/>
      <p:bold r:id="rId59"/>
      <p:italic r:id="rId60"/>
      <p:boldItalic r:id="rId6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62" roundtripDataSignature="AMtx7miiuyH4MOEroufPejrbN5ZWSfGWT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6.xml"/><Relationship Id="rId42" Type="http://schemas.openxmlformats.org/officeDocument/2006/relationships/slide" Target="slides/slide38.xml"/><Relationship Id="rId41" Type="http://schemas.openxmlformats.org/officeDocument/2006/relationships/slide" Target="slides/slide37.xml"/><Relationship Id="rId44" Type="http://schemas.openxmlformats.org/officeDocument/2006/relationships/slide" Target="slides/slide40.xml"/><Relationship Id="rId43" Type="http://schemas.openxmlformats.org/officeDocument/2006/relationships/slide" Target="slides/slide39.xml"/><Relationship Id="rId46" Type="http://schemas.openxmlformats.org/officeDocument/2006/relationships/slide" Target="slides/slide42.xml"/><Relationship Id="rId45" Type="http://schemas.openxmlformats.org/officeDocument/2006/relationships/slide" Target="slides/slide41.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48" Type="http://schemas.openxmlformats.org/officeDocument/2006/relationships/slide" Target="slides/slide44.xml"/><Relationship Id="rId47" Type="http://schemas.openxmlformats.org/officeDocument/2006/relationships/slide" Target="slides/slide43.xml"/><Relationship Id="rId49" Type="http://schemas.openxmlformats.org/officeDocument/2006/relationships/slide" Target="slides/slide4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33" Type="http://schemas.openxmlformats.org/officeDocument/2006/relationships/slide" Target="slides/slide29.xml"/><Relationship Id="rId32" Type="http://schemas.openxmlformats.org/officeDocument/2006/relationships/slide" Target="slides/slide28.xml"/><Relationship Id="rId35" Type="http://schemas.openxmlformats.org/officeDocument/2006/relationships/slide" Target="slides/slide31.xml"/><Relationship Id="rId34" Type="http://schemas.openxmlformats.org/officeDocument/2006/relationships/slide" Target="slides/slide30.xml"/><Relationship Id="rId37" Type="http://schemas.openxmlformats.org/officeDocument/2006/relationships/slide" Target="slides/slide33.xml"/><Relationship Id="rId36" Type="http://schemas.openxmlformats.org/officeDocument/2006/relationships/slide" Target="slides/slide32.xml"/><Relationship Id="rId39" Type="http://schemas.openxmlformats.org/officeDocument/2006/relationships/slide" Target="slides/slide35.xml"/><Relationship Id="rId38" Type="http://schemas.openxmlformats.org/officeDocument/2006/relationships/slide" Target="slides/slide34.xml"/><Relationship Id="rId62" Type="http://customschemas.google.com/relationships/presentationmetadata" Target="metadata"/><Relationship Id="rId61" Type="http://schemas.openxmlformats.org/officeDocument/2006/relationships/font" Target="fonts/TitilliumWeb-boldItalic.fntdata"/><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60" Type="http://schemas.openxmlformats.org/officeDocument/2006/relationships/font" Target="fonts/TitilliumWeb-italic.fntdata"/><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29" Type="http://schemas.openxmlformats.org/officeDocument/2006/relationships/slide" Target="slides/slide25.xml"/><Relationship Id="rId51" Type="http://schemas.openxmlformats.org/officeDocument/2006/relationships/slide" Target="slides/slide47.xml"/><Relationship Id="rId50" Type="http://schemas.openxmlformats.org/officeDocument/2006/relationships/slide" Target="slides/slide46.xml"/><Relationship Id="rId53" Type="http://schemas.openxmlformats.org/officeDocument/2006/relationships/slide" Target="slides/slide49.xml"/><Relationship Id="rId52" Type="http://schemas.openxmlformats.org/officeDocument/2006/relationships/slide" Target="slides/slide48.xml"/><Relationship Id="rId11" Type="http://schemas.openxmlformats.org/officeDocument/2006/relationships/slide" Target="slides/slide7.xml"/><Relationship Id="rId55" Type="http://schemas.openxmlformats.org/officeDocument/2006/relationships/slide" Target="slides/slide51.xml"/><Relationship Id="rId10" Type="http://schemas.openxmlformats.org/officeDocument/2006/relationships/slide" Target="slides/slide6.xml"/><Relationship Id="rId54" Type="http://schemas.openxmlformats.org/officeDocument/2006/relationships/slide" Target="slides/slide50.xml"/><Relationship Id="rId13" Type="http://schemas.openxmlformats.org/officeDocument/2006/relationships/slide" Target="slides/slide9.xml"/><Relationship Id="rId57" Type="http://schemas.openxmlformats.org/officeDocument/2006/relationships/slide" Target="slides/slide53.xml"/><Relationship Id="rId12" Type="http://schemas.openxmlformats.org/officeDocument/2006/relationships/slide" Target="slides/slide8.xml"/><Relationship Id="rId56" Type="http://schemas.openxmlformats.org/officeDocument/2006/relationships/slide" Target="slides/slide52.xml"/><Relationship Id="rId15" Type="http://schemas.openxmlformats.org/officeDocument/2006/relationships/slide" Target="slides/slide11.xml"/><Relationship Id="rId59" Type="http://schemas.openxmlformats.org/officeDocument/2006/relationships/font" Target="fonts/TitilliumWeb-bold.fntdata"/><Relationship Id="rId14" Type="http://schemas.openxmlformats.org/officeDocument/2006/relationships/slide" Target="slides/slide10.xml"/><Relationship Id="rId58" Type="http://schemas.openxmlformats.org/officeDocument/2006/relationships/font" Target="fonts/TitilliumWeb-regular.fntdata"/><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67"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to my presentation on the tail distribution of stock returns. We have about 50 slides to cover in 15 minutes. </a:t>
            </a:r>
            <a:endParaRPr/>
          </a:p>
          <a:p>
            <a:pPr indent="0" lvl="0" marL="0" rtl="0" algn="l">
              <a:spcBef>
                <a:spcPts val="0"/>
              </a:spcBef>
              <a:spcAft>
                <a:spcPts val="0"/>
              </a:spcAft>
              <a:buNone/>
            </a:pPr>
            <a:r>
              <a:rPr lang="en-US"/>
              <a:t>Some are just for visualization purpose and I’ll go swiftly through them. </a:t>
            </a:r>
            <a:endParaRPr/>
          </a:p>
          <a:p>
            <a:pPr indent="0" lvl="0" marL="0" rtl="0" algn="l">
              <a:spcBef>
                <a:spcPts val="0"/>
              </a:spcBef>
              <a:spcAft>
                <a:spcPts val="0"/>
              </a:spcAft>
              <a:buNone/>
            </a:pPr>
            <a:r>
              <a:rPr lang="en-US"/>
              <a:t>The complete presentation is on my GitHub as well as the code.</a:t>
            </a:r>
            <a:endParaRPr/>
          </a:p>
        </p:txBody>
      </p:sp>
      <p:sp>
        <p:nvSpPr>
          <p:cNvPr id="54" name="Google Shape;5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 name="Google Shape;6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 name="Google Shape;6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 name="Google Shape;70;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choose to study fat tails because there was a mention on the non-normality of stock returns during the first lesson of CFDS which picked my curiosity.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Also, as I have more of a background in IT, I wanted to learn more about the finance side of things.</a:t>
            </a:r>
            <a:endParaRPr/>
          </a:p>
          <a:p>
            <a:pPr indent="0" lvl="0" marL="0" rtl="0" algn="l">
              <a:spcBef>
                <a:spcPts val="0"/>
              </a:spcBef>
              <a:spcAft>
                <a:spcPts val="0"/>
              </a:spcAft>
              <a:buNone/>
            </a:pPr>
            <a:r>
              <a:rPr lang="en-US"/>
              <a:t>It seemed to be a good way to build and test some financial models.</a:t>
            </a:r>
            <a:endParaRPr/>
          </a:p>
          <a:p>
            <a:pPr indent="0" lvl="0" marL="0" rtl="0" algn="l">
              <a:spcBef>
                <a:spcPts val="0"/>
              </a:spcBef>
              <a:spcAft>
                <a:spcPts val="0"/>
              </a:spcAft>
              <a:buNone/>
            </a:pPr>
            <a:r>
              <a:rPr lang="en-US"/>
              <a:t>Also it was a good motivation to start and read papers about modeling.</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71" name="Google Shape;71;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96c7f3a6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g3d96c7f3a6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We’ve already seen that we observe fat tails, but I wanted to re-explore it and show it my way. Using visualization and reusing the tools used during the CFDS. I also started to see discrepancies in the tools and processes, like arithmetic returns vs log returns, when analysing the tails. </a:t>
            </a:r>
            <a:endParaRPr/>
          </a:p>
          <a:p>
            <a:pPr indent="0" lvl="0" marL="0" rtl="0" algn="l">
              <a:spcBef>
                <a:spcPts val="0"/>
              </a:spcBef>
              <a:spcAft>
                <a:spcPts val="0"/>
              </a:spcAft>
              <a:buNone/>
            </a:pPr>
            <a:r>
              <a:rPr lang="en-US"/>
              <a:t>It’s a common theme in my presentation. I failed numerously during the analysis, because of poor logic on my side and because the tools I used were not made for the extreme values. </a:t>
            </a:r>
            <a:endParaRPr/>
          </a:p>
          <a:p>
            <a:pPr indent="0" lvl="0" marL="0" rtl="0" algn="l">
              <a:spcBef>
                <a:spcPts val="0"/>
              </a:spcBef>
              <a:spcAft>
                <a:spcPts val="0"/>
              </a:spcAft>
              <a:buNone/>
            </a:pPr>
            <a:r>
              <a:rPr lang="en-US"/>
              <a:t>But that’s one goal of my presentation. To see how things fail in the extremes.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First part is about describing the characteristics of the distribution of returns.</a:t>
            </a:r>
            <a:br>
              <a:rPr lang="en-US"/>
            </a:br>
            <a:r>
              <a:rPr lang="en-US"/>
              <a:t>Second part is about applying models and see if they hold in the tails.</a:t>
            </a:r>
            <a:br>
              <a:rPr lang="en-US"/>
            </a:br>
            <a:endParaRPr/>
          </a:p>
        </p:txBody>
      </p:sp>
      <p:sp>
        <p:nvSpPr>
          <p:cNvPr id="80" name="Google Shape;80;g3d96c7f3a6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96c7f3a6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 name="Google Shape;88;g3d96c7f3a6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sources are listed here.</a:t>
            </a:r>
            <a:endParaRPr/>
          </a:p>
          <a:p>
            <a:pPr indent="0" lvl="0" marL="0" rtl="0" algn="l">
              <a:spcBef>
                <a:spcPts val="0"/>
              </a:spcBef>
              <a:spcAft>
                <a:spcPts val="0"/>
              </a:spcAft>
              <a:buNone/>
            </a:pPr>
            <a:r>
              <a:rPr lang="en-US"/>
              <a:t>Disclaimer, I cleaned the data to the best of my effort, but by lack of competence on my side, or lack of actual data, there might be some discrepancies remaining. </a:t>
            </a:r>
            <a:endParaRPr/>
          </a:p>
          <a:p>
            <a:pPr indent="0" lvl="0" marL="0" rtl="0" algn="l">
              <a:spcBef>
                <a:spcPts val="0"/>
              </a:spcBef>
              <a:spcAft>
                <a:spcPts val="0"/>
              </a:spcAft>
              <a:buNone/>
            </a:pPr>
            <a:r>
              <a:rPr lang="en-US"/>
              <a:t>I took a dataset large enough to hope for these discrepancies to remain as noise in my analysis.</a:t>
            </a:r>
            <a:endParaRPr/>
          </a:p>
        </p:txBody>
      </p:sp>
      <p:sp>
        <p:nvSpPr>
          <p:cNvPr id="89" name="Google Shape;89;g3d96c7f3a6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d96c7f3a6c_0_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g3d96c7f3a6c_0_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stats summary on the whole set of S&amp;P500 </a:t>
            </a:r>
            <a:r>
              <a:rPr b="1" lang="en-US"/>
              <a:t>arithmetic</a:t>
            </a:r>
            <a:r>
              <a:rPr lang="en-US"/>
              <a:t> returns. Leptokurtic, </a:t>
            </a:r>
            <a:r>
              <a:rPr b="1" lang="en-US"/>
              <a:t>positively</a:t>
            </a:r>
            <a:r>
              <a:rPr lang="en-US"/>
              <a:t> skewed, take note of it as well as the max value. Interesting to not that the mean and median are slightly positive. The JB test significantly reject normality.</a:t>
            </a:r>
            <a:endParaRPr/>
          </a:p>
        </p:txBody>
      </p:sp>
      <p:sp>
        <p:nvSpPr>
          <p:cNvPr id="99" name="Google Shape;99;g3d96c7f3a6c_0_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db971e7cb6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g3db971e7cb6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stats summary on the whole set of S&amp;P500 </a:t>
            </a:r>
            <a:r>
              <a:rPr b="1" lang="en-US"/>
              <a:t>logarithmic</a:t>
            </a:r>
            <a:r>
              <a:rPr lang="en-US"/>
              <a:t> returns. Leptokurtic, </a:t>
            </a:r>
            <a:r>
              <a:rPr b="1" lang="en-US"/>
              <a:t>negatively</a:t>
            </a:r>
            <a:r>
              <a:rPr lang="en-US"/>
              <a:t> skewed. Interesting to not that the mean and median are slightly positive. The JB test significantly reject normality.</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t>We start to see the difference between arithmetic and logarithmic returns. (I did not see it at first but later the discrepancies made me question it and go back.) Log flattens extreme positive returns.</a:t>
            </a:r>
            <a:endParaRPr/>
          </a:p>
        </p:txBody>
      </p:sp>
      <p:sp>
        <p:nvSpPr>
          <p:cNvPr id="109" name="Google Shape;109;g3db971e7cb6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g3d96c7f3a6c_0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g3d96c7f3a6c_0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are  visualizations of  stock returns density.</a:t>
            </a:r>
            <a:endParaRPr/>
          </a:p>
          <a:p>
            <a:pPr indent="0" lvl="0" marL="0" rtl="0" algn="l">
              <a:spcBef>
                <a:spcPts val="0"/>
              </a:spcBef>
              <a:spcAft>
                <a:spcPts val="0"/>
              </a:spcAft>
              <a:buNone/>
            </a:pPr>
            <a:r>
              <a:rPr lang="en-US"/>
              <a:t>Disclaimer, for visualizations, I juggle a bit between arithmetic and </a:t>
            </a:r>
            <a:r>
              <a:rPr lang="en-US"/>
              <a:t>logarithmic</a:t>
            </a:r>
            <a:r>
              <a:rPr lang="en-US"/>
              <a:t> depending on the use case.</a:t>
            </a:r>
            <a:endParaRPr/>
          </a:p>
        </p:txBody>
      </p:sp>
      <p:sp>
        <p:nvSpPr>
          <p:cNvPr id="119" name="Google Shape;119;g3d96c7f3a6c_0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d96c7f3a6c_0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g3d96c7f3a6c_0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QQ plot, on the left, is a plot of two distribution against each other. Here on the y-axis the empirical return distribution and on the x-axis the </a:t>
            </a:r>
            <a:r>
              <a:rPr lang="en-US"/>
              <a:t>theoretical</a:t>
            </a:r>
            <a:r>
              <a:rPr lang="en-US"/>
              <a:t> normal distribution.</a:t>
            </a:r>
            <a:endParaRPr/>
          </a:p>
          <a:p>
            <a:pPr indent="0" lvl="0" marL="0" rtl="0" algn="l">
              <a:spcBef>
                <a:spcPts val="0"/>
              </a:spcBef>
              <a:spcAft>
                <a:spcPts val="0"/>
              </a:spcAft>
              <a:buNone/>
            </a:pPr>
            <a:r>
              <a:rPr lang="en-US"/>
              <a:t>On the right it is the density distribution of stock return against the normal in orange.</a:t>
            </a:r>
            <a:endParaRPr/>
          </a:p>
        </p:txBody>
      </p:sp>
      <p:sp>
        <p:nvSpPr>
          <p:cNvPr id="129" name="Google Shape;129;g3d96c7f3a6c_0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d96c7f3a6c_0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d96c7f3a6c_0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density distribution of stock return against the normal in orange.</a:t>
            </a:r>
            <a:endParaRPr/>
          </a:p>
        </p:txBody>
      </p:sp>
      <p:sp>
        <p:nvSpPr>
          <p:cNvPr id="139" name="Google Shape;139;g3d96c7f3a6c_0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96c7f3a6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96c7f3a6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we zoom on the negative tail to see that they do mismatch.</a:t>
            </a:r>
            <a:endParaRPr/>
          </a:p>
        </p:txBody>
      </p:sp>
      <p:sp>
        <p:nvSpPr>
          <p:cNvPr id="148" name="Google Shape;148;g3d96c7f3a6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96c7f3a6c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g3d96c7f3a6c_0_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tried a bit of mirroring to have a feel of how both sides are distributed. </a:t>
            </a:r>
            <a:endParaRPr/>
          </a:p>
          <a:p>
            <a:pPr indent="0" lvl="0" marL="0" rtl="0" algn="l">
              <a:spcBef>
                <a:spcPts val="0"/>
              </a:spcBef>
              <a:spcAft>
                <a:spcPts val="0"/>
              </a:spcAft>
              <a:buNone/>
            </a:pPr>
            <a:r>
              <a:rPr lang="en-US"/>
              <a:t>On the left, this is the arithmetic return distribution mirrored on itself.</a:t>
            </a:r>
            <a:endParaRPr/>
          </a:p>
          <a:p>
            <a:pPr indent="0" lvl="0" marL="0" rtl="0" algn="l">
              <a:spcBef>
                <a:spcPts val="0"/>
              </a:spcBef>
              <a:spcAft>
                <a:spcPts val="0"/>
              </a:spcAft>
              <a:buClr>
                <a:schemeClr val="dk1"/>
              </a:buClr>
              <a:buFont typeface="Arial"/>
              <a:buNone/>
            </a:pPr>
            <a:r>
              <a:rPr lang="en-US"/>
              <a:t>On the right, this is the log return distribution mirrored on itself.</a:t>
            </a:r>
            <a:endParaRPr/>
          </a:p>
          <a:p>
            <a:pPr indent="0" lvl="0" marL="0" rtl="0" algn="l">
              <a:spcBef>
                <a:spcPts val="0"/>
              </a:spcBef>
              <a:spcAft>
                <a:spcPts val="0"/>
              </a:spcAft>
              <a:buNone/>
            </a:pPr>
            <a:r>
              <a:rPr lang="en-US"/>
              <a:t>We see that the extremes are not alike. </a:t>
            </a:r>
            <a:endParaRPr/>
          </a:p>
          <a:p>
            <a:pPr indent="0" lvl="0" marL="0" rtl="0" algn="l">
              <a:spcBef>
                <a:spcPts val="0"/>
              </a:spcBef>
              <a:spcAft>
                <a:spcPts val="0"/>
              </a:spcAft>
              <a:buNone/>
            </a:pPr>
            <a:r>
              <a:rPr lang="en-US"/>
              <a:t>We see arithmetic vs log return discrepancies.</a:t>
            </a:r>
            <a:endParaRPr/>
          </a:p>
        </p:txBody>
      </p:sp>
      <p:sp>
        <p:nvSpPr>
          <p:cNvPr id="157" name="Google Shape;157;g3d96c7f3a6c_0_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db971e7cb6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g3db971e7cb6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single out the extremes I decided to cutoff only the top 0.1% absolute return values. </a:t>
            </a:r>
            <a:endParaRPr/>
          </a:p>
          <a:p>
            <a:pPr indent="0" lvl="0" marL="0" rtl="0" algn="l">
              <a:spcBef>
                <a:spcPts val="0"/>
              </a:spcBef>
              <a:spcAft>
                <a:spcPts val="0"/>
              </a:spcAft>
              <a:buNone/>
            </a:pPr>
            <a:r>
              <a:rPr lang="en-US"/>
              <a:t>At 0.999 quantile the return value is 0.143683.</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see 342 unique stock tickers, so about 80 stocks have been completely rejected from the extremes.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FIrst observation is that the positive tail has 692 records while the negative one has 1019, about 50% more negative events.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Second observation has to do with definitions of log returns on the left table and arithmetic returns on the right table.</a:t>
            </a:r>
            <a:br>
              <a:rPr lang="en-US"/>
            </a:br>
            <a:r>
              <a:rPr lang="en-US"/>
              <a:t>If you take a look at the max values, we see the differences.</a:t>
            </a:r>
            <a:br>
              <a:rPr lang="en-US"/>
            </a:br>
            <a:r>
              <a:rPr lang="en-US"/>
              <a:t>The log </a:t>
            </a:r>
            <a:r>
              <a:rPr lang="en-US"/>
              <a:t>returns</a:t>
            </a:r>
            <a:r>
              <a:rPr lang="en-US"/>
              <a:t>, stretches the negative and crushes the positive.</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Third observation about Welch t-test and Levene test ( from my understanding robust F-Test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First, both return definition distribution show tail asymmetry. But the direction of asymmetry is sensitive to the definition of returns.</a:t>
            </a:r>
            <a:endParaRPr/>
          </a:p>
          <a:p>
            <a:pPr indent="0" lvl="0" marL="0" rtl="0" algn="l">
              <a:spcBef>
                <a:spcPts val="0"/>
              </a:spcBef>
              <a:spcAft>
                <a:spcPts val="0"/>
              </a:spcAft>
              <a:buNone/>
            </a:pPr>
            <a:r>
              <a:rPr lang="en-US"/>
              <a:t>As an interpretation, I find it kind of consistent with explosive but infrequent recoveries whereas crashes are somewhat routine and somewhat bounded (circuit breakers?). </a:t>
            </a:r>
            <a:endParaRPr/>
          </a:p>
        </p:txBody>
      </p:sp>
      <p:sp>
        <p:nvSpPr>
          <p:cNvPr id="167" name="Google Shape;167;g3db971e7cb6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96c7f3a6c_0_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 name="Google Shape;181;g3d96c7f3a6c_0_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Extremes of all kind seems consistent across years. Exception of 2020 (covid) and 2025 (infamous tariffs).</a:t>
            </a:r>
            <a:endParaRPr/>
          </a:p>
        </p:txBody>
      </p:sp>
      <p:sp>
        <p:nvSpPr>
          <p:cNvPr id="182" name="Google Shape;182;g3d96c7f3a6c_0_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db971e7cb6_0_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 name="Google Shape;191;g3db971e7cb6_0_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Mostly days in 2020. Liberation day and </a:t>
            </a:r>
            <a:r>
              <a:rPr lang="en-US"/>
              <a:t>tariffs</a:t>
            </a:r>
            <a:r>
              <a:rPr lang="en-US"/>
              <a:t> announcement were on april, the second, 2025.</a:t>
            </a:r>
            <a:endParaRPr/>
          </a:p>
        </p:txBody>
      </p:sp>
      <p:sp>
        <p:nvSpPr>
          <p:cNvPr id="192" name="Google Shape;192;g3db971e7cb6_0_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b971e7cb6_0_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 name="Google Shape;201;g3db971e7cb6_0_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Furthermore</a:t>
            </a:r>
            <a:r>
              <a:rPr lang="en-US"/>
              <a:t> decomposition to see what years were good or bad.</a:t>
            </a:r>
            <a:endParaRPr/>
          </a:p>
          <a:p>
            <a:pPr indent="0" lvl="0" marL="0" rtl="0" algn="l">
              <a:spcBef>
                <a:spcPts val="0"/>
              </a:spcBef>
              <a:spcAft>
                <a:spcPts val="0"/>
              </a:spcAft>
              <a:buNone/>
            </a:pPr>
            <a:r>
              <a:rPr lang="en-US"/>
              <a:t>Most years have more negative events. Most years have a negative mean and median log return.</a:t>
            </a:r>
            <a:endParaRPr/>
          </a:p>
        </p:txBody>
      </p:sp>
      <p:sp>
        <p:nvSpPr>
          <p:cNvPr id="202" name="Google Shape;202;g3db971e7cb6_0_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db971e7cb6_0_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 name="Google Shape;211;g3db971e7cb6_0_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try at visualization which was noisy and messy.</a:t>
            </a:r>
            <a:endParaRPr/>
          </a:p>
        </p:txBody>
      </p:sp>
      <p:sp>
        <p:nvSpPr>
          <p:cNvPr id="212" name="Google Shape;212;g3db971e7cb6_0_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9a84e3b28a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 name="Google Shape;222;g39a84e3b28a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KDEplot. Kernel Density Estimation plot.</a:t>
            </a:r>
            <a:br>
              <a:rPr lang="en-US"/>
            </a:br>
            <a:r>
              <a:rPr lang="en-US"/>
              <a:t>They work kind of like a bar graph but smoothed out with a kernel estimation function.</a:t>
            </a:r>
            <a:endParaRPr/>
          </a:p>
          <a:p>
            <a:pPr indent="0" lvl="0" marL="0" rtl="0" algn="l">
              <a:spcBef>
                <a:spcPts val="0"/>
              </a:spcBef>
              <a:spcAft>
                <a:spcPts val="0"/>
              </a:spcAft>
              <a:buNone/>
            </a:pPr>
            <a:r>
              <a:rPr lang="en-US"/>
              <a:t>More of a qualitative representation than a quantitative one. But less noisy and so, easier to read. And it looks cool.</a:t>
            </a:r>
            <a:endParaRPr/>
          </a:p>
        </p:txBody>
      </p:sp>
      <p:sp>
        <p:nvSpPr>
          <p:cNvPr id="223" name="Google Shape;223;g39a84e3b28a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db971e7cb6_0_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 name="Google Shape;232;g3db971e7cb6_0_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Seeing the previous slides, I wanted to know if a specific year was really different from the others.</a:t>
            </a:r>
            <a:endParaRPr/>
          </a:p>
          <a:p>
            <a:pPr indent="0" lvl="0" marL="0" rtl="0" algn="l">
              <a:spcBef>
                <a:spcPts val="0"/>
              </a:spcBef>
              <a:spcAft>
                <a:spcPts val="0"/>
              </a:spcAft>
              <a:buNone/>
            </a:pPr>
            <a:r>
              <a:rPr lang="en-US"/>
              <a:t>I tested with a Welch-ANOVA the different groups.</a:t>
            </a:r>
            <a:br>
              <a:rPr lang="en-US"/>
            </a:br>
            <a:r>
              <a:rPr lang="en-US"/>
              <a:t>A note on assumption while using Welch-ANOVA: </a:t>
            </a:r>
            <a:br>
              <a:rPr lang="en-US"/>
            </a:br>
            <a:r>
              <a:rPr lang="en-US"/>
              <a:t>On </a:t>
            </a:r>
            <a:r>
              <a:rPr lang="en-US"/>
              <a:t>independence</a:t>
            </a:r>
            <a:r>
              <a:rPr lang="en-US"/>
              <a:t>, because I grouped by time, if there is a market crash, it can lead multiple stocks to crash together.</a:t>
            </a:r>
            <a:endParaRPr/>
          </a:p>
          <a:p>
            <a:pPr indent="0" lvl="0" marL="0" rtl="0" algn="l">
              <a:spcBef>
                <a:spcPts val="0"/>
              </a:spcBef>
              <a:spcAft>
                <a:spcPts val="0"/>
              </a:spcAft>
              <a:buNone/>
            </a:pPr>
            <a:r>
              <a:rPr lang="en-US"/>
              <a:t>On the numbers of records for central limit theorem. Shaky because some years/tails have only 10 events.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Still interesting to see the results, that there is no difference in the mean of yearly extreme events, but would need further testing, that I do not know to confirm it.</a:t>
            </a:r>
            <a:endParaRPr/>
          </a:p>
        </p:txBody>
      </p:sp>
      <p:sp>
        <p:nvSpPr>
          <p:cNvPr id="233" name="Google Shape;233;g3db971e7cb6_0_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db971e7cb6_0_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 name="Google Shape;243;g3db971e7cb6_0_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After time clustering, I moved on sector clustering. To see if specific sectors stand out.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Compared to time clustering, I decided to normalize the number of events by the number of stocks represented.</a:t>
            </a:r>
            <a:endParaRPr/>
          </a:p>
          <a:p>
            <a:pPr indent="0" lvl="0" marL="0" rtl="0" algn="l">
              <a:spcBef>
                <a:spcPts val="0"/>
              </a:spcBef>
              <a:spcAft>
                <a:spcPts val="0"/>
              </a:spcAft>
              <a:buNone/>
            </a:pPr>
            <a:r>
              <a:rPr lang="en-US"/>
              <a:t>i.e. if a sector has 10 times the number of stock we will see 10 times more extreme events while not having really more significance.</a:t>
            </a:r>
            <a:endParaRPr/>
          </a:p>
          <a:p>
            <a:pPr indent="0" lvl="0" marL="0" rtl="0" algn="l">
              <a:spcBef>
                <a:spcPts val="0"/>
              </a:spcBef>
              <a:spcAft>
                <a:spcPts val="0"/>
              </a:spcAft>
              <a:buNone/>
            </a:pPr>
            <a:r>
              <a:rPr lang="en-US"/>
              <a:t>See the difference in the 2 tables.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see that consumer discretionary and IT and </a:t>
            </a:r>
            <a:r>
              <a:rPr lang="en-US"/>
              <a:t>energy</a:t>
            </a:r>
            <a:r>
              <a:rPr lang="en-US"/>
              <a:t> are leading in extreme events.</a:t>
            </a:r>
            <a:endParaRPr/>
          </a:p>
        </p:txBody>
      </p:sp>
      <p:sp>
        <p:nvSpPr>
          <p:cNvPr id="244" name="Google Shape;244;g3db971e7cb6_0_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db971e7cb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db971e7cb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Communication services is the only sector with a positive means.</a:t>
            </a:r>
            <a:endParaRPr/>
          </a:p>
        </p:txBody>
      </p:sp>
      <p:sp>
        <p:nvSpPr>
          <p:cNvPr id="255" name="Google Shape;255;g3db971e7cb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b971e7cb6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g3db971e7cb6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g3db971e7cb6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g39a84e3b28a_0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 name="Google Shape;275;g39a84e3b28a_0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KDEplot. The same as with time clustering.</a:t>
            </a:r>
            <a:endParaRPr/>
          </a:p>
          <a:p>
            <a:pPr indent="0" lvl="0" marL="0" rtl="0" algn="l">
              <a:spcBef>
                <a:spcPts val="0"/>
              </a:spcBef>
              <a:spcAft>
                <a:spcPts val="0"/>
              </a:spcAft>
              <a:buNone/>
            </a:pPr>
            <a:r>
              <a:rPr lang="en-US"/>
              <a:t>Bring attention at the communication services sector in red.</a:t>
            </a:r>
            <a:endParaRPr/>
          </a:p>
        </p:txBody>
      </p:sp>
      <p:sp>
        <p:nvSpPr>
          <p:cNvPr id="276" name="Google Shape;276;g39a84e3b28a_0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db971e7cb6_0_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 name="Google Shape;285;g3db971e7cb6_0_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analysis as the time clustering. Though we have more events per “buckets”, mechanically 11 sectors against 16 years. But the consideration still stands on the results that should be further tested.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Here we reject H0, most probably because of the communication services sector. Again, to test further.</a:t>
            </a:r>
            <a:endParaRPr/>
          </a:p>
          <a:p>
            <a:pPr indent="0" lvl="0" marL="0" rtl="0" algn="l">
              <a:spcBef>
                <a:spcPts val="0"/>
              </a:spcBef>
              <a:spcAft>
                <a:spcPts val="0"/>
              </a:spcAft>
              <a:buNone/>
            </a:pPr>
            <a:r>
              <a:t/>
            </a:r>
            <a:endParaRPr/>
          </a:p>
        </p:txBody>
      </p:sp>
      <p:sp>
        <p:nvSpPr>
          <p:cNvPr id="286" name="Google Shape;286;g3db971e7cb6_0_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db971e7cb6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db971e7cb6_0_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far we were describing the whole set, then the tails, then clustering by years and sectors to have a feel for the distribution.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we move onto modelling, to see if the models still hold in the tails as much as the full distribution.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start with one of the simplest. Capital Asset Pricing Model. Developed in the 1960s by William Sharpe, John Lintner, and Jan Mossin based on Modern Portfolio Theory.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It creates a linear </a:t>
            </a:r>
            <a:r>
              <a:rPr lang="en-US"/>
              <a:t>relationship</a:t>
            </a:r>
            <a:r>
              <a:rPr lang="en-US"/>
              <a:t> between the movement of the market and the movement of the asset.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 a personal note, and </a:t>
            </a:r>
            <a:r>
              <a:rPr lang="en-US"/>
              <a:t>Like I mentionned in the beginning,</a:t>
            </a:r>
            <a:r>
              <a:rPr lang="en-US"/>
              <a:t> I discovered this model, this linear relationship technique with factors, and all following factors about 6 months ago while preparing for this presentation. Implementing it was a really good way of learning about it.</a:t>
            </a:r>
            <a:endParaRPr/>
          </a:p>
        </p:txBody>
      </p:sp>
      <p:sp>
        <p:nvSpPr>
          <p:cNvPr id="297" name="Google Shape;297;g3db971e7cb6_0_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9a84e3b28a_0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5" name="Google Shape;305;g39a84e3b28a_0_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test on all AAPL returns to get familiar with the technique.</a:t>
            </a:r>
            <a:endParaRPr/>
          </a:p>
          <a:p>
            <a:pPr indent="0" lvl="0" marL="0" rtl="0" algn="l">
              <a:spcBef>
                <a:spcPts val="0"/>
              </a:spcBef>
              <a:spcAft>
                <a:spcPts val="0"/>
              </a:spcAft>
              <a:buNone/>
            </a:pPr>
            <a:r>
              <a:rPr lang="en-US"/>
              <a:t>This model as basically a linear regression with one constant alpha and one parameter beta.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will not go through each results, but here alpha and beta are significant and the model explains 47% of AAPL returns, as seen in the R-squared result.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see some warning signs in the bottom of the summary with the kurtosis and the JB stats for the residuals.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checked my results on the internet and it seems good.</a:t>
            </a:r>
            <a:endParaRPr/>
          </a:p>
        </p:txBody>
      </p:sp>
      <p:sp>
        <p:nvSpPr>
          <p:cNvPr id="306" name="Google Shape;306;g39a84e3b28a_0_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9a84e3b28a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39a84e3b28a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just goes into the details.</a:t>
            </a:r>
            <a:endParaRPr/>
          </a:p>
        </p:txBody>
      </p:sp>
      <p:sp>
        <p:nvSpPr>
          <p:cNvPr id="316" name="Google Shape;316;g39a84e3b28a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g39a84e3b28a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g39a84e3b28a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visualized it to understand what I was doing.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this is CAPM modeling.</a:t>
            </a:r>
            <a:endParaRPr/>
          </a:p>
        </p:txBody>
      </p:sp>
      <p:sp>
        <p:nvSpPr>
          <p:cNvPr id="325" name="Google Shape;325;g39a84e3b28a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9a84e3b28a_0_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9a84e3b28a_0_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 loop on </a:t>
            </a:r>
            <a:r>
              <a:rPr lang="en-US"/>
              <a:t>each ticker on </a:t>
            </a:r>
            <a:r>
              <a:rPr lang="en-US"/>
              <a:t>the </a:t>
            </a:r>
            <a:r>
              <a:rPr b="1" lang="en-US"/>
              <a:t>whole set</a:t>
            </a:r>
            <a:r>
              <a:rPr lang="en-US"/>
              <a:t> and do a CAPM regression and then I store the alpha, beta and r-squared for each and get the stats for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top table is the loop on each ticker. The bottom table is the summary.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on average, for the S&amp;P500 for the last 15 years, CAPM explains 34% of a stock excess return against market excess.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Also checked on the internet to be sure and the results seems to be good.</a:t>
            </a:r>
            <a:endParaRPr/>
          </a:p>
        </p:txBody>
      </p:sp>
      <p:sp>
        <p:nvSpPr>
          <p:cNvPr id="334" name="Google Shape;334;g39a84e3b28a_0_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9a84e3b28a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9a84e3b28a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5" name="Google Shape;345;g39a84e3b28a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g39a84e3b28a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g39a84e3b28a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Quick visualization of the distribution of the CAPM on each stock.</a:t>
            </a:r>
            <a:endParaRPr/>
          </a:p>
        </p:txBody>
      </p:sp>
      <p:sp>
        <p:nvSpPr>
          <p:cNvPr id="354" name="Google Shape;354;g39a84e3b28a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g3dfdcedfbbb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2" name="Google Shape;362;g3dfdcedfbbb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Back in the tails. We select SMCI because it has the more extreme event counts.</a:t>
            </a:r>
            <a:endParaRPr/>
          </a:p>
        </p:txBody>
      </p:sp>
      <p:sp>
        <p:nvSpPr>
          <p:cNvPr id="363" name="Google Shape;363;g3dfdcedfbbb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0" name="Shape 370"/>
        <p:cNvGrpSpPr/>
        <p:nvPr/>
      </p:nvGrpSpPr>
      <p:grpSpPr>
        <a:xfrm>
          <a:off x="0" y="0"/>
          <a:ext cx="0" cy="0"/>
          <a:chOff x="0" y="0"/>
          <a:chExt cx="0" cy="0"/>
        </a:xfrm>
      </p:grpSpPr>
      <p:sp>
        <p:nvSpPr>
          <p:cNvPr id="371" name="Google Shape;371;g3dfdcedfbbb_0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2" name="Google Shape;372;g3dfdcedfbbb_0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SMCI on the full sample. To compare later with only the tails.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bit of juggling between full sample and tails.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R-squared shows only 16.5% explanation for this OLS.</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73" name="Google Shape;373;g3dfdcedfbbb_0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g3dfdcedfbbb_0_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2" name="Google Shape;382;g3dfdcedfbbb_0_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 did it with both tail combined, but it is actually a mistake. As we will see on the following slide.</a:t>
            </a:r>
            <a:endParaRPr/>
          </a:p>
        </p:txBody>
      </p:sp>
      <p:sp>
        <p:nvSpPr>
          <p:cNvPr id="383" name="Google Shape;383;g3dfdcedfbbb_0_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g3dfdcedfbbb_0_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g3dfdcedfbbb_0_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splitted both tails artificially, so it creates two clouds of point.</a:t>
            </a:r>
            <a:endParaRPr/>
          </a:p>
          <a:p>
            <a:pPr indent="0" lvl="0" marL="0" rtl="0" algn="l">
              <a:spcBef>
                <a:spcPts val="0"/>
              </a:spcBef>
              <a:spcAft>
                <a:spcPts val="0"/>
              </a:spcAft>
              <a:buNone/>
            </a:pPr>
            <a:r>
              <a:rPr lang="en-US"/>
              <a:t>They are slightly shifted and so it creates a spurious relation between the two.</a:t>
            </a:r>
            <a:endParaRPr/>
          </a:p>
          <a:p>
            <a:pPr indent="0" lvl="0" marL="0" rtl="0" algn="l">
              <a:spcBef>
                <a:spcPts val="0"/>
              </a:spcBef>
              <a:spcAft>
                <a:spcPts val="0"/>
              </a:spcAft>
              <a:buNone/>
            </a:pPr>
            <a:r>
              <a:rPr lang="en-US"/>
              <a:t>Whereas within each cloud there is no correlation.</a:t>
            </a:r>
            <a:endParaRPr/>
          </a:p>
        </p:txBody>
      </p:sp>
      <p:sp>
        <p:nvSpPr>
          <p:cNvPr id="393" name="Google Shape;393;g3dfdcedfbbb_0_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dfdcedfbbb_0_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g3dfdcedfbbb_0_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it is on both tails </a:t>
            </a:r>
            <a:r>
              <a:rPr lang="en-US"/>
              <a:t>separately</a:t>
            </a: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Actually, we explain very little. See R-squared. Adjusted r-squared is even negative.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p-value for beta, the market excess is high above the 5% significance threshold.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Same for the f-statistic’s p-value.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It does not look good for CAPM.</a:t>
            </a:r>
            <a:endParaRPr/>
          </a:p>
        </p:txBody>
      </p:sp>
      <p:sp>
        <p:nvSpPr>
          <p:cNvPr id="403" name="Google Shape;403;g3dfdcedfbbb_0_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dfdcedfbbb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dfdcedfbbb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 loop on all stocks in the extreme. I take stocks with a minimum of 5 events in each tail.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I aggregate.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CAPM performs really worse in the tails than in the full distribution.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Also beta is often not statistically significant.</a:t>
            </a:r>
            <a:endParaRPr/>
          </a:p>
        </p:txBody>
      </p:sp>
      <p:sp>
        <p:nvSpPr>
          <p:cNvPr id="414" name="Google Shape;414;g3dfdcedfbbb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dfdcedfbbb_0_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dfdcedfbbb_0_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5" name="Google Shape;425;g3dfdcedfbbb_0_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dfdcedfbbb_0_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 name="Google Shape;433;g3dfdcedfbbb_0_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we try the same for Fama-French three factor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Extension of the CAPM model d</a:t>
            </a:r>
            <a:r>
              <a:rPr lang="en-US" sz="1100">
                <a:latin typeface="Arial"/>
                <a:ea typeface="Arial"/>
                <a:cs typeface="Arial"/>
                <a:sym typeface="Arial"/>
              </a:rPr>
              <a:t>esigned in 1992 by Eugene </a:t>
            </a:r>
            <a:r>
              <a:rPr i="1" lang="en-US" sz="1100">
                <a:latin typeface="Arial"/>
                <a:ea typeface="Arial"/>
                <a:cs typeface="Arial"/>
                <a:sym typeface="Arial"/>
              </a:rPr>
              <a:t>Fama</a:t>
            </a:r>
            <a:r>
              <a:rPr lang="en-US" sz="1100">
                <a:latin typeface="Arial"/>
                <a:ea typeface="Arial"/>
                <a:cs typeface="Arial"/>
                <a:sym typeface="Arial"/>
              </a:rPr>
              <a:t> and Kenneth </a:t>
            </a:r>
            <a:r>
              <a:rPr i="1" lang="en-US" sz="1100">
                <a:latin typeface="Arial"/>
                <a:ea typeface="Arial"/>
                <a:cs typeface="Arial"/>
                <a:sym typeface="Arial"/>
              </a:rPr>
              <a:t>French</a:t>
            </a:r>
            <a:r>
              <a:rPr lang="en-US" sz="1100">
                <a:latin typeface="Arial"/>
                <a:ea typeface="Arial"/>
                <a:cs typeface="Arial"/>
                <a:sym typeface="Arial"/>
              </a:rPr>
              <a: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methodology will be the same as with the CAPM.</a:t>
            </a:r>
            <a:endParaRPr/>
          </a:p>
        </p:txBody>
      </p:sp>
      <p:sp>
        <p:nvSpPr>
          <p:cNvPr id="434" name="Google Shape;434;g3dfdcedfbbb_0_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3dfdcedfbbb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g3dfdcedfbbb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3F on the whole set.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switched to adjusted R-squared because we add more explaining variable. This is in retrospective of a later mistake. We’ll come to it in the next slide.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FF3 adds statistically significant factor loadings for 80-90% of stocks</a:t>
            </a:r>
            <a:endParaRPr/>
          </a:p>
          <a:p>
            <a:pPr indent="0" lvl="0" marL="0" rtl="0" algn="l">
              <a:spcBef>
                <a:spcPts val="0"/>
              </a:spcBef>
              <a:spcAft>
                <a:spcPts val="0"/>
              </a:spcAft>
              <a:buNone/>
            </a:pPr>
            <a:r>
              <a:rPr lang="en-US"/>
              <a:t>But the R² improvement is limited because the S&amp;P500 universe mutes the size premium</a:t>
            </a:r>
            <a:endParaRPr/>
          </a:p>
          <a:p>
            <a:pPr indent="0" lvl="0" marL="0" rtl="0" algn="l">
              <a:spcBef>
                <a:spcPts val="0"/>
              </a:spcBef>
              <a:spcAft>
                <a:spcPts val="0"/>
              </a:spcAft>
              <a:buNone/>
            </a:pPr>
            <a:r>
              <a:rPr lang="en-US"/>
              <a:t>Alpha is still present , something remains unexplained</a:t>
            </a:r>
            <a:endParaRPr/>
          </a:p>
          <a:p>
            <a:pPr indent="0" lvl="0" marL="0" rtl="0" algn="l">
              <a:spcBef>
                <a:spcPts val="0"/>
              </a:spcBef>
              <a:spcAft>
                <a:spcPts val="0"/>
              </a:spcAft>
              <a:buNone/>
            </a:pPr>
            <a:r>
              <a:rPr lang="en-US"/>
              <a:t>The real test is whether FF3 does better in the tails than CAPM did</a:t>
            </a:r>
            <a:endParaRPr/>
          </a:p>
          <a:p>
            <a:pPr indent="0" lvl="0" marL="0" rtl="0" algn="l">
              <a:spcBef>
                <a:spcPts val="0"/>
              </a:spcBef>
              <a:spcAft>
                <a:spcPts val="0"/>
              </a:spcAft>
              <a:buClr>
                <a:srgbClr val="000000"/>
              </a:buClr>
              <a:buFont typeface="Arial"/>
              <a:buNone/>
            </a:pPr>
            <a:r>
              <a:t/>
            </a:r>
            <a:endParaRPr/>
          </a:p>
        </p:txBody>
      </p:sp>
      <p:sp>
        <p:nvSpPr>
          <p:cNvPr id="443" name="Google Shape;443;g3dfdcedfbbb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dfdcedfbbb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g3dfdcedfbbb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we compare the results of the OLS, first on the complete set, then on the positive tail and then on the negative one.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Here, is when I saw I did a mistake with R-squared and adjusted R-squared.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saw it because of the significance of the explaining variables. It did not make sense.</a:t>
            </a:r>
            <a:endParaRPr/>
          </a:p>
        </p:txBody>
      </p:sp>
      <p:sp>
        <p:nvSpPr>
          <p:cNvPr id="453" name="Google Shape;453;g3dfdcedfbbb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dfdcedfbbb_0_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g3dfdcedfbbb_0_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it is with adjusted r-squared.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Adjusted r-squared is really lower.</a:t>
            </a:r>
            <a:endParaRPr/>
          </a:p>
        </p:txBody>
      </p:sp>
      <p:sp>
        <p:nvSpPr>
          <p:cNvPr id="463" name="Google Shape;463;g3dfdcedfbbb_0_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g3db971e7cb6_0_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2" name="Google Shape;472;g3db971e7cb6_0_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methodology with Carhart 4 factor model. </a:t>
            </a:r>
            <a:r>
              <a:rPr lang="en-US"/>
              <a:t>Developed</a:t>
            </a:r>
            <a:r>
              <a:rPr lang="en-US"/>
              <a:t> later in 1997 by Mark Carhart as an extension of 3F.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Also known as the MOM, monthly momentum factor.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read on the wikipedia website that t</a:t>
            </a:r>
            <a:r>
              <a:rPr lang="en-US"/>
              <a:t>he four factor model is commonly used as an active management and mutual fund evaluation model.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How will it fare?</a:t>
            </a:r>
            <a:endParaRPr/>
          </a:p>
        </p:txBody>
      </p:sp>
      <p:sp>
        <p:nvSpPr>
          <p:cNvPr id="473" name="Google Shape;473;g3db971e7cb6_0_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g3dfdcedfbbb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g3dfdcedfbbb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Still really low, but a significant step forward.</a:t>
            </a:r>
            <a:endParaRPr/>
          </a:p>
        </p:txBody>
      </p:sp>
      <p:sp>
        <p:nvSpPr>
          <p:cNvPr id="482" name="Google Shape;482;g3dfdcedfbbb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dfdcedfbbb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dfdcedfbbb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Financial news headlines.</a:t>
            </a:r>
            <a:endParaRPr/>
          </a:p>
          <a:p>
            <a:pPr indent="0" lvl="0" marL="0" rtl="0" algn="l">
              <a:spcBef>
                <a:spcPts val="0"/>
              </a:spcBef>
              <a:spcAft>
                <a:spcPts val="0"/>
              </a:spcAft>
              <a:buNone/>
            </a:pPr>
            <a:r>
              <a:rPr lang="en-US"/>
              <a:t>Not great but one of the best I found as open source on the internet.</a:t>
            </a:r>
            <a:endParaRPr/>
          </a:p>
        </p:txBody>
      </p:sp>
      <p:sp>
        <p:nvSpPr>
          <p:cNvPr id="492" name="Google Shape;492;g3dfdcedfbbb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g3e1cae8f83d_0_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g3e1cae8f83d_0_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Financial news headlines.</a:t>
            </a:r>
            <a:endParaRPr/>
          </a:p>
          <a:p>
            <a:pPr indent="0" lvl="0" marL="0" rtl="0" algn="l">
              <a:spcBef>
                <a:spcPts val="0"/>
              </a:spcBef>
              <a:spcAft>
                <a:spcPts val="0"/>
              </a:spcAft>
              <a:buNone/>
            </a:pPr>
            <a:r>
              <a:rPr lang="en-US"/>
              <a:t>Not great but one of the best I found as open source on the internet.</a:t>
            </a:r>
            <a:endParaRPr/>
          </a:p>
          <a:p>
            <a:pPr indent="0" lvl="0" marL="0" rtl="0" algn="l">
              <a:spcBef>
                <a:spcPts val="0"/>
              </a:spcBef>
              <a:spcAft>
                <a:spcPts val="0"/>
              </a:spcAft>
              <a:buNone/>
            </a:pPr>
            <a:r>
              <a:rPr lang="en-US"/>
              <a:t>You can see an example of the dataset.</a:t>
            </a:r>
            <a:endParaRPr/>
          </a:p>
        </p:txBody>
      </p:sp>
      <p:sp>
        <p:nvSpPr>
          <p:cNvPr id="501" name="Google Shape;501;g3e1cae8f83d_0_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3dfdcedfbbb_0_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0" name="Google Shape;510;g3dfdcedfbbb_0_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Very sparse headlines in the first years. And does not go to 2026.</a:t>
            </a:r>
            <a:endParaRPr/>
          </a:p>
        </p:txBody>
      </p:sp>
      <p:sp>
        <p:nvSpPr>
          <p:cNvPr id="511" name="Google Shape;511;g3dfdcedfbbb_0_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g3dfdcedfbbb_0_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0" name="Google Shape;520;g3dfdcedfbbb_0_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FinBERT is an encoder, which creates an embedding, with a linear classifier at the end to give a score.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installed FinBERT in local to give a score  between -1 extremely negative to +1, extremely positive sentiment for each headlines. And then I aggregated by date. This gives a market sentiment for the day.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521" name="Google Shape;521;g3dfdcedfbbb_0_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dfdcedfbbb_0_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g3dfdcedfbbb_0_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 the total set, the </a:t>
            </a:r>
            <a:r>
              <a:rPr lang="en-US"/>
              <a:t>adjusted</a:t>
            </a:r>
            <a:r>
              <a:rPr lang="en-US"/>
              <a:t> R-squared increases a bit from 0.37 to 0.41 compared to the momentum model.</a:t>
            </a:r>
            <a:endParaRPr/>
          </a:p>
          <a:p>
            <a:pPr indent="0" lvl="0" marL="0" rtl="0" algn="l">
              <a:spcBef>
                <a:spcPts val="0"/>
              </a:spcBef>
              <a:spcAft>
                <a:spcPts val="0"/>
              </a:spcAft>
              <a:buNone/>
            </a:pPr>
            <a:r>
              <a:rPr lang="en-US"/>
              <a:t>However, there is only 5 percent of significant sentiment beta.</a:t>
            </a:r>
            <a:endParaRPr/>
          </a:p>
          <a:p>
            <a:pPr indent="0" lvl="0" marL="0" rtl="0" algn="l">
              <a:spcBef>
                <a:spcPts val="0"/>
              </a:spcBef>
              <a:spcAft>
                <a:spcPts val="0"/>
              </a:spcAft>
              <a:buNone/>
            </a:pPr>
            <a:r>
              <a:rPr lang="en-US"/>
              <a:t>Also, alpha increased from 6 % of significance to 7.5 %. Which is not great.</a:t>
            </a:r>
            <a:endParaRPr/>
          </a:p>
          <a:p>
            <a:pPr indent="0" lvl="0" marL="0" rtl="0" algn="l">
              <a:spcBef>
                <a:spcPts val="0"/>
              </a:spcBef>
              <a:spcAft>
                <a:spcPts val="0"/>
              </a:spcAft>
              <a:buClr>
                <a:schemeClr val="dk1"/>
              </a:buClr>
              <a:buFont typeface="Arial"/>
              <a:buNone/>
            </a:pPr>
            <a:r>
              <a:rPr lang="en-US"/>
              <a:t>Is it a sign of multicollinearity or overfit?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positive tail explanation jumps from 13% to 26% but with a significance of the sentiment which is null.</a:t>
            </a:r>
            <a:endParaRPr/>
          </a:p>
          <a:p>
            <a:pPr indent="0" lvl="0" marL="0" rtl="0" algn="l">
              <a:spcBef>
                <a:spcPts val="0"/>
              </a:spcBef>
              <a:spcAft>
                <a:spcPts val="0"/>
              </a:spcAft>
              <a:buNone/>
            </a:pPr>
            <a:r>
              <a:rPr lang="en-US"/>
              <a:t>Is it a sign of multicollinearity or overfit?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negative tail explanation barely changed. The significance of the sentiment is also really low.</a:t>
            </a:r>
            <a:endParaRPr/>
          </a:p>
          <a:p>
            <a:pPr indent="0" lvl="0" marL="0" rtl="0" algn="l">
              <a:spcBef>
                <a:spcPts val="0"/>
              </a:spcBef>
              <a:spcAft>
                <a:spcPts val="0"/>
              </a:spcAft>
              <a:buNone/>
            </a:pPr>
            <a:r>
              <a:t/>
            </a:r>
            <a:endParaRPr/>
          </a:p>
        </p:txBody>
      </p:sp>
      <p:sp>
        <p:nvSpPr>
          <p:cNvPr id="531" name="Google Shape;531;g3dfdcedfbbb_0_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8" name="Shape 538"/>
        <p:cNvGrpSpPr/>
        <p:nvPr/>
      </p:nvGrpSpPr>
      <p:grpSpPr>
        <a:xfrm>
          <a:off x="0" y="0"/>
          <a:ext cx="0" cy="0"/>
          <a:chOff x="0" y="0"/>
          <a:chExt cx="0" cy="0"/>
        </a:xfrm>
      </p:grpSpPr>
      <p:sp>
        <p:nvSpPr>
          <p:cNvPr id="539" name="Google Shape;539;g3e1cae8f83d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0" name="Google Shape;540;g3e1cae8f83d_0_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Correlation matrices to be sure.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But there does not seems to be too much of a correlation.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sentiment probably overfits the noise a bit.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Overall, sentiment, at least the way I calculated it, does not seems to be a robust predictor.</a:t>
            </a:r>
            <a:endParaRPr/>
          </a:p>
          <a:p>
            <a:pPr indent="0" lvl="0" marL="0" rtl="0" algn="l">
              <a:spcBef>
                <a:spcPts val="0"/>
              </a:spcBef>
              <a:spcAft>
                <a:spcPts val="0"/>
              </a:spcAft>
              <a:buNone/>
            </a:pPr>
            <a:r>
              <a:t/>
            </a:r>
            <a:endParaRPr/>
          </a:p>
        </p:txBody>
      </p:sp>
      <p:sp>
        <p:nvSpPr>
          <p:cNvPr id="541" name="Google Shape;541;g3e1cae8f83d_0_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3e1cae8f83d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g3e1cae8f83d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rPr lang="en-US"/>
              <a:t>On this summary, we see that overall these models are worse in the tails compared to the full set.</a:t>
            </a:r>
            <a:endParaRPr/>
          </a:p>
          <a:p>
            <a:pPr indent="0" lvl="0" marL="0" rtl="0" algn="l">
              <a:spcBef>
                <a:spcPts val="0"/>
              </a:spcBef>
              <a:spcAft>
                <a:spcPts val="0"/>
              </a:spcAft>
              <a:buNone/>
            </a:pPr>
            <a:r>
              <a:t/>
            </a:r>
            <a:endParaRPr/>
          </a:p>
        </p:txBody>
      </p:sp>
      <p:sp>
        <p:nvSpPr>
          <p:cNvPr id="551" name="Google Shape;551;g3e1cae8f83d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g3e1cae8f83d_0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0" name="Google Shape;560;g3e1cae8f83d_0_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561" name="Google Shape;561;g3e1cae8f83d_0_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9" name="Google Shape;56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0" name="Google Shape;57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Title">
  <p:cSld name="CFDS - Title">
    <p:spTree>
      <p:nvGrpSpPr>
        <p:cNvPr id="21" name="Shape 21"/>
        <p:cNvGrpSpPr/>
        <p:nvPr/>
      </p:nvGrpSpPr>
      <p:grpSpPr>
        <a:xfrm>
          <a:off x="0" y="0"/>
          <a:ext cx="0" cy="0"/>
          <a:chOff x="0" y="0"/>
          <a:chExt cx="0" cy="0"/>
        </a:xfrm>
      </p:grpSpPr>
      <p:sp>
        <p:nvSpPr>
          <p:cNvPr id="22" name="Google Shape;22;p6"/>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sp>
        <p:nvSpPr>
          <p:cNvPr id="23" name="Google Shape;23;p6"/>
          <p:cNvSpPr txBox="1"/>
          <p:nvPr>
            <p:ph idx="1" type="subTitle"/>
          </p:nvPr>
        </p:nvSpPr>
        <p:spPr>
          <a:xfrm>
            <a:off x="720000" y="5220000"/>
            <a:ext cx="8640000" cy="270000"/>
          </a:xfrm>
          <a:prstGeom prst="rect">
            <a:avLst/>
          </a:prstGeom>
          <a:noFill/>
          <a:ln>
            <a:noFill/>
          </a:ln>
        </p:spPr>
        <p:txBody>
          <a:bodyPr anchorCtr="0" anchor="t" bIns="0" lIns="0" spcFirstLastPara="1" rIns="0" wrap="square" tIns="0">
            <a:noAutofit/>
          </a:bodyPr>
          <a:lstStyle>
            <a:lvl1pPr lvl="0" marR="0" rtl="0" algn="l">
              <a:lnSpc>
                <a:spcPct val="100000"/>
              </a:lnSpc>
              <a:spcBef>
                <a:spcPts val="0"/>
              </a:spcBef>
              <a:spcAft>
                <a:spcPts val="0"/>
              </a:spcAft>
              <a:buClr>
                <a:schemeClr val="lt1"/>
              </a:buClr>
              <a:buSzPts val="1600"/>
              <a:buFont typeface="Arial"/>
              <a:buNone/>
              <a:defRPr b="0" i="0" sz="1600" u="none" cap="none" strike="noStrike">
                <a:solidFill>
                  <a:schemeClr val="lt1"/>
                </a:solidFill>
                <a:latin typeface="Titillium Web"/>
                <a:ea typeface="Titillium Web"/>
                <a:cs typeface="Titillium Web"/>
                <a:sym typeface="Titillium Web"/>
              </a:defRPr>
            </a:lvl1pPr>
            <a:lvl2pPr lvl="1" marR="0" rtl="0" algn="ctr">
              <a:lnSpc>
                <a:spcPct val="100000"/>
              </a:lnSpc>
              <a:spcBef>
                <a:spcPts val="300"/>
              </a:spcBef>
              <a:spcAft>
                <a:spcPts val="0"/>
              </a:spcAft>
              <a:buClr>
                <a:srgbClr val="888888"/>
              </a:buClr>
              <a:buSzPts val="1500"/>
              <a:buFont typeface="Arial"/>
              <a:buNone/>
              <a:defRPr b="0" i="0" sz="1500" u="none" cap="none" strike="noStrike">
                <a:solidFill>
                  <a:srgbClr val="888888"/>
                </a:solidFill>
                <a:latin typeface="Titillium Web"/>
                <a:ea typeface="Titillium Web"/>
                <a:cs typeface="Titillium Web"/>
                <a:sym typeface="Titillium Web"/>
              </a:defRPr>
            </a:lvl2pPr>
            <a:lvl3pPr lvl="2" marR="0" rtl="0" algn="ctr">
              <a:lnSpc>
                <a:spcPct val="100000"/>
              </a:lnSpc>
              <a:spcBef>
                <a:spcPts val="270"/>
              </a:spcBef>
              <a:spcAft>
                <a:spcPts val="0"/>
              </a:spcAft>
              <a:buClr>
                <a:srgbClr val="888888"/>
              </a:buClr>
              <a:buSzPts val="1350"/>
              <a:buFont typeface="Arial"/>
              <a:buNone/>
              <a:defRPr b="0" i="0" sz="1350" u="none" cap="none" strike="noStrike">
                <a:solidFill>
                  <a:srgbClr val="888888"/>
                </a:solidFill>
                <a:latin typeface="Titillium Web"/>
                <a:ea typeface="Titillium Web"/>
                <a:cs typeface="Titillium Web"/>
                <a:sym typeface="Titillium Web"/>
              </a:defRPr>
            </a:lvl3pPr>
            <a:lvl4pPr lvl="3"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4pPr>
            <a:lvl5pPr lvl="4"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5pPr>
            <a:lvl6pPr lvl="5"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6pPr>
            <a:lvl7pPr lvl="6"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7pPr>
            <a:lvl8pPr lvl="7"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8pPr>
            <a:lvl9pPr lvl="8" marR="0" rtl="0" algn="ctr">
              <a:spcBef>
                <a:spcPts val="300"/>
              </a:spcBef>
              <a:spcAft>
                <a:spcPts val="0"/>
              </a:spcAft>
              <a:buClr>
                <a:srgbClr val="888888"/>
              </a:buClr>
              <a:buSzPts val="1500"/>
              <a:buFont typeface="Arial"/>
              <a:buNone/>
              <a:defRPr b="0" i="0" sz="1500" u="none" cap="none" strike="noStrike">
                <a:solidFill>
                  <a:srgbClr val="888888"/>
                </a:solidFill>
                <a:latin typeface="Arial"/>
                <a:ea typeface="Arial"/>
                <a:cs typeface="Arial"/>
                <a:sym typeface="Arial"/>
              </a:defRPr>
            </a:lvl9pPr>
          </a:lstStyle>
          <a:p/>
        </p:txBody>
      </p:sp>
      <p:cxnSp>
        <p:nvCxnSpPr>
          <p:cNvPr id="24" name="Google Shape;24;p6"/>
          <p:cNvCxnSpPr/>
          <p:nvPr/>
        </p:nvCxnSpPr>
        <p:spPr>
          <a:xfrm>
            <a:off x="0" y="4921254"/>
            <a:ext cx="12193587" cy="0"/>
          </a:xfrm>
          <a:prstGeom prst="straightConnector1">
            <a:avLst/>
          </a:prstGeom>
          <a:noFill/>
          <a:ln cap="flat" cmpd="sng" w="9525">
            <a:solidFill>
              <a:srgbClr val="3F3F3F"/>
            </a:solidFill>
            <a:prstDash val="solid"/>
            <a:round/>
            <a:headEnd len="sm" w="sm" type="none"/>
            <a:tailEnd len="sm" w="sm" type="none"/>
          </a:ln>
        </p:spPr>
      </p:cxnSp>
      <p:sp>
        <p:nvSpPr>
          <p:cNvPr id="25" name="Google Shape;25;p6"/>
          <p:cNvSpPr txBox="1"/>
          <p:nvPr>
            <p:ph type="title"/>
          </p:nvPr>
        </p:nvSpPr>
        <p:spPr>
          <a:xfrm>
            <a:off x="720000" y="5490000"/>
            <a:ext cx="8640000" cy="540000"/>
          </a:xfrm>
          <a:prstGeom prst="rect">
            <a:avLst/>
          </a:prstGeom>
          <a:noFill/>
          <a:ln>
            <a:noFill/>
          </a:ln>
        </p:spPr>
        <p:txBody>
          <a:bodyPr anchorCtr="0" anchor="ctr" bIns="0" lIns="0" spcFirstLastPara="1" rIns="0" wrap="square" tIns="0">
            <a:normAutofit/>
          </a:bodyPr>
          <a:lstStyle>
            <a:lvl1pPr lvl="0" algn="l">
              <a:spcBef>
                <a:spcPts val="0"/>
              </a:spcBef>
              <a:spcAft>
                <a:spcPts val="0"/>
              </a:spcAft>
              <a:buClr>
                <a:schemeClr val="lt1"/>
              </a:buClr>
              <a:buSzPts val="3200"/>
              <a:buFont typeface="Titillium Web"/>
              <a:buNone/>
              <a:defRPr sz="3200">
                <a:solidFill>
                  <a:schemeClr val="lt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6"/>
          <p:cNvSpPr txBox="1"/>
          <p:nvPr>
            <p:ph idx="2" type="body"/>
          </p:nvPr>
        </p:nvSpPr>
        <p:spPr>
          <a:xfrm>
            <a:off x="720000" y="6030000"/>
            <a:ext cx="8640000" cy="360000"/>
          </a:xfrm>
          <a:prstGeom prst="rect">
            <a:avLst/>
          </a:prstGeom>
          <a:noFill/>
          <a:ln>
            <a:noFill/>
          </a:ln>
        </p:spPr>
        <p:txBody>
          <a:bodyPr anchorCtr="0" anchor="ctr" bIns="0" lIns="0" spcFirstLastPara="1" rIns="0" wrap="square" tIns="0">
            <a:noAutofit/>
          </a:bodyPr>
          <a:lstStyle>
            <a:lvl1pPr indent="-228600" lvl="0" marL="457200" marR="0" rtl="0" algn="l">
              <a:lnSpc>
                <a:spcPct val="100000"/>
              </a:lnSpc>
              <a:spcBef>
                <a:spcPts val="320"/>
              </a:spcBef>
              <a:spcAft>
                <a:spcPts val="0"/>
              </a:spcAft>
              <a:buClr>
                <a:schemeClr val="lt1"/>
              </a:buClr>
              <a:buSzPts val="1600"/>
              <a:buFont typeface="Arial"/>
              <a:buNone/>
              <a:defRPr b="0" i="0" sz="1600" u="none" cap="none" strike="noStrike">
                <a:solidFill>
                  <a:schemeClr val="lt1"/>
                </a:solidFill>
                <a:latin typeface="Titillium Web"/>
                <a:ea typeface="Titillium Web"/>
                <a:cs typeface="Titillium Web"/>
                <a:sym typeface="Titillium Web"/>
              </a:defRPr>
            </a:lvl1pPr>
            <a:lvl2pPr indent="-228600" lvl="1" marL="914400" marR="0" rtl="0" algn="l">
              <a:lnSpc>
                <a:spcPct val="100000"/>
              </a:lnSpc>
              <a:spcBef>
                <a:spcPts val="300"/>
              </a:spcBef>
              <a:spcAft>
                <a:spcPts val="0"/>
              </a:spcAft>
              <a:buClr>
                <a:schemeClr val="dk1"/>
              </a:buClr>
              <a:buSzPts val="1500"/>
              <a:buFont typeface="Arial"/>
              <a:buNone/>
              <a:defRPr b="0" i="0" sz="1500" u="none" cap="none" strike="noStrike">
                <a:solidFill>
                  <a:schemeClr val="dk1"/>
                </a:solidFill>
                <a:latin typeface="Titillium Web"/>
                <a:ea typeface="Titillium Web"/>
                <a:cs typeface="Titillium Web"/>
                <a:sym typeface="Titillium Web"/>
              </a:defRPr>
            </a:lvl2pPr>
            <a:lvl3pPr indent="-228600" lvl="2" marL="1371600" marR="0" rtl="0" algn="l">
              <a:lnSpc>
                <a:spcPct val="100000"/>
              </a:lnSpc>
              <a:spcBef>
                <a:spcPts val="270"/>
              </a:spcBef>
              <a:spcAft>
                <a:spcPts val="0"/>
              </a:spcAft>
              <a:buClr>
                <a:schemeClr val="dk1"/>
              </a:buClr>
              <a:buSzPts val="1350"/>
              <a:buFont typeface="Arial"/>
              <a:buNone/>
              <a:defRPr b="0" i="0" sz="1350" u="none" cap="none" strike="noStrike">
                <a:solidFill>
                  <a:schemeClr val="dk1"/>
                </a:solidFill>
                <a:latin typeface="Titillium Web"/>
                <a:ea typeface="Titillium Web"/>
                <a:cs typeface="Titillium Web"/>
                <a:sym typeface="Titillium Web"/>
              </a:defRPr>
            </a:lvl3pPr>
            <a:lvl4pPr indent="-228600" lvl="3" marL="1828800" marR="0" rtl="0" algn="l">
              <a:spcBef>
                <a:spcPts val="300"/>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4pPr>
            <a:lvl5pPr indent="-228600" lvl="4" marL="2286000" marR="0" rtl="0" algn="l">
              <a:spcBef>
                <a:spcPts val="300"/>
              </a:spcBef>
              <a:spcAft>
                <a:spcPts val="0"/>
              </a:spcAft>
              <a:buClr>
                <a:schemeClr val="dk1"/>
              </a:buClr>
              <a:buSzPts val="1500"/>
              <a:buFont typeface="Arial"/>
              <a:buNone/>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27" name="Google Shape;27;p6"/>
          <p:cNvSpPr txBox="1"/>
          <p:nvPr/>
        </p:nvSpPr>
        <p:spPr>
          <a:xfrm>
            <a:off x="3358662" y="-1186962"/>
            <a:ext cx="0" cy="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28" name="Google Shape;28;p6"/>
          <p:cNvPicPr preferRelativeResize="0"/>
          <p:nvPr/>
        </p:nvPicPr>
        <p:blipFill rotWithShape="1">
          <a:blip r:embed="rId2">
            <a:alphaModFix/>
          </a:blip>
          <a:srcRect b="25283" l="-63" r="-133" t="-151"/>
          <a:stretch/>
        </p:blipFill>
        <p:spPr>
          <a:xfrm>
            <a:off x="-1" y="810000"/>
            <a:ext cx="12193589" cy="4140000"/>
          </a:xfrm>
          <a:prstGeom prst="rect">
            <a:avLst/>
          </a:prstGeom>
          <a:noFill/>
          <a:ln>
            <a:noFill/>
          </a:ln>
        </p:spPr>
      </p:pic>
      <p:cxnSp>
        <p:nvCxnSpPr>
          <p:cNvPr id="29" name="Google Shape;29;p6"/>
          <p:cNvCxnSpPr/>
          <p:nvPr/>
        </p:nvCxnSpPr>
        <p:spPr>
          <a:xfrm>
            <a:off x="-1" y="4950000"/>
            <a:ext cx="12186000" cy="0"/>
          </a:xfrm>
          <a:prstGeom prst="straightConnector1">
            <a:avLst/>
          </a:prstGeom>
          <a:noFill/>
          <a:ln cap="flat" cmpd="sng" w="19050">
            <a:solidFill>
              <a:srgbClr val="0C0C0C"/>
            </a:solidFill>
            <a:prstDash val="solid"/>
            <a:round/>
            <a:headEnd len="sm" w="sm" type="none"/>
            <a:tailEnd len="sm" w="sm" type="none"/>
          </a:ln>
        </p:spPr>
      </p:cxnSp>
      <p:sp>
        <p:nvSpPr>
          <p:cNvPr id="30" name="Google Shape;30;p6"/>
          <p:cNvSpPr txBox="1"/>
          <p:nvPr/>
        </p:nvSpPr>
        <p:spPr>
          <a:xfrm>
            <a:off x="630000" y="6318000"/>
            <a:ext cx="5826834" cy="33855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US" sz="800">
                <a:solidFill>
                  <a:srgbClr val="D8D8D8"/>
                </a:solidFill>
                <a:latin typeface="Calibri"/>
                <a:ea typeface="Calibri"/>
                <a:cs typeface="Calibri"/>
                <a:sym typeface="Calibri"/>
              </a:rPr>
              <a:t>ALL RIGHTS RESERVED. No part of this work may be reproduced in any form or by any means, electronic or mechanical, including photocopying, recording, or by any information storage and retrieval system without expressed written permission from the authors.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Main Slides - Top-Title">
  <p:cSld name="CFDS - Main Slides - Top-Title">
    <p:spTree>
      <p:nvGrpSpPr>
        <p:cNvPr id="31" name="Shape 31"/>
        <p:cNvGrpSpPr/>
        <p:nvPr/>
      </p:nvGrpSpPr>
      <p:grpSpPr>
        <a:xfrm>
          <a:off x="0" y="0"/>
          <a:ext cx="0" cy="0"/>
          <a:chOff x="0" y="0"/>
          <a:chExt cx="0" cy="0"/>
        </a:xfrm>
      </p:grpSpPr>
      <p:sp>
        <p:nvSpPr>
          <p:cNvPr id="32" name="Google Shape;32;p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lvl1pPr lvl="0" algn="r">
              <a:spcBef>
                <a:spcPts val="0"/>
              </a:spcBef>
              <a:spcAft>
                <a:spcPts val="0"/>
              </a:spcAft>
              <a:buClr>
                <a:schemeClr val="lt1"/>
              </a:buClr>
              <a:buSzPts val="3200"/>
              <a:buFont typeface="Titillium Web"/>
              <a:buNone/>
              <a:defRPr b="0" sz="3200">
                <a:solidFill>
                  <a:schemeClr val="lt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lvl1pPr indent="-381000" lvl="0" marL="4572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Titillium Web"/>
                <a:ea typeface="Titillium Web"/>
                <a:cs typeface="Titillium Web"/>
                <a:sym typeface="Titillium Web"/>
              </a:defRPr>
            </a:lvl1pPr>
            <a:lvl2pPr indent="-355600" lvl="1" marL="914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Titillium Web"/>
                <a:ea typeface="Titillium Web"/>
                <a:cs typeface="Titillium Web"/>
                <a:sym typeface="Titillium Web"/>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Titillium Web"/>
                <a:ea typeface="Titillium Web"/>
                <a:cs typeface="Titillium Web"/>
                <a:sym typeface="Titillium Web"/>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34" name="Google Shape;34;p7"/>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35" name="Google Shape;35;p7"/>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extLst>
    <p:ext uri="{DCECCB84-F9BA-43D5-87BE-67443E8EF086}">
      <p15:sldGuideLst>
        <p15:guide id="1" orient="horz" pos="890">
          <p15:clr>
            <a:srgbClr val="FBAE40"/>
          </p15:clr>
        </p15:guide>
        <p15:guide id="2" orient="horz" pos="4020">
          <p15:clr>
            <a:srgbClr val="FBAE40"/>
          </p15:clr>
        </p15:guide>
        <p15:guide id="3" pos="439">
          <p15:clr>
            <a:srgbClr val="FBAE40"/>
          </p15:clr>
        </p15:guide>
        <p15:guide id="4" pos="7242">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Main Slides - In-Title">
  <p:cSld name="CFDS - Main Slides - In-Title">
    <p:spTree>
      <p:nvGrpSpPr>
        <p:cNvPr id="36" name="Shape 36"/>
        <p:cNvGrpSpPr/>
        <p:nvPr/>
      </p:nvGrpSpPr>
      <p:grpSpPr>
        <a:xfrm>
          <a:off x="0" y="0"/>
          <a:ext cx="0" cy="0"/>
          <a:chOff x="0" y="0"/>
          <a:chExt cx="0" cy="0"/>
        </a:xfrm>
      </p:grpSpPr>
      <p:sp>
        <p:nvSpPr>
          <p:cNvPr id="37" name="Google Shape;37;p8"/>
          <p:cNvSpPr txBox="1"/>
          <p:nvPr>
            <p:ph type="title"/>
          </p:nvPr>
        </p:nvSpPr>
        <p:spPr>
          <a:xfrm>
            <a:off x="720000" y="1080000"/>
            <a:ext cx="10730589" cy="370800"/>
          </a:xfrm>
          <a:prstGeom prst="rect">
            <a:avLst/>
          </a:prstGeom>
          <a:noFill/>
          <a:ln>
            <a:noFill/>
          </a:ln>
        </p:spPr>
        <p:txBody>
          <a:bodyPr anchorCtr="0" anchor="ctr" bIns="0" lIns="0" spcFirstLastPara="1" rIns="0" wrap="square" tIns="0">
            <a:noAutofit/>
          </a:bodyPr>
          <a:lstStyle>
            <a:lvl1pPr lvl="0" algn="l">
              <a:spcBef>
                <a:spcPts val="0"/>
              </a:spcBef>
              <a:spcAft>
                <a:spcPts val="0"/>
              </a:spcAft>
              <a:buClr>
                <a:schemeClr val="dk1"/>
              </a:buClr>
              <a:buSzPts val="2800"/>
              <a:buFont typeface="Titillium Web"/>
              <a:buNone/>
              <a:defRPr b="1" sz="2800">
                <a:solidFill>
                  <a:schemeClr val="dk1"/>
                </a:solidFill>
                <a:latin typeface="Titillium Web"/>
                <a:ea typeface="Titillium Web"/>
                <a:cs typeface="Titillium Web"/>
                <a:sym typeface="Titillium Web"/>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8"/>
          <p:cNvSpPr txBox="1"/>
          <p:nvPr>
            <p:ph idx="1" type="body"/>
          </p:nvPr>
        </p:nvSpPr>
        <p:spPr>
          <a:xfrm>
            <a:off x="719999" y="1800000"/>
            <a:ext cx="10753200" cy="4590000"/>
          </a:xfrm>
          <a:prstGeom prst="rect">
            <a:avLst/>
          </a:prstGeom>
          <a:noFill/>
          <a:ln>
            <a:noFill/>
          </a:ln>
        </p:spPr>
        <p:txBody>
          <a:bodyPr anchorCtr="0" anchor="t" bIns="0" lIns="0" spcFirstLastPara="1" rIns="0" wrap="square" tIns="0">
            <a:noAutofit/>
          </a:bodyPr>
          <a:lstStyle>
            <a:lvl1pPr indent="-381000" lvl="0" marL="4572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Titillium Web"/>
                <a:ea typeface="Titillium Web"/>
                <a:cs typeface="Titillium Web"/>
                <a:sym typeface="Titillium Web"/>
              </a:defRPr>
            </a:lvl1pPr>
            <a:lvl2pPr indent="-355600" lvl="1" marL="914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Titillium Web"/>
                <a:ea typeface="Titillium Web"/>
                <a:cs typeface="Titillium Web"/>
                <a:sym typeface="Titillium Web"/>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Titillium Web"/>
                <a:ea typeface="Titillium Web"/>
                <a:cs typeface="Titillium Web"/>
                <a:sym typeface="Titillium Web"/>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9pPr>
          </a:lstStyle>
          <a:p/>
        </p:txBody>
      </p:sp>
      <p:sp>
        <p:nvSpPr>
          <p:cNvPr id="39" name="Google Shape;39;p8"/>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40" name="Google Shape;40;p8"/>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extLst>
    <p:ext uri="{DCECCB84-F9BA-43D5-87BE-67443E8EF086}">
      <p15:sldGuideLst>
        <p15:guide id="1" pos="439">
          <p15:clr>
            <a:srgbClr val="FBAE40"/>
          </p15:clr>
        </p15:guide>
        <p15:guide id="2" pos="7242">
          <p15:clr>
            <a:srgbClr val="FBAE40"/>
          </p15:clr>
        </p15:guide>
        <p15:guide id="3" orient="horz" pos="1117">
          <p15:clr>
            <a:srgbClr val="547EBF"/>
          </p15:clr>
        </p15:guide>
        <p15:guide id="4" orient="horz" pos="4020">
          <p15:clr>
            <a:srgbClr val="547EBF"/>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Empty Slide" type="blank">
  <p:cSld name="BLANK">
    <p:spTree>
      <p:nvGrpSpPr>
        <p:cNvPr id="41" name="Shape 41"/>
        <p:cNvGrpSpPr/>
        <p:nvPr/>
      </p:nvGrpSpPr>
      <p:grpSpPr>
        <a:xfrm>
          <a:off x="0" y="0"/>
          <a:ext cx="0" cy="0"/>
          <a:chOff x="0" y="0"/>
          <a:chExt cx="0" cy="0"/>
        </a:xfrm>
      </p:grpSpPr>
      <p:sp>
        <p:nvSpPr>
          <p:cNvPr id="42" name="Google Shape;42;p9"/>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sz="1000">
                <a:solidFill>
                  <a:schemeClr val="lt1"/>
                </a:solidFill>
                <a:latin typeface="Titillium Web"/>
                <a:ea typeface="Titillium Web"/>
                <a:cs typeface="Titillium Web"/>
                <a:sym typeface="Titillium Web"/>
              </a:defRPr>
            </a:lvl1pPr>
            <a:lvl2pPr indent="0" lvl="1" marL="0" algn="r">
              <a:spcBef>
                <a:spcPts val="0"/>
              </a:spcBef>
              <a:buNone/>
              <a:defRPr sz="1000">
                <a:solidFill>
                  <a:schemeClr val="lt1"/>
                </a:solidFill>
                <a:latin typeface="Titillium Web"/>
                <a:ea typeface="Titillium Web"/>
                <a:cs typeface="Titillium Web"/>
                <a:sym typeface="Titillium Web"/>
              </a:defRPr>
            </a:lvl2pPr>
            <a:lvl3pPr indent="0" lvl="2" marL="0" algn="r">
              <a:spcBef>
                <a:spcPts val="0"/>
              </a:spcBef>
              <a:buNone/>
              <a:defRPr sz="1000">
                <a:solidFill>
                  <a:schemeClr val="lt1"/>
                </a:solidFill>
                <a:latin typeface="Titillium Web"/>
                <a:ea typeface="Titillium Web"/>
                <a:cs typeface="Titillium Web"/>
                <a:sym typeface="Titillium Web"/>
              </a:defRPr>
            </a:lvl3pPr>
            <a:lvl4pPr indent="0" lvl="3" marL="0" algn="r">
              <a:spcBef>
                <a:spcPts val="0"/>
              </a:spcBef>
              <a:buNone/>
              <a:defRPr sz="1000">
                <a:solidFill>
                  <a:schemeClr val="lt1"/>
                </a:solidFill>
                <a:latin typeface="Titillium Web"/>
                <a:ea typeface="Titillium Web"/>
                <a:cs typeface="Titillium Web"/>
                <a:sym typeface="Titillium Web"/>
              </a:defRPr>
            </a:lvl4pPr>
            <a:lvl5pPr indent="0" lvl="4" marL="0" algn="r">
              <a:spcBef>
                <a:spcPts val="0"/>
              </a:spcBef>
              <a:buNone/>
              <a:defRPr sz="1000">
                <a:solidFill>
                  <a:schemeClr val="lt1"/>
                </a:solidFill>
                <a:latin typeface="Titillium Web"/>
                <a:ea typeface="Titillium Web"/>
                <a:cs typeface="Titillium Web"/>
                <a:sym typeface="Titillium Web"/>
              </a:defRPr>
            </a:lvl5pPr>
            <a:lvl6pPr indent="0" lvl="5" marL="0" algn="r">
              <a:spcBef>
                <a:spcPts val="0"/>
              </a:spcBef>
              <a:buNone/>
              <a:defRPr sz="1000">
                <a:solidFill>
                  <a:schemeClr val="lt1"/>
                </a:solidFill>
                <a:latin typeface="Titillium Web"/>
                <a:ea typeface="Titillium Web"/>
                <a:cs typeface="Titillium Web"/>
                <a:sym typeface="Titillium Web"/>
              </a:defRPr>
            </a:lvl6pPr>
            <a:lvl7pPr indent="0" lvl="6" marL="0" algn="r">
              <a:spcBef>
                <a:spcPts val="0"/>
              </a:spcBef>
              <a:buNone/>
              <a:defRPr sz="1000">
                <a:solidFill>
                  <a:schemeClr val="lt1"/>
                </a:solidFill>
                <a:latin typeface="Titillium Web"/>
                <a:ea typeface="Titillium Web"/>
                <a:cs typeface="Titillium Web"/>
                <a:sym typeface="Titillium Web"/>
              </a:defRPr>
            </a:lvl7pPr>
            <a:lvl8pPr indent="0" lvl="7" marL="0" algn="r">
              <a:spcBef>
                <a:spcPts val="0"/>
              </a:spcBef>
              <a:buNone/>
              <a:defRPr sz="1000">
                <a:solidFill>
                  <a:schemeClr val="lt1"/>
                </a:solidFill>
                <a:latin typeface="Titillium Web"/>
                <a:ea typeface="Titillium Web"/>
                <a:cs typeface="Titillium Web"/>
                <a:sym typeface="Titillium Web"/>
              </a:defRPr>
            </a:lvl8pPr>
            <a:lvl9pPr indent="0" lvl="8" marL="0" algn="r">
              <a:spcBef>
                <a:spcPts val="0"/>
              </a:spcBef>
              <a:buNone/>
              <a:defRPr sz="1000">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sp>
        <p:nvSpPr>
          <p:cNvPr id="43" name="Google Shape;43;p9"/>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sz="1000">
                <a:solidFill>
                  <a:schemeClr val="lt1"/>
                </a:solidFill>
                <a:latin typeface="Titillium Web"/>
                <a:ea typeface="Titillium Web"/>
                <a:cs typeface="Titillium Web"/>
                <a:sym typeface="Titillium Web"/>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FDS - Last Slide">
  <p:cSld name="CFDS - Last Slide">
    <p:spTree>
      <p:nvGrpSpPr>
        <p:cNvPr id="44" name="Shape 44"/>
        <p:cNvGrpSpPr/>
        <p:nvPr/>
      </p:nvGrpSpPr>
      <p:grpSpPr>
        <a:xfrm>
          <a:off x="0" y="0"/>
          <a:ext cx="0" cy="0"/>
          <a:chOff x="0" y="0"/>
          <a:chExt cx="0" cy="0"/>
        </a:xfrm>
      </p:grpSpPr>
      <p:sp>
        <p:nvSpPr>
          <p:cNvPr id="45" name="Google Shape;45;p10"/>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46" name="Google Shape;46;p10"/>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0"/>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48" name="Google Shape;48;p10"/>
          <p:cNvPicPr preferRelativeResize="0"/>
          <p:nvPr/>
        </p:nvPicPr>
        <p:blipFill rotWithShape="1">
          <a:blip r:embed="rId2">
            <a:alphaModFix/>
          </a:blip>
          <a:srcRect b="28637" l="0" r="0" t="12018"/>
          <a:stretch/>
        </p:blipFill>
        <p:spPr>
          <a:xfrm>
            <a:off x="794" y="825910"/>
            <a:ext cx="12192000" cy="4739148"/>
          </a:xfrm>
          <a:prstGeom prst="rect">
            <a:avLst/>
          </a:prstGeom>
          <a:noFill/>
          <a:ln>
            <a:noFill/>
          </a:ln>
        </p:spPr>
      </p:pic>
      <p:cxnSp>
        <p:nvCxnSpPr>
          <p:cNvPr id="49" name="Google Shape;49;p10"/>
          <p:cNvCxnSpPr/>
          <p:nvPr/>
        </p:nvCxnSpPr>
        <p:spPr>
          <a:xfrm>
            <a:off x="-1" y="5580000"/>
            <a:ext cx="12186000" cy="0"/>
          </a:xfrm>
          <a:prstGeom prst="straightConnector1">
            <a:avLst/>
          </a:prstGeom>
          <a:noFill/>
          <a:ln cap="flat" cmpd="sng" w="19050">
            <a:solidFill>
              <a:srgbClr val="0C0C0C"/>
            </a:solidFill>
            <a:prstDash val="solid"/>
            <a:round/>
            <a:headEnd len="sm" w="sm" type="none"/>
            <a:tailEnd len="sm" w="sm" type="none"/>
          </a:ln>
        </p:spPr>
      </p:cxnSp>
      <p:sp>
        <p:nvSpPr>
          <p:cNvPr id="50" name="Google Shape;50;p10"/>
          <p:cNvSpPr txBox="1"/>
          <p:nvPr>
            <p:ph type="title"/>
          </p:nvPr>
        </p:nvSpPr>
        <p:spPr>
          <a:xfrm>
            <a:off x="696913" y="5841328"/>
            <a:ext cx="8233200" cy="5400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Clr>
                <a:schemeClr val="lt1"/>
              </a:buClr>
              <a:buSzPts val="3200"/>
              <a:buFont typeface="Titillium Web"/>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1.jpg"/><Relationship Id="rId2" Type="http://schemas.openxmlformats.org/officeDocument/2006/relationships/image" Target="../media/image3.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5"/>
          <p:cNvSpPr/>
          <p:nvPr/>
        </p:nvSpPr>
        <p:spPr>
          <a:xfrm>
            <a:off x="0" y="6678000"/>
            <a:ext cx="12193588" cy="180000"/>
          </a:xfrm>
          <a:prstGeom prst="rect">
            <a:avLst/>
          </a:prstGeom>
          <a:solidFill>
            <a:srgbClr val="26262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350" u="none" cap="none" strike="noStrike">
              <a:solidFill>
                <a:schemeClr val="dk1"/>
              </a:solidFill>
              <a:latin typeface="Arial"/>
              <a:ea typeface="Arial"/>
              <a:cs typeface="Arial"/>
              <a:sym typeface="Arial"/>
            </a:endParaRPr>
          </a:p>
        </p:txBody>
      </p:sp>
      <p:sp>
        <p:nvSpPr>
          <p:cNvPr id="11" name="Google Shape;11;p5"/>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000" u="none" cap="none" strike="noStrike">
                <a:solidFill>
                  <a:schemeClr val="lt1"/>
                </a:solidFill>
                <a:latin typeface="Titillium Web"/>
                <a:ea typeface="Titillium Web"/>
                <a:cs typeface="Titillium Web"/>
                <a:sym typeface="Titillium Web"/>
              </a:defRPr>
            </a:lvl1pPr>
            <a:lvl2pPr indent="0" lvl="1" marL="0" marR="0" rtl="0" algn="r">
              <a:spcBef>
                <a:spcPts val="0"/>
              </a:spcBef>
              <a:buNone/>
              <a:defRPr b="0" i="0" sz="1000" u="none" cap="none" strike="noStrike">
                <a:solidFill>
                  <a:schemeClr val="lt1"/>
                </a:solidFill>
                <a:latin typeface="Titillium Web"/>
                <a:ea typeface="Titillium Web"/>
                <a:cs typeface="Titillium Web"/>
                <a:sym typeface="Titillium Web"/>
              </a:defRPr>
            </a:lvl2pPr>
            <a:lvl3pPr indent="0" lvl="2" marL="0" marR="0" rtl="0" algn="r">
              <a:spcBef>
                <a:spcPts val="0"/>
              </a:spcBef>
              <a:buNone/>
              <a:defRPr b="0" i="0" sz="1000" u="none" cap="none" strike="noStrike">
                <a:solidFill>
                  <a:schemeClr val="lt1"/>
                </a:solidFill>
                <a:latin typeface="Titillium Web"/>
                <a:ea typeface="Titillium Web"/>
                <a:cs typeface="Titillium Web"/>
                <a:sym typeface="Titillium Web"/>
              </a:defRPr>
            </a:lvl3pPr>
            <a:lvl4pPr indent="0" lvl="3" marL="0" marR="0" rtl="0" algn="r">
              <a:spcBef>
                <a:spcPts val="0"/>
              </a:spcBef>
              <a:buNone/>
              <a:defRPr b="0" i="0" sz="1000" u="none" cap="none" strike="noStrike">
                <a:solidFill>
                  <a:schemeClr val="lt1"/>
                </a:solidFill>
                <a:latin typeface="Titillium Web"/>
                <a:ea typeface="Titillium Web"/>
                <a:cs typeface="Titillium Web"/>
                <a:sym typeface="Titillium Web"/>
              </a:defRPr>
            </a:lvl4pPr>
            <a:lvl5pPr indent="0" lvl="4" marL="0" marR="0" rtl="0" algn="r">
              <a:spcBef>
                <a:spcPts val="0"/>
              </a:spcBef>
              <a:buNone/>
              <a:defRPr b="0" i="0" sz="1000" u="none" cap="none" strike="noStrike">
                <a:solidFill>
                  <a:schemeClr val="lt1"/>
                </a:solidFill>
                <a:latin typeface="Titillium Web"/>
                <a:ea typeface="Titillium Web"/>
                <a:cs typeface="Titillium Web"/>
                <a:sym typeface="Titillium Web"/>
              </a:defRPr>
            </a:lvl5pPr>
            <a:lvl6pPr indent="0" lvl="5" marL="0" marR="0" rtl="0" algn="r">
              <a:spcBef>
                <a:spcPts val="0"/>
              </a:spcBef>
              <a:buNone/>
              <a:defRPr b="0" i="0" sz="1000" u="none" cap="none" strike="noStrike">
                <a:solidFill>
                  <a:schemeClr val="lt1"/>
                </a:solidFill>
                <a:latin typeface="Titillium Web"/>
                <a:ea typeface="Titillium Web"/>
                <a:cs typeface="Titillium Web"/>
                <a:sym typeface="Titillium Web"/>
              </a:defRPr>
            </a:lvl6pPr>
            <a:lvl7pPr indent="0" lvl="6" marL="0" marR="0" rtl="0" algn="r">
              <a:spcBef>
                <a:spcPts val="0"/>
              </a:spcBef>
              <a:buNone/>
              <a:defRPr b="0" i="0" sz="1000" u="none" cap="none" strike="noStrike">
                <a:solidFill>
                  <a:schemeClr val="lt1"/>
                </a:solidFill>
                <a:latin typeface="Titillium Web"/>
                <a:ea typeface="Titillium Web"/>
                <a:cs typeface="Titillium Web"/>
                <a:sym typeface="Titillium Web"/>
              </a:defRPr>
            </a:lvl7pPr>
            <a:lvl8pPr indent="0" lvl="7" marL="0" marR="0" rtl="0" algn="r">
              <a:spcBef>
                <a:spcPts val="0"/>
              </a:spcBef>
              <a:buNone/>
              <a:defRPr b="0" i="0" sz="1000" u="none" cap="none" strike="noStrike">
                <a:solidFill>
                  <a:schemeClr val="lt1"/>
                </a:solidFill>
                <a:latin typeface="Titillium Web"/>
                <a:ea typeface="Titillium Web"/>
                <a:cs typeface="Titillium Web"/>
                <a:sym typeface="Titillium Web"/>
              </a:defRPr>
            </a:lvl8pPr>
            <a:lvl9pPr indent="0" lvl="8" marL="0" marR="0" rtl="0" algn="r">
              <a:spcBef>
                <a:spcPts val="0"/>
              </a:spcBef>
              <a:buNone/>
              <a:defRPr b="0" i="0" sz="1000" u="none" cap="none" strike="noStrike">
                <a:solidFill>
                  <a:schemeClr val="lt1"/>
                </a:solidFill>
                <a:latin typeface="Titillium Web"/>
                <a:ea typeface="Titillium Web"/>
                <a:cs typeface="Titillium Web"/>
                <a:sym typeface="Titillium Web"/>
              </a:defRPr>
            </a:lvl9pPr>
          </a:lstStyle>
          <a:p>
            <a:pPr indent="0" lvl="0" marL="0" rtl="0" algn="r">
              <a:spcBef>
                <a:spcPts val="0"/>
              </a:spcBef>
              <a:spcAft>
                <a:spcPts val="0"/>
              </a:spcAft>
              <a:buNone/>
            </a:pPr>
            <a:fld id="{00000000-1234-1234-1234-123412341234}" type="slidenum">
              <a:rPr lang="en-US"/>
              <a:t>‹#›</a:t>
            </a:fld>
            <a:endParaRPr/>
          </a:p>
        </p:txBody>
      </p:sp>
      <p:pic>
        <p:nvPicPr>
          <p:cNvPr id="12" name="Google Shape;12;p5"/>
          <p:cNvPicPr preferRelativeResize="0"/>
          <p:nvPr/>
        </p:nvPicPr>
        <p:blipFill rotWithShape="1">
          <a:blip r:embed="rId1">
            <a:alphaModFix/>
          </a:blip>
          <a:srcRect b="0" l="0" r="0" t="0"/>
          <a:stretch/>
        </p:blipFill>
        <p:spPr>
          <a:xfrm>
            <a:off x="540000" y="180000"/>
            <a:ext cx="2371115" cy="626251"/>
          </a:xfrm>
          <a:prstGeom prst="rect">
            <a:avLst/>
          </a:prstGeom>
          <a:noFill/>
          <a:ln>
            <a:noFill/>
          </a:ln>
        </p:spPr>
      </p:pic>
      <p:sp>
        <p:nvSpPr>
          <p:cNvPr id="13" name="Google Shape;13;p5"/>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000" u="none" cap="none" strike="noStrike">
                <a:solidFill>
                  <a:schemeClr val="lt1"/>
                </a:solidFill>
                <a:latin typeface="Titillium Web"/>
                <a:ea typeface="Titillium Web"/>
                <a:cs typeface="Titillium Web"/>
                <a:sym typeface="Titillium Web"/>
              </a:defRPr>
            </a:lvl1pPr>
            <a:lvl2pPr lvl="1" marR="0" rtl="0" algn="l">
              <a:spcBef>
                <a:spcPts val="0"/>
              </a:spcBef>
              <a:spcAft>
                <a:spcPts val="0"/>
              </a:spcAft>
              <a:buSzPts val="1400"/>
              <a:buNone/>
              <a:defRPr b="0" i="0" sz="1867"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67"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67"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67"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67"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67"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67"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67" u="none" cap="none" strike="noStrike">
                <a:solidFill>
                  <a:schemeClr val="dk1"/>
                </a:solidFill>
                <a:latin typeface="Arial"/>
                <a:ea typeface="Arial"/>
                <a:cs typeface="Arial"/>
                <a:sym typeface="Arial"/>
              </a:defRPr>
            </a:lvl9pPr>
          </a:lstStyle>
          <a:p/>
        </p:txBody>
      </p:sp>
      <p:sp>
        <p:nvSpPr>
          <p:cNvPr id="14" name="Google Shape;14;p5"/>
          <p:cNvSpPr txBox="1"/>
          <p:nvPr>
            <p:ph type="title"/>
          </p:nvPr>
        </p:nvSpPr>
        <p:spPr>
          <a:xfrm>
            <a:off x="3240000" y="288000"/>
            <a:ext cx="8233200" cy="540000"/>
          </a:xfrm>
          <a:prstGeom prst="rect">
            <a:avLst/>
          </a:prstGeom>
          <a:noFill/>
          <a:ln>
            <a:noFill/>
          </a:ln>
        </p:spPr>
        <p:txBody>
          <a:bodyPr anchorCtr="0" anchor="ctr" bIns="45700" lIns="91425" spcFirstLastPara="1" rIns="91425" wrap="square" tIns="45700">
            <a:normAutofit/>
          </a:bodyPr>
          <a:lstStyle>
            <a:lvl1pPr lvl="0" marR="0" rtl="0" algn="r">
              <a:spcBef>
                <a:spcPts val="0"/>
              </a:spcBef>
              <a:spcAft>
                <a:spcPts val="0"/>
              </a:spcAft>
              <a:buClr>
                <a:srgbClr val="262626"/>
              </a:buClr>
              <a:buSzPts val="3200"/>
              <a:buFont typeface="Titillium Web"/>
              <a:buNone/>
              <a:defRPr b="0" i="0" sz="3200" u="none" cap="none" strike="noStrike">
                <a:solidFill>
                  <a:srgbClr val="262626"/>
                </a:solidFill>
                <a:latin typeface="Titillium Web"/>
                <a:ea typeface="Titillium Web"/>
                <a:cs typeface="Titillium Web"/>
                <a:sym typeface="Titillium Web"/>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5" name="Google Shape;15;p5"/>
          <p:cNvSpPr/>
          <p:nvPr/>
        </p:nvSpPr>
        <p:spPr>
          <a:xfrm>
            <a:off x="0" y="0"/>
            <a:ext cx="12193588" cy="828675"/>
          </a:xfrm>
          <a:prstGeom prst="rect">
            <a:avLst/>
          </a:prstGeom>
          <a:solidFill>
            <a:srgbClr val="3F3F3F">
              <a:alpha val="98823"/>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pic>
        <p:nvPicPr>
          <p:cNvPr descr="FDS_logo-white.png" id="16" name="Google Shape;16;p5"/>
          <p:cNvPicPr preferRelativeResize="0"/>
          <p:nvPr/>
        </p:nvPicPr>
        <p:blipFill rotWithShape="1">
          <a:blip r:embed="rId2">
            <a:alphaModFix/>
          </a:blip>
          <a:srcRect b="0" l="0" r="0" t="0"/>
          <a:stretch/>
        </p:blipFill>
        <p:spPr>
          <a:xfrm>
            <a:off x="323528" y="44624"/>
            <a:ext cx="1512168" cy="554462"/>
          </a:xfrm>
          <a:prstGeom prst="rect">
            <a:avLst/>
          </a:prstGeom>
          <a:noFill/>
          <a:ln>
            <a:noFill/>
          </a:ln>
        </p:spPr>
      </p:pic>
      <p:sp>
        <p:nvSpPr>
          <p:cNvPr id="17" name="Google Shape;17;p5"/>
          <p:cNvSpPr/>
          <p:nvPr/>
        </p:nvSpPr>
        <p:spPr>
          <a:xfrm>
            <a:off x="0" y="720725"/>
            <a:ext cx="5759450" cy="107950"/>
          </a:xfrm>
          <a:prstGeom prst="rect">
            <a:avLst/>
          </a:prstGeom>
          <a:solidFill>
            <a:srgbClr val="F26901">
              <a:alpha val="98823"/>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sp>
        <p:nvSpPr>
          <p:cNvPr id="18" name="Google Shape;18;p5"/>
          <p:cNvSpPr/>
          <p:nvPr/>
        </p:nvSpPr>
        <p:spPr>
          <a:xfrm>
            <a:off x="0" y="720725"/>
            <a:ext cx="4319588" cy="107950"/>
          </a:xfrm>
          <a:prstGeom prst="rect">
            <a:avLst/>
          </a:prstGeom>
          <a:solidFill>
            <a:srgbClr val="FF960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sp>
        <p:nvSpPr>
          <p:cNvPr id="19" name="Google Shape;19;p5"/>
          <p:cNvSpPr/>
          <p:nvPr/>
        </p:nvSpPr>
        <p:spPr>
          <a:xfrm>
            <a:off x="0" y="720000"/>
            <a:ext cx="2232248" cy="107950"/>
          </a:xfrm>
          <a:prstGeom prst="rect">
            <a:avLst/>
          </a:prstGeom>
          <a:solidFill>
            <a:srgbClr val="FFCC0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67" u="none" cap="none" strike="noStrike">
              <a:solidFill>
                <a:srgbClr val="000000"/>
              </a:solidFill>
              <a:latin typeface="Arial"/>
              <a:ea typeface="Arial"/>
              <a:cs typeface="Arial"/>
              <a:sym typeface="Arial"/>
            </a:endParaRPr>
          </a:p>
        </p:txBody>
      </p:sp>
      <p:cxnSp>
        <p:nvCxnSpPr>
          <p:cNvPr id="20" name="Google Shape;20;p5"/>
          <p:cNvCxnSpPr/>
          <p:nvPr/>
        </p:nvCxnSpPr>
        <p:spPr>
          <a:xfrm>
            <a:off x="-609301" y="6678000"/>
            <a:ext cx="13404600" cy="0"/>
          </a:xfrm>
          <a:prstGeom prst="straightConnector1">
            <a:avLst/>
          </a:prstGeom>
          <a:noFill/>
          <a:ln cap="flat" cmpd="sng" w="12700">
            <a:solidFill>
              <a:schemeClr val="dk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5.png"/><Relationship Id="rId8"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7.png"/><Relationship Id="rId4" Type="http://schemas.openxmlformats.org/officeDocument/2006/relationships/image" Target="../media/image4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8.png"/><Relationship Id="rId4"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2.png"/><Relationship Id="rId4" Type="http://schemas.openxmlformats.org/officeDocument/2006/relationships/image" Target="../media/image3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3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7.png"/><Relationship Id="rId4"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3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4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4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4.png"/><Relationship Id="rId4" Type="http://schemas.openxmlformats.org/officeDocument/2006/relationships/image" Target="../media/image4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hyperlink" Target="https://www.kaggle.com/datasets/dyutidasmahaptra/s-and-p-500-with-financial-news-headlines-20082024" TargetMode="External"/><Relationship Id="rId4" Type="http://schemas.openxmlformats.org/officeDocument/2006/relationships/hyperlink" Target="https://www.kaggle.com/datasets/dyutidasmahaptra/s-and-p-500-with-financial-news-headlines-20082024" TargetMode="External"/><Relationship Id="rId5"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huggingface.co/ProsusAI/finbert" TargetMode="External"/><Relationship Id="rId4" Type="http://schemas.openxmlformats.org/officeDocument/2006/relationships/hyperlink" Target="https://www.researchgate.net/publication/251231107_Good_Debt_or_Bad_Debt_Detecting_Semantic_Orientations_in_Economic_Texts" TargetMode="External"/><Relationship Id="rId5"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5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5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6.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1"/>
          <p:cNvSpPr txBox="1"/>
          <p:nvPr>
            <p:ph idx="1" type="subTitle"/>
          </p:nvPr>
        </p:nvSpPr>
        <p:spPr>
          <a:xfrm>
            <a:off x="720000" y="5220000"/>
            <a:ext cx="8640000" cy="2700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Clr>
                <a:schemeClr val="lt1"/>
              </a:buClr>
              <a:buSzPts val="1600"/>
              <a:buNone/>
            </a:pPr>
            <a:r>
              <a:rPr lang="en-US"/>
              <a:t>Chartered Financial Data Scientist (CFDS)</a:t>
            </a:r>
            <a:endParaRPr/>
          </a:p>
        </p:txBody>
      </p:sp>
      <p:sp>
        <p:nvSpPr>
          <p:cNvPr id="57" name="Google Shape;57;p1"/>
          <p:cNvSpPr txBox="1"/>
          <p:nvPr>
            <p:ph type="title"/>
          </p:nvPr>
        </p:nvSpPr>
        <p:spPr>
          <a:xfrm>
            <a:off x="720000" y="5490000"/>
            <a:ext cx="8640000" cy="540000"/>
          </a:xfrm>
          <a:prstGeom prst="rect">
            <a:avLst/>
          </a:prstGeom>
          <a:noFill/>
          <a:ln>
            <a:noFill/>
          </a:ln>
        </p:spPr>
        <p:txBody>
          <a:bodyPr anchorCtr="0" anchor="ctr" bIns="0" lIns="0" spcFirstLastPara="1" rIns="0" wrap="square" tIns="0">
            <a:normAutofit/>
          </a:bodyPr>
          <a:lstStyle/>
          <a:p>
            <a:pPr indent="0" lvl="0" marL="0" rtl="0" algn="l">
              <a:spcBef>
                <a:spcPts val="0"/>
              </a:spcBef>
              <a:spcAft>
                <a:spcPts val="0"/>
              </a:spcAft>
              <a:buClr>
                <a:schemeClr val="dk1"/>
              </a:buClr>
              <a:buSzPts val="1100"/>
              <a:buFont typeface="Arial"/>
              <a:buNone/>
            </a:pPr>
            <a:r>
              <a:rPr b="1" lang="en-US" sz="1600">
                <a:latin typeface="Calibri"/>
                <a:ea typeface="Calibri"/>
                <a:cs typeface="Calibri"/>
                <a:sym typeface="Calibri"/>
              </a:rPr>
              <a:t>Study on the Tail Distribution of Stock Returns: From Empirical Analysis to Factor Explanations</a:t>
            </a:r>
            <a:endParaRPr sz="3800"/>
          </a:p>
        </p:txBody>
      </p:sp>
      <p:sp>
        <p:nvSpPr>
          <p:cNvPr id="58" name="Google Shape;58;p1"/>
          <p:cNvSpPr txBox="1"/>
          <p:nvPr>
            <p:ph idx="2" type="body"/>
          </p:nvPr>
        </p:nvSpPr>
        <p:spPr>
          <a:xfrm>
            <a:off x="720000" y="6030000"/>
            <a:ext cx="8640000" cy="360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1600"/>
              <a:buFont typeface="Arial"/>
              <a:buNone/>
            </a:pPr>
            <a:r>
              <a:rPr lang="en-US"/>
              <a:t>CFDS-11 – Project Presentation - Pierre Nibéron</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2"/>
          <p:cNvSpPr txBox="1"/>
          <p:nvPr>
            <p:ph type="title"/>
          </p:nvPr>
        </p:nvSpPr>
        <p:spPr>
          <a:xfrm>
            <a:off x="3240000" y="116632"/>
            <a:ext cx="8233200" cy="540000"/>
          </a:xfrm>
          <a:prstGeom prst="rect">
            <a:avLst/>
          </a:prstGeom>
          <a:noFill/>
          <a:ln>
            <a:noFill/>
          </a:ln>
        </p:spPr>
        <p:txBody>
          <a:bodyPr anchorCtr="0" anchor="ctr" bIns="0" lIns="0" spcFirstLastPara="1" rIns="0" wrap="square" tIns="0">
            <a:normAutofit/>
          </a:bodyPr>
          <a:lstStyle/>
          <a:p>
            <a:pPr indent="0" lvl="0" marL="0" rtl="0" algn="r">
              <a:spcBef>
                <a:spcPts val="0"/>
              </a:spcBef>
              <a:spcAft>
                <a:spcPts val="0"/>
              </a:spcAft>
              <a:buClr>
                <a:schemeClr val="lt1"/>
              </a:buClr>
              <a:buSzPts val="3200"/>
              <a:buFont typeface="Titillium Web"/>
              <a:buNone/>
            </a:pPr>
            <a:r>
              <a:rPr lang="en-US"/>
              <a:t>Contents</a:t>
            </a:r>
            <a:endParaRPr/>
          </a:p>
        </p:txBody>
      </p:sp>
      <p:sp>
        <p:nvSpPr>
          <p:cNvPr id="65" name="Google Shape;65;p2"/>
          <p:cNvSpPr txBox="1"/>
          <p:nvPr>
            <p:ph idx="1" type="body"/>
          </p:nvPr>
        </p:nvSpPr>
        <p:spPr>
          <a:xfrm>
            <a:off x="719400" y="1138313"/>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sz="2400"/>
              <a:t>Motivation</a:t>
            </a:r>
            <a:endParaRPr/>
          </a:p>
          <a:p>
            <a:pPr indent="-342900" lvl="0" marL="342900" rtl="0" algn="l">
              <a:lnSpc>
                <a:spcPct val="100000"/>
              </a:lnSpc>
              <a:spcBef>
                <a:spcPts val="480"/>
              </a:spcBef>
              <a:spcAft>
                <a:spcPts val="0"/>
              </a:spcAft>
              <a:buClr>
                <a:schemeClr val="dk1"/>
              </a:buClr>
              <a:buSzPts val="2400"/>
              <a:buFont typeface="Arial"/>
              <a:buChar char="•"/>
            </a:pPr>
            <a:r>
              <a:rPr lang="en-US" sz="2400"/>
              <a:t>Problem Description</a:t>
            </a:r>
            <a:endParaRPr/>
          </a:p>
          <a:p>
            <a:pPr indent="-342900" lvl="0" marL="342900" rtl="0" algn="l">
              <a:lnSpc>
                <a:spcPct val="100000"/>
              </a:lnSpc>
              <a:spcBef>
                <a:spcPts val="480"/>
              </a:spcBef>
              <a:spcAft>
                <a:spcPts val="0"/>
              </a:spcAft>
              <a:buClr>
                <a:schemeClr val="dk1"/>
              </a:buClr>
              <a:buSzPts val="2400"/>
              <a:buFont typeface="Arial"/>
              <a:buChar char="•"/>
            </a:pPr>
            <a:r>
              <a:rPr lang="en-US" sz="2400"/>
              <a:t>Data</a:t>
            </a:r>
            <a:endParaRPr/>
          </a:p>
          <a:p>
            <a:pPr indent="-342900" lvl="0" marL="342900" rtl="0" algn="l">
              <a:lnSpc>
                <a:spcPct val="100000"/>
              </a:lnSpc>
              <a:spcBef>
                <a:spcPts val="480"/>
              </a:spcBef>
              <a:spcAft>
                <a:spcPts val="0"/>
              </a:spcAft>
              <a:buClr>
                <a:schemeClr val="dk1"/>
              </a:buClr>
              <a:buSzPts val="2400"/>
              <a:buFont typeface="Arial"/>
              <a:buChar char="•"/>
            </a:pPr>
            <a:r>
              <a:rPr lang="en-US"/>
              <a:t>Whole S&amp;P500 description</a:t>
            </a:r>
            <a:endParaRPr/>
          </a:p>
          <a:p>
            <a:pPr indent="-342900" lvl="0" marL="342900" rtl="0" algn="l">
              <a:lnSpc>
                <a:spcPct val="100000"/>
              </a:lnSpc>
              <a:spcBef>
                <a:spcPts val="480"/>
              </a:spcBef>
              <a:spcAft>
                <a:spcPts val="0"/>
              </a:spcAft>
              <a:buSzPts val="2400"/>
              <a:buChar char="•"/>
            </a:pPr>
            <a:r>
              <a:rPr lang="en-US"/>
              <a:t>Tails description</a:t>
            </a:r>
            <a:endParaRPr/>
          </a:p>
          <a:p>
            <a:pPr indent="-342900" lvl="0" marL="342900" rtl="0" algn="l">
              <a:lnSpc>
                <a:spcPct val="100000"/>
              </a:lnSpc>
              <a:spcBef>
                <a:spcPts val="480"/>
              </a:spcBef>
              <a:spcAft>
                <a:spcPts val="0"/>
              </a:spcAft>
              <a:buSzPts val="2400"/>
              <a:buChar char="•"/>
            </a:pPr>
            <a:r>
              <a:rPr lang="en-US"/>
              <a:t>Time clustering</a:t>
            </a:r>
            <a:endParaRPr/>
          </a:p>
          <a:p>
            <a:pPr indent="-342900" lvl="0" marL="342900" rtl="0" algn="l">
              <a:lnSpc>
                <a:spcPct val="100000"/>
              </a:lnSpc>
              <a:spcBef>
                <a:spcPts val="480"/>
              </a:spcBef>
              <a:spcAft>
                <a:spcPts val="0"/>
              </a:spcAft>
              <a:buSzPts val="2400"/>
              <a:buChar char="•"/>
            </a:pPr>
            <a:r>
              <a:rPr lang="en-US"/>
              <a:t>Sector clustering</a:t>
            </a:r>
            <a:endParaRPr/>
          </a:p>
          <a:p>
            <a:pPr indent="-342900" lvl="0" marL="342900" rtl="0" algn="l">
              <a:lnSpc>
                <a:spcPct val="100000"/>
              </a:lnSpc>
              <a:spcBef>
                <a:spcPts val="480"/>
              </a:spcBef>
              <a:spcAft>
                <a:spcPts val="0"/>
              </a:spcAft>
              <a:buSzPts val="2400"/>
              <a:buChar char="•"/>
            </a:pPr>
            <a:r>
              <a:rPr lang="en-US"/>
              <a:t>Modeling</a:t>
            </a:r>
            <a:endParaRPr/>
          </a:p>
          <a:p>
            <a:pPr indent="-214313" lvl="1" marL="557213" rtl="0" algn="l">
              <a:lnSpc>
                <a:spcPct val="100000"/>
              </a:lnSpc>
              <a:spcBef>
                <a:spcPts val="480"/>
              </a:spcBef>
              <a:spcAft>
                <a:spcPts val="0"/>
              </a:spcAft>
              <a:buSzPts val="2000"/>
              <a:buChar char="–"/>
            </a:pPr>
            <a:r>
              <a:rPr lang="en-US"/>
              <a:t>CAPM</a:t>
            </a:r>
            <a:endParaRPr/>
          </a:p>
          <a:p>
            <a:pPr indent="-214313" lvl="1" marL="557213" rtl="0" algn="l">
              <a:lnSpc>
                <a:spcPct val="100000"/>
              </a:lnSpc>
              <a:spcBef>
                <a:spcPts val="480"/>
              </a:spcBef>
              <a:spcAft>
                <a:spcPts val="0"/>
              </a:spcAft>
              <a:buSzPts val="2000"/>
              <a:buChar char="–"/>
            </a:pPr>
            <a:r>
              <a:rPr lang="en-US"/>
              <a:t>Fama-French 3 factors</a:t>
            </a:r>
            <a:endParaRPr/>
          </a:p>
          <a:p>
            <a:pPr indent="-214313" lvl="1" marL="557213" rtl="0" algn="l">
              <a:lnSpc>
                <a:spcPct val="100000"/>
              </a:lnSpc>
              <a:spcBef>
                <a:spcPts val="480"/>
              </a:spcBef>
              <a:spcAft>
                <a:spcPts val="0"/>
              </a:spcAft>
              <a:buSzPts val="2000"/>
              <a:buChar char="–"/>
            </a:pPr>
            <a:r>
              <a:rPr lang="en-US"/>
              <a:t>Carhart’s</a:t>
            </a:r>
            <a:endParaRPr/>
          </a:p>
          <a:p>
            <a:pPr indent="-214313" lvl="1" marL="557213" rtl="0" algn="l">
              <a:lnSpc>
                <a:spcPct val="100000"/>
              </a:lnSpc>
              <a:spcBef>
                <a:spcPts val="480"/>
              </a:spcBef>
              <a:spcAft>
                <a:spcPts val="0"/>
              </a:spcAft>
              <a:buSzPts val="2000"/>
              <a:buChar char="–"/>
            </a:pPr>
            <a:r>
              <a:rPr lang="en-US"/>
              <a:t>Sentiment</a:t>
            </a:r>
            <a:endParaRPr/>
          </a:p>
          <a:p>
            <a:pPr indent="-342900" lvl="0" marL="342900" rtl="0" algn="l">
              <a:lnSpc>
                <a:spcPct val="100000"/>
              </a:lnSpc>
              <a:spcBef>
                <a:spcPts val="480"/>
              </a:spcBef>
              <a:spcAft>
                <a:spcPts val="0"/>
              </a:spcAft>
              <a:buClr>
                <a:schemeClr val="dk1"/>
              </a:buClr>
              <a:buSzPts val="2400"/>
              <a:buFont typeface="Arial"/>
              <a:buChar char="•"/>
            </a:pPr>
            <a:r>
              <a:rPr lang="en-US" sz="2400"/>
              <a:t>Conclusion</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66" name="Google Shape;66;p2"/>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67" name="Google Shape;67;p2"/>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sp>
        <p:nvSpPr>
          <p:cNvPr id="73" name="Google Shape;73;p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Motivation</a:t>
            </a:r>
            <a:endParaRPr/>
          </a:p>
        </p:txBody>
      </p:sp>
      <p:sp>
        <p:nvSpPr>
          <p:cNvPr id="74" name="Google Shape;74;p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On Fat-Tails</a:t>
            </a:r>
            <a:endParaRPr/>
          </a:p>
          <a:p>
            <a:pPr indent="-214313" lvl="1" marL="557213" rtl="0" algn="l">
              <a:lnSpc>
                <a:spcPct val="100000"/>
              </a:lnSpc>
              <a:spcBef>
                <a:spcPts val="400"/>
              </a:spcBef>
              <a:spcAft>
                <a:spcPts val="0"/>
              </a:spcAft>
              <a:buClr>
                <a:schemeClr val="dk1"/>
              </a:buClr>
              <a:buSzPts val="2000"/>
              <a:buChar char="–"/>
            </a:pPr>
            <a:r>
              <a:rPr lang="en-US"/>
              <a:t>Mention by Dr. Sikandar Siddiqui during CFDS lessons</a:t>
            </a:r>
            <a:endParaRPr/>
          </a:p>
          <a:p>
            <a:pPr indent="-214313" lvl="1" marL="557213" rtl="0" algn="l">
              <a:lnSpc>
                <a:spcPct val="100000"/>
              </a:lnSpc>
              <a:spcBef>
                <a:spcPts val="400"/>
              </a:spcBef>
              <a:spcAft>
                <a:spcPts val="0"/>
              </a:spcAft>
              <a:buClr>
                <a:schemeClr val="dk1"/>
              </a:buClr>
              <a:buSzPts val="2000"/>
              <a:buChar char="–"/>
            </a:pPr>
            <a:r>
              <a:rPr lang="en-US"/>
              <a:t>Personal IT Background going into finance</a:t>
            </a:r>
            <a:endParaRPr/>
          </a:p>
          <a:p>
            <a:pPr indent="-214313" lvl="1" marL="557213" rtl="0" algn="l">
              <a:lnSpc>
                <a:spcPct val="100000"/>
              </a:lnSpc>
              <a:spcBef>
                <a:spcPts val="400"/>
              </a:spcBef>
              <a:spcAft>
                <a:spcPts val="0"/>
              </a:spcAft>
              <a:buClr>
                <a:schemeClr val="dk1"/>
              </a:buClr>
              <a:buSzPts val="2000"/>
              <a:buChar char="–"/>
            </a:pPr>
            <a:r>
              <a:rPr lang="en-US"/>
              <a:t>Describing and finding explanatory models</a:t>
            </a:r>
            <a:endParaRPr/>
          </a:p>
          <a:p>
            <a:pPr indent="-171450" lvl="2" marL="857250" rtl="0" algn="l">
              <a:lnSpc>
                <a:spcPct val="100000"/>
              </a:lnSpc>
              <a:spcBef>
                <a:spcPts val="400"/>
              </a:spcBef>
              <a:spcAft>
                <a:spcPts val="0"/>
              </a:spcAft>
              <a:buSzPts val="1600"/>
              <a:buChar char="•"/>
            </a:pPr>
            <a:r>
              <a:rPr lang="en-US"/>
              <a:t>Reading </a:t>
            </a:r>
            <a:r>
              <a:rPr lang="en-US"/>
              <a:t>literature</a:t>
            </a:r>
            <a:r>
              <a:rPr lang="en-US"/>
              <a:t> on the subject</a:t>
            </a:r>
            <a:endParaRPr/>
          </a:p>
          <a:p>
            <a:pPr indent="-171450" lvl="2" marL="857250" rtl="0" algn="l">
              <a:lnSpc>
                <a:spcPct val="100000"/>
              </a:lnSpc>
              <a:spcBef>
                <a:spcPts val="400"/>
              </a:spcBef>
              <a:spcAft>
                <a:spcPts val="0"/>
              </a:spcAft>
              <a:buSzPts val="1600"/>
              <a:buChar char="•"/>
            </a:pPr>
            <a:r>
              <a:rPr lang="en-US"/>
              <a:t>Using the tools learned during CFDS course</a:t>
            </a:r>
            <a:endParaRPr/>
          </a:p>
          <a:p>
            <a:pPr indent="-171450" lvl="2" marL="857250" rtl="0" algn="l">
              <a:lnSpc>
                <a:spcPct val="100000"/>
              </a:lnSpc>
              <a:spcBef>
                <a:spcPts val="400"/>
              </a:spcBef>
              <a:spcAft>
                <a:spcPts val="0"/>
              </a:spcAft>
              <a:buSzPts val="1600"/>
              <a:buChar char="•"/>
            </a:pPr>
            <a:r>
              <a:rPr lang="en-US"/>
              <a:t>Initiation to existing financial models (CAPM, Fama-French,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t/>
            </a:r>
            <a:endParaRPr/>
          </a:p>
          <a:p>
            <a:pPr indent="0" lvl="0" marL="0" rtl="0" algn="l">
              <a:lnSpc>
                <a:spcPct val="100000"/>
              </a:lnSpc>
              <a:spcBef>
                <a:spcPts val="400"/>
              </a:spcBef>
              <a:spcAft>
                <a:spcPts val="0"/>
              </a:spcAft>
              <a:buNone/>
            </a:pPr>
            <a:r>
              <a:rPr i="1" lang="en-US"/>
              <a:t>“</a:t>
            </a:r>
            <a:r>
              <a:rPr i="1" lang="en-US"/>
              <a:t>large changes tend to be followed by large changes, of either sign, and small changes tend to be followed by small changes.” - </a:t>
            </a:r>
            <a:r>
              <a:rPr b="1" lang="en-US" sz="1100">
                <a:latin typeface="Arial"/>
                <a:ea typeface="Arial"/>
                <a:cs typeface="Arial"/>
                <a:sym typeface="Arial"/>
              </a:rPr>
              <a:t>Benoit B. Mandelbrot, 1963</a:t>
            </a:r>
            <a:endParaRPr i="1"/>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75" name="Google Shape;75;p3"/>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76" name="Google Shape;76;p3"/>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3d96c7f3a6c_0_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Problem Description</a:t>
            </a:r>
            <a:endParaRPr/>
          </a:p>
        </p:txBody>
      </p:sp>
      <p:sp>
        <p:nvSpPr>
          <p:cNvPr id="83" name="Google Shape;83;g3d96c7f3a6c_0_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First Part : Description and statistical testing </a:t>
            </a:r>
            <a:endParaRPr/>
          </a:p>
          <a:p>
            <a:pPr indent="-214313" lvl="1" marL="557213" rtl="0" algn="l">
              <a:lnSpc>
                <a:spcPct val="100000"/>
              </a:lnSpc>
              <a:spcBef>
                <a:spcPts val="400"/>
              </a:spcBef>
              <a:spcAft>
                <a:spcPts val="0"/>
              </a:spcAft>
              <a:buClr>
                <a:schemeClr val="dk1"/>
              </a:buClr>
              <a:buSzPts val="2000"/>
              <a:buChar char="–"/>
            </a:pPr>
            <a:r>
              <a:rPr lang="en-US"/>
              <a:t>Do we observe fat tails which would not exist under normal assumptions ? </a:t>
            </a:r>
            <a:br>
              <a:rPr lang="en-US"/>
            </a:br>
            <a:r>
              <a:rPr i="1" lang="en-US"/>
              <a:t>Arithmetic vs. Log, Skewness, Kutorsis, JB and visualization</a:t>
            </a:r>
            <a:endParaRPr i="1"/>
          </a:p>
          <a:p>
            <a:pPr indent="-214313" lvl="1" marL="557213" rtl="0" algn="l">
              <a:lnSpc>
                <a:spcPct val="100000"/>
              </a:lnSpc>
              <a:spcBef>
                <a:spcPts val="400"/>
              </a:spcBef>
              <a:spcAft>
                <a:spcPts val="0"/>
              </a:spcAft>
              <a:buClr>
                <a:schemeClr val="dk1"/>
              </a:buClr>
              <a:buSzPts val="2000"/>
              <a:buChar char="–"/>
            </a:pPr>
            <a:r>
              <a:rPr lang="en-US"/>
              <a:t>What do these tails look like? Are they symmetrical? </a:t>
            </a:r>
            <a:br>
              <a:rPr lang="en-US"/>
            </a:br>
            <a:r>
              <a:rPr i="1" lang="en-US"/>
              <a:t>99.9th percentile, clustering, t-test, f-test and visualization</a:t>
            </a:r>
            <a:endParaRPr i="1"/>
          </a:p>
          <a:p>
            <a:pPr indent="-87313" lvl="1" marL="557213" rtl="0" algn="l">
              <a:lnSpc>
                <a:spcPct val="100000"/>
              </a:lnSpc>
              <a:spcBef>
                <a:spcPts val="400"/>
              </a:spcBef>
              <a:spcAft>
                <a:spcPts val="0"/>
              </a:spcAft>
              <a:buClr>
                <a:schemeClr val="dk1"/>
              </a:buClr>
              <a:buSzPts val="2000"/>
              <a:buNone/>
            </a:pPr>
            <a:r>
              <a:t/>
            </a:r>
            <a:endParaRPr/>
          </a:p>
          <a:p>
            <a:pPr indent="-342900" lvl="0" marL="342900" rtl="0" algn="l">
              <a:lnSpc>
                <a:spcPct val="100000"/>
              </a:lnSpc>
              <a:spcBef>
                <a:spcPts val="480"/>
              </a:spcBef>
              <a:spcAft>
                <a:spcPts val="0"/>
              </a:spcAft>
              <a:buClr>
                <a:schemeClr val="dk1"/>
              </a:buClr>
              <a:buSzPts val="2400"/>
              <a:buFont typeface="Arial"/>
              <a:buChar char="•"/>
            </a:pPr>
            <a:r>
              <a:rPr lang="en-US"/>
              <a:t>Second Part : Model and explanatory power</a:t>
            </a:r>
            <a:endParaRPr/>
          </a:p>
          <a:p>
            <a:pPr indent="-214313" lvl="1" marL="557213" rtl="0" algn="l">
              <a:spcBef>
                <a:spcPts val="0"/>
              </a:spcBef>
              <a:spcAft>
                <a:spcPts val="0"/>
              </a:spcAft>
              <a:buSzPts val="2000"/>
              <a:buChar char="–"/>
            </a:pPr>
            <a:r>
              <a:rPr lang="en-US" sz="2400"/>
              <a:t>Do factor models explain extreme returns as well as they explain the full distribution?</a:t>
            </a:r>
            <a:br>
              <a:rPr lang="en-US" sz="2400"/>
            </a:br>
            <a:r>
              <a:rPr i="1" lang="en-US"/>
              <a:t>CAPM, Fama-French Three factors model, Carhart’s Momentum, Sentiment</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84" name="Google Shape;84;g3d96c7f3a6c_0_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85" name="Google Shape;85;g3d96c7f3a6c_0_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g3d96c7f3a6c_0_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Data</a:t>
            </a:r>
            <a:endParaRPr/>
          </a:p>
        </p:txBody>
      </p:sp>
      <p:sp>
        <p:nvSpPr>
          <p:cNvPr id="92" name="Google Shape;92;g3d96c7f3a6c_0_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S&amp;P500 stock list from wikipedia</a:t>
            </a:r>
            <a:endParaRPr/>
          </a:p>
          <a:p>
            <a:pPr indent="-342900" lvl="0" marL="342900" rtl="0" algn="l">
              <a:lnSpc>
                <a:spcPct val="100000"/>
              </a:lnSpc>
              <a:spcBef>
                <a:spcPts val="0"/>
              </a:spcBef>
              <a:spcAft>
                <a:spcPts val="0"/>
              </a:spcAft>
              <a:buClr>
                <a:schemeClr val="dk1"/>
              </a:buClr>
              <a:buSzPts val="2400"/>
              <a:buFont typeface="Arial"/>
              <a:buChar char="•"/>
            </a:pPr>
            <a:r>
              <a:rPr lang="en-US"/>
              <a:t>Daily stock prices from 01.01.2010 to 01.05.2026</a:t>
            </a:r>
            <a:endParaRPr/>
          </a:p>
          <a:p>
            <a:pPr indent="-342900" lvl="0" marL="342900" rtl="0" algn="l">
              <a:lnSpc>
                <a:spcPct val="100000"/>
              </a:lnSpc>
              <a:spcBef>
                <a:spcPts val="0"/>
              </a:spcBef>
              <a:spcAft>
                <a:spcPts val="0"/>
              </a:spcAft>
              <a:buSzPts val="2400"/>
              <a:buChar char="•"/>
            </a:pPr>
            <a:r>
              <a:rPr lang="en-US"/>
              <a:t>yFinance api (data from yahoo finance website)</a:t>
            </a:r>
            <a:endParaRPr/>
          </a:p>
          <a:p>
            <a:pPr indent="-342900" lvl="0" marL="342900" rtl="0" algn="l">
              <a:lnSpc>
                <a:spcPct val="100000"/>
              </a:lnSpc>
              <a:spcBef>
                <a:spcPts val="0"/>
              </a:spcBef>
              <a:spcAft>
                <a:spcPts val="0"/>
              </a:spcAft>
              <a:buSzPts val="2400"/>
              <a:buChar char="•"/>
            </a:pPr>
            <a:r>
              <a:rPr lang="en-US"/>
              <a:t>Risk free rate, T-Bill 3 month from FRED’s website</a:t>
            </a:r>
            <a:endParaRPr/>
          </a:p>
          <a:p>
            <a:pPr indent="-342900" lvl="0" marL="342900" rtl="0" algn="l">
              <a:lnSpc>
                <a:spcPct val="100000"/>
              </a:lnSpc>
              <a:spcBef>
                <a:spcPts val="0"/>
              </a:spcBef>
              <a:spcAft>
                <a:spcPts val="0"/>
              </a:spcAft>
              <a:buSzPts val="2400"/>
              <a:buChar char="•"/>
            </a:pPr>
            <a:r>
              <a:rPr lang="en-US"/>
              <a:t>Fama-French dataset from panda_datareader library</a:t>
            </a:r>
            <a:endParaRPr/>
          </a:p>
          <a:p>
            <a:pPr indent="-342900" lvl="0" marL="342900" rtl="0" algn="l">
              <a:lnSpc>
                <a:spcPct val="100000"/>
              </a:lnSpc>
              <a:spcBef>
                <a:spcPts val="0"/>
              </a:spcBef>
              <a:spcAft>
                <a:spcPts val="0"/>
              </a:spcAft>
              <a:buSzPts val="2400"/>
              <a:buChar char="•"/>
            </a:pPr>
            <a:r>
              <a:rPr lang="en-US"/>
              <a:t>News headlines from kaggle (see link in sentiment analysis part)</a:t>
            </a:r>
            <a:endParaRPr/>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93" name="Google Shape;93;g3d96c7f3a6c_0_9"/>
          <p:cNvSpPr txBox="1"/>
          <p:nvPr>
            <p:ph idx="11" type="ftr"/>
          </p:nvPr>
        </p:nvSpPr>
        <p:spPr>
          <a:xfrm>
            <a:off x="484024" y="666845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94" name="Google Shape;94;g3d96c7f3a6c_0_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95" name="Google Shape;95;g3d96c7f3a6c_0_9"/>
          <p:cNvPicPr preferRelativeResize="0"/>
          <p:nvPr/>
        </p:nvPicPr>
        <p:blipFill>
          <a:blip r:embed="rId3">
            <a:alphaModFix/>
          </a:blip>
          <a:stretch>
            <a:fillRect/>
          </a:stretch>
        </p:blipFill>
        <p:spPr>
          <a:xfrm>
            <a:off x="-787" y="4224925"/>
            <a:ext cx="12193577" cy="19601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g3d96c7f3a6c_0_7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description</a:t>
            </a:r>
            <a:endParaRPr/>
          </a:p>
        </p:txBody>
      </p:sp>
      <p:sp>
        <p:nvSpPr>
          <p:cNvPr id="102" name="Google Shape;102;g3d96c7f3a6c_0_7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Arithmetic-Returns stats table:</a:t>
            </a:r>
            <a:br>
              <a:rPr lang="en-US"/>
            </a:br>
            <a:endParaRPr/>
          </a:p>
          <a:p>
            <a:pPr indent="0" lvl="0" marL="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342900" lvl="0" marL="342900" rtl="0" algn="l">
              <a:spcBef>
                <a:spcPts val="0"/>
              </a:spcBef>
              <a:spcAft>
                <a:spcPts val="0"/>
              </a:spcAft>
              <a:buSzPts val="2400"/>
              <a:buChar char="•"/>
            </a:pPr>
            <a:r>
              <a:rPr lang="en-US"/>
              <a:t>Jarque-Berra</a:t>
            </a:r>
            <a:br>
              <a:rPr lang="en-US"/>
            </a:br>
            <a:endParaRPr/>
          </a:p>
          <a:p>
            <a:pPr indent="0" lvl="0" marL="342900" rtl="0" algn="l">
              <a:spcBef>
                <a:spcPts val="0"/>
              </a:spcBef>
              <a:spcAft>
                <a:spcPts val="0"/>
              </a:spcAft>
              <a:buNone/>
            </a:pPr>
            <a:r>
              <a:rPr lang="en-US"/>
              <a:t>JB statistic: 40458666.05</a:t>
            </a:r>
            <a:endParaRPr/>
          </a:p>
          <a:p>
            <a:pPr indent="0" lvl="0" marL="342900" rtl="0" algn="l">
              <a:spcBef>
                <a:spcPts val="0"/>
              </a:spcBef>
              <a:spcAft>
                <a:spcPts val="0"/>
              </a:spcAft>
              <a:buNone/>
            </a:pPr>
            <a:r>
              <a:rPr lang="en-US"/>
              <a:t>p-value: 0.00e+00</a:t>
            </a:r>
            <a:br>
              <a:rPr lang="en-US"/>
            </a:b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03" name="Google Shape;103;g3d96c7f3a6c_0_7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04" name="Google Shape;104;g3d96c7f3a6c_0_7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05" name="Google Shape;105;g3d96c7f3a6c_0_79"/>
          <p:cNvPicPr preferRelativeResize="0"/>
          <p:nvPr/>
        </p:nvPicPr>
        <p:blipFill>
          <a:blip r:embed="rId3">
            <a:alphaModFix/>
          </a:blip>
          <a:stretch>
            <a:fillRect/>
          </a:stretch>
        </p:blipFill>
        <p:spPr>
          <a:xfrm>
            <a:off x="4781538" y="1771650"/>
            <a:ext cx="2628900" cy="3314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g3db971e7cb6_0_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description</a:t>
            </a:r>
            <a:endParaRPr/>
          </a:p>
        </p:txBody>
      </p:sp>
      <p:sp>
        <p:nvSpPr>
          <p:cNvPr id="112" name="Google Shape;112;g3db971e7cb6_0_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Log-Returns stats table:</a:t>
            </a:r>
            <a:br>
              <a:rPr lang="en-US"/>
            </a:br>
            <a:r>
              <a:rPr lang="en-US"/>
              <a:t>(check skewness and max,</a:t>
            </a:r>
            <a:br>
              <a:rPr lang="en-US"/>
            </a:br>
            <a:r>
              <a:rPr lang="en-US"/>
              <a:t>effect of the log)</a:t>
            </a:r>
            <a:endParaRPr/>
          </a:p>
          <a:p>
            <a:pPr indent="0" lvl="0" marL="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0" lvl="0" marL="342900" rtl="0" algn="l">
              <a:spcBef>
                <a:spcPts val="0"/>
              </a:spcBef>
              <a:spcAft>
                <a:spcPts val="0"/>
              </a:spcAft>
              <a:buNone/>
            </a:pPr>
            <a:r>
              <a:t/>
            </a:r>
            <a:endParaRPr/>
          </a:p>
          <a:p>
            <a:pPr indent="-342900" lvl="0" marL="342900" rtl="0" algn="l">
              <a:spcBef>
                <a:spcPts val="0"/>
              </a:spcBef>
              <a:spcAft>
                <a:spcPts val="0"/>
              </a:spcAft>
              <a:buSzPts val="2400"/>
              <a:buChar char="•"/>
            </a:pPr>
            <a:r>
              <a:rPr lang="en-US"/>
              <a:t>Jarque-Berra</a:t>
            </a:r>
            <a:endParaRPr/>
          </a:p>
          <a:p>
            <a:pPr indent="0" lvl="0" marL="342900" rtl="0" algn="l">
              <a:spcBef>
                <a:spcPts val="0"/>
              </a:spcBef>
              <a:spcAft>
                <a:spcPts val="0"/>
              </a:spcAft>
              <a:buNone/>
            </a:pPr>
            <a:br>
              <a:rPr lang="en-US"/>
            </a:br>
            <a:r>
              <a:rPr lang="en-US"/>
              <a:t>JB statistic: 51077412.92</a:t>
            </a:r>
            <a:endParaRPr/>
          </a:p>
          <a:p>
            <a:pPr indent="0" lvl="0" marL="342900" rtl="0" algn="l">
              <a:spcBef>
                <a:spcPts val="0"/>
              </a:spcBef>
              <a:spcAft>
                <a:spcPts val="0"/>
              </a:spcAft>
              <a:buNone/>
            </a:pPr>
            <a:r>
              <a:rPr lang="en-US"/>
              <a:t>p-value: 0.00e+00</a:t>
            </a:r>
            <a:endParaRPr/>
          </a:p>
          <a:p>
            <a:pPr indent="-87313" lvl="1" marL="557213" rtl="0" algn="l">
              <a:lnSpc>
                <a:spcPct val="100000"/>
              </a:lnSpc>
              <a:spcBef>
                <a:spcPts val="400"/>
              </a:spcBef>
              <a:spcAft>
                <a:spcPts val="0"/>
              </a:spcAft>
              <a:buClr>
                <a:schemeClr val="dk1"/>
              </a:buClr>
              <a:buSzPts val="2000"/>
              <a:buNone/>
            </a:pPr>
            <a:r>
              <a:t/>
            </a:r>
            <a:endParaRPr/>
          </a:p>
          <a:p>
            <a:pPr indent="0" lvl="0" marL="342900" rtl="0" algn="l">
              <a:lnSpc>
                <a:spcPct val="100000"/>
              </a:lnSpc>
              <a:spcBef>
                <a:spcPts val="48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13" name="Google Shape;113;g3db971e7cb6_0_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14" name="Google Shape;114;g3db971e7cb6_0_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15" name="Google Shape;115;g3db971e7cb6_0_3"/>
          <p:cNvPicPr preferRelativeResize="0"/>
          <p:nvPr/>
        </p:nvPicPr>
        <p:blipFill>
          <a:blip r:embed="rId3">
            <a:alphaModFix/>
          </a:blip>
          <a:stretch>
            <a:fillRect/>
          </a:stretch>
        </p:blipFill>
        <p:spPr>
          <a:xfrm>
            <a:off x="4782325" y="1781175"/>
            <a:ext cx="2628900" cy="32956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g3d96c7f3a6c_0_3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visualization</a:t>
            </a:r>
            <a:endParaRPr/>
          </a:p>
        </p:txBody>
      </p:sp>
      <p:sp>
        <p:nvSpPr>
          <p:cNvPr id="122" name="Google Shape;122;g3d96c7f3a6c_0_3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23" name="Google Shape;123;g3d96c7f3a6c_0_3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24" name="Google Shape;124;g3d96c7f3a6c_0_39"/>
          <p:cNvPicPr preferRelativeResize="0"/>
          <p:nvPr/>
        </p:nvPicPr>
        <p:blipFill>
          <a:blip r:embed="rId3">
            <a:alphaModFix/>
          </a:blip>
          <a:stretch>
            <a:fillRect/>
          </a:stretch>
        </p:blipFill>
        <p:spPr>
          <a:xfrm>
            <a:off x="0" y="1231600"/>
            <a:ext cx="6026774" cy="4853425"/>
          </a:xfrm>
          <a:prstGeom prst="rect">
            <a:avLst/>
          </a:prstGeom>
          <a:noFill/>
          <a:ln>
            <a:noFill/>
          </a:ln>
        </p:spPr>
      </p:pic>
      <p:pic>
        <p:nvPicPr>
          <p:cNvPr id="125" name="Google Shape;125;g3d96c7f3a6c_0_39"/>
          <p:cNvPicPr preferRelativeResize="0"/>
          <p:nvPr/>
        </p:nvPicPr>
        <p:blipFill>
          <a:blip r:embed="rId4">
            <a:alphaModFix/>
          </a:blip>
          <a:stretch>
            <a:fillRect/>
          </a:stretch>
        </p:blipFill>
        <p:spPr>
          <a:xfrm>
            <a:off x="6165599" y="1319949"/>
            <a:ext cx="5965977" cy="467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g3d96c7f3a6c_0_4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visualization</a:t>
            </a:r>
            <a:endParaRPr/>
          </a:p>
        </p:txBody>
      </p:sp>
      <p:sp>
        <p:nvSpPr>
          <p:cNvPr id="132" name="Google Shape;132;g3d96c7f3a6c_0_4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33" name="Google Shape;133;g3d96c7f3a6c_0_4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34" name="Google Shape;134;g3d96c7f3a6c_0_49"/>
          <p:cNvPicPr preferRelativeResize="0"/>
          <p:nvPr/>
        </p:nvPicPr>
        <p:blipFill>
          <a:blip r:embed="rId3">
            <a:alphaModFix/>
          </a:blip>
          <a:stretch>
            <a:fillRect/>
          </a:stretch>
        </p:blipFill>
        <p:spPr>
          <a:xfrm>
            <a:off x="5825000" y="1060251"/>
            <a:ext cx="6257375" cy="5039125"/>
          </a:xfrm>
          <a:prstGeom prst="rect">
            <a:avLst/>
          </a:prstGeom>
          <a:noFill/>
          <a:ln>
            <a:noFill/>
          </a:ln>
        </p:spPr>
      </p:pic>
      <p:pic>
        <p:nvPicPr>
          <p:cNvPr id="135" name="Google Shape;135;g3d96c7f3a6c_0_49"/>
          <p:cNvPicPr preferRelativeResize="0"/>
          <p:nvPr/>
        </p:nvPicPr>
        <p:blipFill>
          <a:blip r:embed="rId4">
            <a:alphaModFix/>
          </a:blip>
          <a:stretch>
            <a:fillRect/>
          </a:stretch>
        </p:blipFill>
        <p:spPr>
          <a:xfrm>
            <a:off x="245975" y="1412882"/>
            <a:ext cx="5467350" cy="43338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g3d96c7f3a6c_0_6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visualization</a:t>
            </a:r>
            <a:endParaRPr/>
          </a:p>
        </p:txBody>
      </p:sp>
      <p:sp>
        <p:nvSpPr>
          <p:cNvPr id="142" name="Google Shape;142;g3d96c7f3a6c_0_6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43" name="Google Shape;143;g3d96c7f3a6c_0_6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44" name="Google Shape;144;g3d96c7f3a6c_0_60"/>
          <p:cNvPicPr preferRelativeResize="0"/>
          <p:nvPr/>
        </p:nvPicPr>
        <p:blipFill>
          <a:blip r:embed="rId3">
            <a:alphaModFix/>
          </a:blip>
          <a:stretch>
            <a:fillRect/>
          </a:stretch>
        </p:blipFill>
        <p:spPr>
          <a:xfrm>
            <a:off x="1168575" y="791450"/>
            <a:ext cx="10304727" cy="573369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 name="Shape 149"/>
        <p:cNvGrpSpPr/>
        <p:nvPr/>
      </p:nvGrpSpPr>
      <p:grpSpPr>
        <a:xfrm>
          <a:off x="0" y="0"/>
          <a:ext cx="0" cy="0"/>
          <a:chOff x="0" y="0"/>
          <a:chExt cx="0" cy="0"/>
        </a:xfrm>
      </p:grpSpPr>
      <p:sp>
        <p:nvSpPr>
          <p:cNvPr id="150" name="Google Shape;150;g3d96c7f3a6c_0_9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visualization</a:t>
            </a:r>
            <a:endParaRPr/>
          </a:p>
        </p:txBody>
      </p:sp>
      <p:sp>
        <p:nvSpPr>
          <p:cNvPr id="151" name="Google Shape;151;g3d96c7f3a6c_0_9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52" name="Google Shape;152;g3d96c7f3a6c_0_9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53" name="Google Shape;153;g3d96c7f3a6c_0_97"/>
          <p:cNvPicPr preferRelativeResize="0"/>
          <p:nvPr/>
        </p:nvPicPr>
        <p:blipFill>
          <a:blip r:embed="rId3">
            <a:alphaModFix/>
          </a:blip>
          <a:stretch>
            <a:fillRect/>
          </a:stretch>
        </p:blipFill>
        <p:spPr>
          <a:xfrm>
            <a:off x="0" y="2086400"/>
            <a:ext cx="12193577" cy="26852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g3d96c7f3a6c_0_8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Whole set visualization</a:t>
            </a:r>
            <a:endParaRPr/>
          </a:p>
        </p:txBody>
      </p:sp>
      <p:sp>
        <p:nvSpPr>
          <p:cNvPr id="160" name="Google Shape;160;g3d96c7f3a6c_0_8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61" name="Google Shape;161;g3d96c7f3a6c_0_8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62" name="Google Shape;162;g3d96c7f3a6c_0_87"/>
          <p:cNvPicPr preferRelativeResize="0"/>
          <p:nvPr/>
        </p:nvPicPr>
        <p:blipFill>
          <a:blip r:embed="rId3">
            <a:alphaModFix/>
          </a:blip>
          <a:stretch>
            <a:fillRect/>
          </a:stretch>
        </p:blipFill>
        <p:spPr>
          <a:xfrm>
            <a:off x="841125" y="1357320"/>
            <a:ext cx="5324475" cy="4143375"/>
          </a:xfrm>
          <a:prstGeom prst="rect">
            <a:avLst/>
          </a:prstGeom>
          <a:noFill/>
          <a:ln>
            <a:noFill/>
          </a:ln>
        </p:spPr>
      </p:pic>
      <p:pic>
        <p:nvPicPr>
          <p:cNvPr id="163" name="Google Shape;163;g3d96c7f3a6c_0_87"/>
          <p:cNvPicPr preferRelativeResize="0"/>
          <p:nvPr/>
        </p:nvPicPr>
        <p:blipFill>
          <a:blip r:embed="rId4">
            <a:alphaModFix/>
          </a:blip>
          <a:stretch>
            <a:fillRect/>
          </a:stretch>
        </p:blipFill>
        <p:spPr>
          <a:xfrm>
            <a:off x="6165600" y="1357332"/>
            <a:ext cx="5324475" cy="414337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g3db971e7cb6_0_10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description</a:t>
            </a:r>
            <a:endParaRPr/>
          </a:p>
        </p:txBody>
      </p:sp>
      <p:sp>
        <p:nvSpPr>
          <p:cNvPr id="170" name="Google Shape;170;g3db971e7cb6_0_107"/>
          <p:cNvSpPr txBox="1"/>
          <p:nvPr>
            <p:ph idx="1" type="body"/>
          </p:nvPr>
        </p:nvSpPr>
        <p:spPr>
          <a:xfrm>
            <a:off x="720188" y="134175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the two top 0.1% have the same statistical </a:t>
            </a:r>
            <a:r>
              <a:rPr lang="en-US"/>
              <a:t>resemblance?</a:t>
            </a:r>
            <a:br>
              <a:rPr lang="en-US"/>
            </a:br>
            <a:r>
              <a:rPr lang="en-US"/>
              <a:t>Check both return definition, log_return (left), arithmetic_return (right)</a:t>
            </a:r>
            <a:br>
              <a:rPr lang="en-US"/>
            </a:br>
            <a:r>
              <a:rPr i="1" lang="en-US" sz="1800"/>
              <a:t>Extreme Value Theory and Generalized Pareto Distribution territory.</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71" name="Google Shape;171;g3db971e7cb6_0_10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72" name="Google Shape;172;g3db971e7cb6_0_10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73" name="Google Shape;173;g3db971e7cb6_0_107"/>
          <p:cNvPicPr preferRelativeResize="0"/>
          <p:nvPr/>
        </p:nvPicPr>
        <p:blipFill>
          <a:blip r:embed="rId3">
            <a:alphaModFix/>
          </a:blip>
          <a:stretch>
            <a:fillRect/>
          </a:stretch>
        </p:blipFill>
        <p:spPr>
          <a:xfrm>
            <a:off x="8005500" y="2575925"/>
            <a:ext cx="3390900" cy="3657600"/>
          </a:xfrm>
          <a:prstGeom prst="rect">
            <a:avLst/>
          </a:prstGeom>
          <a:noFill/>
          <a:ln>
            <a:noFill/>
          </a:ln>
        </p:spPr>
      </p:pic>
      <p:pic>
        <p:nvPicPr>
          <p:cNvPr id="174" name="Google Shape;174;g3db971e7cb6_0_107"/>
          <p:cNvPicPr preferRelativeResize="0"/>
          <p:nvPr/>
        </p:nvPicPr>
        <p:blipFill>
          <a:blip r:embed="rId4">
            <a:alphaModFix/>
          </a:blip>
          <a:stretch>
            <a:fillRect/>
          </a:stretch>
        </p:blipFill>
        <p:spPr>
          <a:xfrm>
            <a:off x="4401350" y="2575925"/>
            <a:ext cx="3390900" cy="3657600"/>
          </a:xfrm>
          <a:prstGeom prst="rect">
            <a:avLst/>
          </a:prstGeom>
          <a:noFill/>
          <a:ln>
            <a:noFill/>
          </a:ln>
        </p:spPr>
      </p:pic>
      <p:pic>
        <p:nvPicPr>
          <p:cNvPr id="175" name="Google Shape;175;g3db971e7cb6_0_107"/>
          <p:cNvPicPr preferRelativeResize="0"/>
          <p:nvPr/>
        </p:nvPicPr>
        <p:blipFill>
          <a:blip r:embed="rId5">
            <a:alphaModFix/>
          </a:blip>
          <a:stretch>
            <a:fillRect/>
          </a:stretch>
        </p:blipFill>
        <p:spPr>
          <a:xfrm>
            <a:off x="797197" y="2575935"/>
            <a:ext cx="3390900" cy="1234315"/>
          </a:xfrm>
          <a:prstGeom prst="rect">
            <a:avLst/>
          </a:prstGeom>
          <a:noFill/>
          <a:ln>
            <a:noFill/>
          </a:ln>
        </p:spPr>
      </p:pic>
      <p:pic>
        <p:nvPicPr>
          <p:cNvPr id="176" name="Google Shape;176;g3db971e7cb6_0_107"/>
          <p:cNvPicPr preferRelativeResize="0"/>
          <p:nvPr/>
        </p:nvPicPr>
        <p:blipFill>
          <a:blip r:embed="rId6">
            <a:alphaModFix/>
          </a:blip>
          <a:stretch>
            <a:fillRect/>
          </a:stretch>
        </p:blipFill>
        <p:spPr>
          <a:xfrm>
            <a:off x="824758" y="4295450"/>
            <a:ext cx="1699927" cy="380321"/>
          </a:xfrm>
          <a:prstGeom prst="rect">
            <a:avLst/>
          </a:prstGeom>
          <a:noFill/>
          <a:ln>
            <a:noFill/>
          </a:ln>
        </p:spPr>
      </p:pic>
      <p:pic>
        <p:nvPicPr>
          <p:cNvPr id="177" name="Google Shape;177;g3db971e7cb6_0_107"/>
          <p:cNvPicPr preferRelativeResize="0"/>
          <p:nvPr/>
        </p:nvPicPr>
        <p:blipFill>
          <a:blip r:embed="rId7">
            <a:alphaModFix/>
          </a:blip>
          <a:stretch>
            <a:fillRect/>
          </a:stretch>
        </p:blipFill>
        <p:spPr>
          <a:xfrm>
            <a:off x="797217" y="5083206"/>
            <a:ext cx="1755009" cy="380321"/>
          </a:xfrm>
          <a:prstGeom prst="rect">
            <a:avLst/>
          </a:prstGeom>
          <a:noFill/>
          <a:ln>
            <a:noFill/>
          </a:ln>
        </p:spPr>
      </p:pic>
      <p:pic>
        <p:nvPicPr>
          <p:cNvPr id="178" name="Google Shape;178;g3db971e7cb6_0_107"/>
          <p:cNvPicPr preferRelativeResize="0"/>
          <p:nvPr/>
        </p:nvPicPr>
        <p:blipFill>
          <a:blip r:embed="rId8">
            <a:alphaModFix/>
          </a:blip>
          <a:stretch>
            <a:fillRect/>
          </a:stretch>
        </p:blipFill>
        <p:spPr>
          <a:xfrm>
            <a:off x="797201" y="5836264"/>
            <a:ext cx="1754999" cy="338536"/>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g3d96c7f3a6c_0_7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185" name="Google Shape;185;g3d96c7f3a6c_0_7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years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86" name="Google Shape;186;g3d96c7f3a6c_0_7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87" name="Google Shape;187;g3d96c7f3a6c_0_7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88" name="Google Shape;188;g3d96c7f3a6c_0_70"/>
          <p:cNvPicPr preferRelativeResize="0"/>
          <p:nvPr/>
        </p:nvPicPr>
        <p:blipFill>
          <a:blip r:embed="rId3">
            <a:alphaModFix/>
          </a:blip>
          <a:stretch>
            <a:fillRect/>
          </a:stretch>
        </p:blipFill>
        <p:spPr>
          <a:xfrm>
            <a:off x="5372875" y="1898325"/>
            <a:ext cx="1447800" cy="39433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g3db971e7cb6_0_4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195" name="Google Shape;195;g3db971e7cb6_0_4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days, ordered, head(10)</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196" name="Google Shape;196;g3db971e7cb6_0_4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197" name="Google Shape;197;g3db971e7cb6_0_4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198" name="Google Shape;198;g3db971e7cb6_0_43"/>
          <p:cNvPicPr preferRelativeResize="0"/>
          <p:nvPr/>
        </p:nvPicPr>
        <p:blipFill>
          <a:blip r:embed="rId3">
            <a:alphaModFix/>
          </a:blip>
          <a:stretch>
            <a:fillRect/>
          </a:stretch>
        </p:blipFill>
        <p:spPr>
          <a:xfrm>
            <a:off x="4875400" y="1811863"/>
            <a:ext cx="2441200" cy="32342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g3db971e7cb6_0_64"/>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205" name="Google Shape;205;g3db971e7cb6_0_64"/>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years were good / bad for the top 0.1%?</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06" name="Google Shape;206;g3db971e7cb6_0_64"/>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07" name="Google Shape;207;g3db971e7cb6_0_64"/>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08" name="Google Shape;208;g3db971e7cb6_0_64"/>
          <p:cNvPicPr preferRelativeResize="0"/>
          <p:nvPr/>
        </p:nvPicPr>
        <p:blipFill>
          <a:blip r:embed="rId3">
            <a:alphaModFix/>
          </a:blip>
          <a:stretch>
            <a:fillRect/>
          </a:stretch>
        </p:blipFill>
        <p:spPr>
          <a:xfrm>
            <a:off x="2436800" y="1891175"/>
            <a:ext cx="7319976" cy="47384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g3db971e7cb6_0_8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215" name="Google Shape;215;g3db971e7cb6_0_8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16" name="Google Shape;216;g3db971e7cb6_0_8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17" name="Google Shape;217;g3db971e7cb6_0_8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18" name="Google Shape;218;g3db971e7cb6_0_87"/>
          <p:cNvPicPr preferRelativeResize="0"/>
          <p:nvPr/>
        </p:nvPicPr>
        <p:blipFill>
          <a:blip r:embed="rId3">
            <a:alphaModFix/>
          </a:blip>
          <a:stretch>
            <a:fillRect/>
          </a:stretch>
        </p:blipFill>
        <p:spPr>
          <a:xfrm>
            <a:off x="6096000" y="2318975"/>
            <a:ext cx="5764977" cy="3916950"/>
          </a:xfrm>
          <a:prstGeom prst="rect">
            <a:avLst/>
          </a:prstGeom>
          <a:noFill/>
          <a:ln>
            <a:noFill/>
          </a:ln>
        </p:spPr>
      </p:pic>
      <p:pic>
        <p:nvPicPr>
          <p:cNvPr id="219" name="Google Shape;219;g3db971e7cb6_0_87"/>
          <p:cNvPicPr preferRelativeResize="0"/>
          <p:nvPr/>
        </p:nvPicPr>
        <p:blipFill>
          <a:blip r:embed="rId4">
            <a:alphaModFix/>
          </a:blip>
          <a:stretch>
            <a:fillRect/>
          </a:stretch>
        </p:blipFill>
        <p:spPr>
          <a:xfrm>
            <a:off x="0" y="2318975"/>
            <a:ext cx="6095999" cy="391695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g39a84e3b28a_0_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226" name="Google Shape;226;g39a84e3b28a_0_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27" name="Google Shape;227;g39a84e3b28a_0_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28" name="Google Shape;228;g39a84e3b28a_0_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29" name="Google Shape;229;g39a84e3b28a_0_0"/>
          <p:cNvPicPr preferRelativeResize="0"/>
          <p:nvPr/>
        </p:nvPicPr>
        <p:blipFill>
          <a:blip r:embed="rId3">
            <a:alphaModFix/>
          </a:blip>
          <a:stretch>
            <a:fillRect/>
          </a:stretch>
        </p:blipFill>
        <p:spPr>
          <a:xfrm>
            <a:off x="1187463" y="1784000"/>
            <a:ext cx="9817074" cy="48714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g3db971e7cb6_0_12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time clustering</a:t>
            </a:r>
            <a:endParaRPr/>
          </a:p>
        </p:txBody>
      </p:sp>
      <p:sp>
        <p:nvSpPr>
          <p:cNvPr id="236" name="Google Shape;236;g3db971e7cb6_0_12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the top 0.1% mean across years are statistically different within each positive extreme and negative extreme? log_return (left), arithmetic_return (right)</a:t>
            </a:r>
            <a:endParaRPr/>
          </a:p>
          <a:p>
            <a:pPr indent="457200" lvl="0" marL="0" rtl="0" algn="l">
              <a:lnSpc>
                <a:spcPct val="100000"/>
              </a:lnSpc>
              <a:spcBef>
                <a:spcPts val="400"/>
              </a:spcBef>
              <a:spcAft>
                <a:spcPts val="0"/>
              </a:spcAft>
              <a:buNone/>
            </a:pPr>
            <a:r>
              <a:rPr i="1" lang="en-US" sz="1800"/>
              <a:t>Less impact of return definition because we are comparing positive / positive and negative / negative.</a:t>
            </a:r>
            <a:br>
              <a:rPr i="1" lang="en-US" sz="1800"/>
            </a:br>
            <a:r>
              <a:rPr i="1" lang="en-US" sz="1800"/>
              <a:t>	Extreme Value Theory and Generalized Pareto Distribution territory.</a:t>
            </a:r>
            <a:endParaRPr i="1" sz="1800"/>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37" name="Google Shape;237;g3db971e7cb6_0_12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38" name="Google Shape;238;g3db971e7cb6_0_12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39" name="Google Shape;239;g3db971e7cb6_0_120"/>
          <p:cNvPicPr preferRelativeResize="0"/>
          <p:nvPr/>
        </p:nvPicPr>
        <p:blipFill>
          <a:blip r:embed="rId3">
            <a:alphaModFix/>
          </a:blip>
          <a:stretch>
            <a:fillRect/>
          </a:stretch>
        </p:blipFill>
        <p:spPr>
          <a:xfrm>
            <a:off x="1028688" y="3417550"/>
            <a:ext cx="5067300" cy="904875"/>
          </a:xfrm>
          <a:prstGeom prst="rect">
            <a:avLst/>
          </a:prstGeom>
          <a:noFill/>
          <a:ln>
            <a:noFill/>
          </a:ln>
        </p:spPr>
      </p:pic>
      <p:pic>
        <p:nvPicPr>
          <p:cNvPr id="240" name="Google Shape;240;g3db971e7cb6_0_120"/>
          <p:cNvPicPr preferRelativeResize="0"/>
          <p:nvPr/>
        </p:nvPicPr>
        <p:blipFill>
          <a:blip r:embed="rId4">
            <a:alphaModFix/>
          </a:blip>
          <a:stretch>
            <a:fillRect/>
          </a:stretch>
        </p:blipFill>
        <p:spPr>
          <a:xfrm>
            <a:off x="6096000" y="3417550"/>
            <a:ext cx="4981575" cy="904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g3db971e7cb6_0_5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sector clustering</a:t>
            </a:r>
            <a:endParaRPr/>
          </a:p>
        </p:txBody>
      </p:sp>
      <p:sp>
        <p:nvSpPr>
          <p:cNvPr id="247" name="Google Shape;247;g3db971e7cb6_0_5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Top 0.1% daily returns clustered by sectors, ordered</a:t>
            </a:r>
            <a:endParaRPr/>
          </a:p>
          <a:p>
            <a:pPr indent="0" lvl="0" marL="342900" rtl="0" algn="l">
              <a:lnSpc>
                <a:spcPct val="100000"/>
              </a:lnSpc>
              <a:spcBef>
                <a:spcPts val="0"/>
              </a:spcBef>
              <a:spcAft>
                <a:spcPts val="0"/>
              </a:spcAft>
              <a:buNone/>
            </a:pPr>
            <a:r>
              <a:rPr lang="en-US"/>
              <a:t>Raw count and normalized (events/nbr_stocks) count.</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48" name="Google Shape;248;g3db971e7cb6_0_5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49" name="Google Shape;249;g3db971e7cb6_0_5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50" name="Google Shape;250;g3db971e7cb6_0_53"/>
          <p:cNvPicPr preferRelativeResize="0"/>
          <p:nvPr/>
        </p:nvPicPr>
        <p:blipFill>
          <a:blip r:embed="rId3">
            <a:alphaModFix/>
          </a:blip>
          <a:stretch>
            <a:fillRect/>
          </a:stretch>
        </p:blipFill>
        <p:spPr>
          <a:xfrm>
            <a:off x="1918788" y="2550788"/>
            <a:ext cx="3048000" cy="2638425"/>
          </a:xfrm>
          <a:prstGeom prst="rect">
            <a:avLst/>
          </a:prstGeom>
          <a:noFill/>
          <a:ln>
            <a:noFill/>
          </a:ln>
        </p:spPr>
      </p:pic>
      <p:pic>
        <p:nvPicPr>
          <p:cNvPr id="251" name="Google Shape;251;g3db971e7cb6_0_53"/>
          <p:cNvPicPr preferRelativeResize="0"/>
          <p:nvPr/>
        </p:nvPicPr>
        <p:blipFill>
          <a:blip r:embed="rId4">
            <a:alphaModFix/>
          </a:blip>
          <a:stretch>
            <a:fillRect/>
          </a:stretch>
        </p:blipFill>
        <p:spPr>
          <a:xfrm>
            <a:off x="5608763" y="2569825"/>
            <a:ext cx="3495675" cy="260032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g3db971e7cb6_0_75"/>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sector clustering</a:t>
            </a:r>
            <a:endParaRPr/>
          </a:p>
        </p:txBody>
      </p:sp>
      <p:sp>
        <p:nvSpPr>
          <p:cNvPr id="258" name="Google Shape;258;g3db971e7cb6_0_75"/>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sectors performed best in the top 0.1%? Ordered table.</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59" name="Google Shape;259;g3db971e7cb6_0_75"/>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60" name="Google Shape;260;g3db971e7cb6_0_75"/>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61" name="Google Shape;261;g3db971e7cb6_0_75"/>
          <p:cNvPicPr preferRelativeResize="0"/>
          <p:nvPr/>
        </p:nvPicPr>
        <p:blipFill>
          <a:blip r:embed="rId3">
            <a:alphaModFix/>
          </a:blip>
          <a:stretch>
            <a:fillRect/>
          </a:stretch>
        </p:blipFill>
        <p:spPr>
          <a:xfrm>
            <a:off x="2506150" y="1771437"/>
            <a:ext cx="7181275" cy="41971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g3db971e7cb6_0_9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sector clustering</a:t>
            </a:r>
            <a:endParaRPr/>
          </a:p>
        </p:txBody>
      </p:sp>
      <p:sp>
        <p:nvSpPr>
          <p:cNvPr id="268" name="Google Shape;268;g3db971e7cb6_0_9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t>
            </a:r>
            <a:r>
              <a:rPr lang="en-US"/>
              <a:t>(Arithmetic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69" name="Google Shape;269;g3db971e7cb6_0_9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70" name="Google Shape;270;g3db971e7cb6_0_9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71" name="Google Shape;271;g3db971e7cb6_0_97"/>
          <p:cNvPicPr preferRelativeResize="0"/>
          <p:nvPr/>
        </p:nvPicPr>
        <p:blipFill>
          <a:blip r:embed="rId3">
            <a:alphaModFix/>
          </a:blip>
          <a:stretch>
            <a:fillRect/>
          </a:stretch>
        </p:blipFill>
        <p:spPr>
          <a:xfrm>
            <a:off x="6096000" y="2305800"/>
            <a:ext cx="6097574" cy="3018904"/>
          </a:xfrm>
          <a:prstGeom prst="rect">
            <a:avLst/>
          </a:prstGeom>
          <a:noFill/>
          <a:ln>
            <a:noFill/>
          </a:ln>
        </p:spPr>
      </p:pic>
      <p:pic>
        <p:nvPicPr>
          <p:cNvPr id="272" name="Google Shape;272;g3db971e7cb6_0_97"/>
          <p:cNvPicPr preferRelativeResize="0"/>
          <p:nvPr/>
        </p:nvPicPr>
        <p:blipFill>
          <a:blip r:embed="rId4">
            <a:alphaModFix/>
          </a:blip>
          <a:stretch>
            <a:fillRect/>
          </a:stretch>
        </p:blipFill>
        <p:spPr>
          <a:xfrm>
            <a:off x="0" y="2305805"/>
            <a:ext cx="6097574" cy="301889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g39a84e3b28a_0_1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sector clustering</a:t>
            </a:r>
            <a:endParaRPr/>
          </a:p>
        </p:txBody>
      </p:sp>
      <p:sp>
        <p:nvSpPr>
          <p:cNvPr id="279" name="Google Shape;279;g39a84e3b28a_0_11"/>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What does it look like? (Arithmetic returns to not crush the extremes positives)</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80" name="Google Shape;280;g39a84e3b28a_0_1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81" name="Google Shape;281;g39a84e3b28a_0_1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82" name="Google Shape;282;g39a84e3b28a_0_11"/>
          <p:cNvPicPr preferRelativeResize="0"/>
          <p:nvPr/>
        </p:nvPicPr>
        <p:blipFill>
          <a:blip r:embed="rId3">
            <a:alphaModFix/>
          </a:blip>
          <a:stretch>
            <a:fillRect/>
          </a:stretch>
        </p:blipFill>
        <p:spPr>
          <a:xfrm>
            <a:off x="1134775" y="1730950"/>
            <a:ext cx="9924024" cy="49244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g3db971e7cb6_0_132"/>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Top 0.1%, sector clustering</a:t>
            </a:r>
            <a:endParaRPr/>
          </a:p>
        </p:txBody>
      </p:sp>
      <p:sp>
        <p:nvSpPr>
          <p:cNvPr id="289" name="Google Shape;289;g3db971e7cb6_0_132"/>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spcBef>
                <a:spcPts val="0"/>
              </a:spcBef>
              <a:spcAft>
                <a:spcPts val="0"/>
              </a:spcAft>
              <a:buSzPts val="2400"/>
              <a:buChar char="•"/>
            </a:pPr>
            <a:r>
              <a:rPr lang="en-US"/>
              <a:t>Do the top 0.1% mean across sectors are statistically different within each positive extreme and negative extreme? log_return (left), arithmetic_return (right)</a:t>
            </a:r>
            <a:endParaRPr/>
          </a:p>
          <a:p>
            <a:pPr indent="457200" lvl="0" marL="0" rtl="0" algn="l">
              <a:spcBef>
                <a:spcPts val="400"/>
              </a:spcBef>
              <a:spcAft>
                <a:spcPts val="0"/>
              </a:spcAft>
              <a:buNone/>
            </a:pPr>
            <a:r>
              <a:rPr i="1" lang="en-US" sz="1800"/>
              <a:t>Less impact of return definition because we are comparing positive / positive and negative / negative.</a:t>
            </a:r>
            <a:br>
              <a:rPr i="1" lang="en-US" sz="1800"/>
            </a:br>
            <a:r>
              <a:rPr i="1" lang="en-US" sz="1800"/>
              <a:t>	Extreme Value Theory and Generalized Pareto Distribution territory.</a:t>
            </a:r>
            <a:endParaRPr i="1" sz="1800"/>
          </a:p>
          <a:p>
            <a:pPr indent="457200" lvl="0" marL="0" rtl="0" algn="l">
              <a:spcBef>
                <a:spcPts val="400"/>
              </a:spcBef>
              <a:spcAft>
                <a:spcPts val="0"/>
              </a:spcAft>
              <a:buNone/>
            </a:pPr>
            <a:r>
              <a:t/>
            </a:r>
            <a:endParaRPr i="1" sz="1800"/>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290" name="Google Shape;290;g3db971e7cb6_0_132"/>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291" name="Google Shape;291;g3db971e7cb6_0_132"/>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292" name="Google Shape;292;g3db971e7cb6_0_132"/>
          <p:cNvPicPr preferRelativeResize="0"/>
          <p:nvPr/>
        </p:nvPicPr>
        <p:blipFill>
          <a:blip r:embed="rId3">
            <a:alphaModFix/>
          </a:blip>
          <a:stretch>
            <a:fillRect/>
          </a:stretch>
        </p:blipFill>
        <p:spPr>
          <a:xfrm>
            <a:off x="6165588" y="3671563"/>
            <a:ext cx="5791200" cy="771525"/>
          </a:xfrm>
          <a:prstGeom prst="rect">
            <a:avLst/>
          </a:prstGeom>
          <a:noFill/>
          <a:ln>
            <a:noFill/>
          </a:ln>
        </p:spPr>
      </p:pic>
      <p:pic>
        <p:nvPicPr>
          <p:cNvPr id="293" name="Google Shape;293;g3db971e7cb6_0_132"/>
          <p:cNvPicPr preferRelativeResize="0"/>
          <p:nvPr/>
        </p:nvPicPr>
        <p:blipFill>
          <a:blip r:embed="rId4">
            <a:alphaModFix/>
          </a:blip>
          <a:stretch>
            <a:fillRect/>
          </a:stretch>
        </p:blipFill>
        <p:spPr>
          <a:xfrm>
            <a:off x="374388" y="3671563"/>
            <a:ext cx="5791200" cy="771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db971e7cb6_0_33"/>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00" name="Google Shape;300;g3db971e7cb6_0_33"/>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factor models explain extreme returns as well as they explain the full distribution?</a:t>
            </a:r>
            <a:br>
              <a:rPr lang="en-US"/>
            </a:br>
            <a:br>
              <a:rPr lang="en-US"/>
            </a:br>
            <a:r>
              <a:rPr lang="en-US"/>
              <a:t>CAPM : Ri​−Rf​=α+β(Rm​−Rf​)</a:t>
            </a:r>
            <a:br>
              <a:rPr lang="en-US"/>
            </a:br>
            <a:br>
              <a:rPr lang="en-US"/>
            </a:br>
            <a:r>
              <a:rPr lang="en-US"/>
              <a:t>Ri​ — the return of your stock (or portfolio)</a:t>
            </a:r>
            <a:endParaRPr/>
          </a:p>
          <a:p>
            <a:pPr indent="0" lvl="0" marL="342900" rtl="0" algn="l">
              <a:spcBef>
                <a:spcPts val="0"/>
              </a:spcBef>
              <a:spcAft>
                <a:spcPts val="0"/>
              </a:spcAft>
              <a:buNone/>
            </a:pPr>
            <a:r>
              <a:rPr lang="en-US"/>
              <a:t>Rm — the return of the market (S&amp;P500 index)</a:t>
            </a:r>
            <a:endParaRPr/>
          </a:p>
          <a:p>
            <a:pPr indent="0" lvl="0" marL="342900" rtl="0" algn="l">
              <a:spcBef>
                <a:spcPts val="0"/>
              </a:spcBef>
              <a:spcAft>
                <a:spcPts val="0"/>
              </a:spcAft>
              <a:buNone/>
            </a:pPr>
            <a:r>
              <a:rPr lang="en-US"/>
              <a:t>Rf — the risk-free rate (DTB3, the 3-month T-bill)</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01" name="Google Shape;301;g3db971e7cb6_0_33"/>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02" name="Google Shape;302;g3db971e7cb6_0_33"/>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g39a84e3b28a_0_2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09" name="Google Shape;309;g39a84e3b28a_0_2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a:t>Build a simple OLS for CAPM on AAPL to test.</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10" name="Google Shape;310;g39a84e3b28a_0_2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11" name="Google Shape;311;g39a84e3b28a_0_2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12" name="Google Shape;312;g39a84e3b28a_0_29"/>
          <p:cNvPicPr preferRelativeResize="0"/>
          <p:nvPr/>
        </p:nvPicPr>
        <p:blipFill>
          <a:blip r:embed="rId3">
            <a:alphaModFix/>
          </a:blip>
          <a:stretch>
            <a:fillRect/>
          </a:stretch>
        </p:blipFill>
        <p:spPr>
          <a:xfrm>
            <a:off x="2177500" y="1681300"/>
            <a:ext cx="7838575" cy="4863299"/>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39a84e3b28a_0_3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19" name="Google Shape;319;g39a84e3b28a_0_38"/>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sz="1800"/>
              <a:t>Beta = 1.12 and highly significant (t = 59, p ≈ 0). AAPL moves slightly more than the market ,  a 1% market move corresponds to a 1.12% AAPL move on average. </a:t>
            </a:r>
            <a:endParaRPr sz="1800"/>
          </a:p>
          <a:p>
            <a:pPr indent="0" lvl="0" marL="342900" rtl="0" algn="l">
              <a:spcBef>
                <a:spcPts val="0"/>
              </a:spcBef>
              <a:spcAft>
                <a:spcPts val="0"/>
              </a:spcAft>
              <a:buNone/>
            </a:pPr>
            <a:r>
              <a:rPr lang="en-US" sz="1800"/>
              <a:t>R² = 0.47 means 47% of AAPL's daily return variance is explained by the market alone. For a single factor model on a single stock, that is respectable. The remaining 53% is idiosyncratic , company-specific news, earnings, product launches etc.</a:t>
            </a:r>
            <a:endParaRPr sz="1800"/>
          </a:p>
          <a:p>
            <a:pPr indent="0" lvl="0" marL="342900" rtl="0" algn="l">
              <a:spcBef>
                <a:spcPts val="0"/>
              </a:spcBef>
              <a:spcAft>
                <a:spcPts val="0"/>
              </a:spcAft>
              <a:buNone/>
            </a:pPr>
            <a:r>
              <a:rPr lang="en-US" sz="1800"/>
              <a:t>Alpha = 0.0005 and significant (p = 0.009). This is small but tells you AAPL generates a tiny daily excess return above what CAPM predicts , annualized that is roughly 0.0005 × 252 ≈ 12.6% annual alpha. </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rPr lang="en-US" sz="1800"/>
              <a:t>Jarque-Bera = 7574, p ≈ 0 , the residuals are overwhelmingly non-normal. </a:t>
            </a:r>
            <a:endParaRPr sz="1800"/>
          </a:p>
          <a:p>
            <a:pPr indent="0" lvl="0" marL="342900" rtl="0" algn="l">
              <a:spcBef>
                <a:spcPts val="0"/>
              </a:spcBef>
              <a:spcAft>
                <a:spcPts val="0"/>
              </a:spcAft>
              <a:buNone/>
            </a:pPr>
            <a:r>
              <a:rPr lang="en-US" sz="1800"/>
              <a:t>Kurtosis = 9.79 , the residuals have fat tails. </a:t>
            </a:r>
            <a:endParaRPr sz="1800"/>
          </a:p>
          <a:p>
            <a:pPr indent="0" lvl="0" marL="342900" rtl="0" algn="l">
              <a:lnSpc>
                <a:spcPct val="100000"/>
              </a:lnSpc>
              <a:spcBef>
                <a:spcPts val="0"/>
              </a:spcBef>
              <a:spcAft>
                <a:spcPts val="0"/>
              </a:spcAft>
              <a:buNone/>
            </a:pPr>
            <a:r>
              <a:t/>
            </a:r>
            <a:endParaRPr sz="1800"/>
          </a:p>
          <a:p>
            <a:pPr indent="-190500" lvl="0" marL="342900" rtl="0" algn="l">
              <a:lnSpc>
                <a:spcPct val="100000"/>
              </a:lnSpc>
              <a:spcBef>
                <a:spcPts val="480"/>
              </a:spcBef>
              <a:spcAft>
                <a:spcPts val="0"/>
              </a:spcAft>
              <a:buClr>
                <a:schemeClr val="dk1"/>
              </a:buClr>
              <a:buSzPts val="2400"/>
              <a:buFont typeface="Arial"/>
              <a:buNone/>
            </a:pPr>
            <a:r>
              <a:t/>
            </a:r>
            <a:endParaRPr sz="1800"/>
          </a:p>
        </p:txBody>
      </p:sp>
      <p:sp>
        <p:nvSpPr>
          <p:cNvPr id="320" name="Google Shape;320;g39a84e3b28a_0_3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21" name="Google Shape;321;g39a84e3b28a_0_3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g39a84e3b28a_0_4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28" name="Google Shape;328;g39a84e3b28a_0_4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29" name="Google Shape;329;g39a84e3b28a_0_4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30" name="Google Shape;330;g39a84e3b28a_0_48"/>
          <p:cNvPicPr preferRelativeResize="0"/>
          <p:nvPr/>
        </p:nvPicPr>
        <p:blipFill>
          <a:blip r:embed="rId3">
            <a:alphaModFix/>
          </a:blip>
          <a:stretch>
            <a:fillRect/>
          </a:stretch>
        </p:blipFill>
        <p:spPr>
          <a:xfrm>
            <a:off x="366275" y="969457"/>
            <a:ext cx="11325225" cy="56197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5" name="Shape 335"/>
        <p:cNvGrpSpPr/>
        <p:nvPr/>
      </p:nvGrpSpPr>
      <p:grpSpPr>
        <a:xfrm>
          <a:off x="0" y="0"/>
          <a:ext cx="0" cy="0"/>
          <a:chOff x="0" y="0"/>
          <a:chExt cx="0" cy="0"/>
        </a:xfrm>
      </p:grpSpPr>
      <p:sp>
        <p:nvSpPr>
          <p:cNvPr id="336" name="Google Shape;336;g39a84e3b28a_0_5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37" name="Google Shape;337;g39a84e3b28a_0_5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a:t>Do the CAPM regression on each individual stock for the whole set and summarize.</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338" name="Google Shape;338;g39a84e3b28a_0_5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39" name="Google Shape;339;g39a84e3b28a_0_5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40" name="Google Shape;340;g39a84e3b28a_0_57"/>
          <p:cNvPicPr preferRelativeResize="0"/>
          <p:nvPr/>
        </p:nvPicPr>
        <p:blipFill>
          <a:blip r:embed="rId3">
            <a:alphaModFix/>
          </a:blip>
          <a:stretch>
            <a:fillRect/>
          </a:stretch>
        </p:blipFill>
        <p:spPr>
          <a:xfrm>
            <a:off x="3248800" y="4970463"/>
            <a:ext cx="5695950" cy="981075"/>
          </a:xfrm>
          <a:prstGeom prst="rect">
            <a:avLst/>
          </a:prstGeom>
          <a:noFill/>
          <a:ln>
            <a:noFill/>
          </a:ln>
        </p:spPr>
      </p:pic>
      <p:pic>
        <p:nvPicPr>
          <p:cNvPr id="341" name="Google Shape;341;g39a84e3b28a_0_57"/>
          <p:cNvPicPr preferRelativeResize="0"/>
          <p:nvPr/>
        </p:nvPicPr>
        <p:blipFill>
          <a:blip r:embed="rId4">
            <a:alphaModFix/>
          </a:blip>
          <a:stretch>
            <a:fillRect/>
          </a:stretch>
        </p:blipFill>
        <p:spPr>
          <a:xfrm>
            <a:off x="3239988" y="2687900"/>
            <a:ext cx="5695950" cy="173355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g39a84e3b28a_0_6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48" name="Google Shape;348;g39a84e3b28a_0_68"/>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None/>
            </a:pPr>
            <a:r>
              <a:rPr lang="en-US" sz="1800"/>
              <a:t>Beta Median beta = 0.98, almost exactly 1.0. This is completely expected with S&amp;P500 constituents, which by construction are the market. </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rPr lang="en-US" sz="1800"/>
              <a:t>Median R² = 0.337 means the market factor explains about 34% of individual stock return variance on average. </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rPr lang="en-US" sz="1800"/>
              <a:t>Alpha </a:t>
            </a:r>
            <a:endParaRPr sz="1800"/>
          </a:p>
          <a:p>
            <a:pPr indent="0" lvl="0" marL="342900" rtl="0" algn="l">
              <a:spcBef>
                <a:spcPts val="0"/>
              </a:spcBef>
              <a:spcAft>
                <a:spcPts val="0"/>
              </a:spcAft>
              <a:buNone/>
            </a:pPr>
            <a:r>
              <a:rPr lang="en-US" sz="1800"/>
              <a:t>Only 9.2% of stocks show significant alpha at the 5% level. </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rPr lang="en-US" sz="1800"/>
              <a:t>The mean alpha = 0.0002 per day, which annualizes to roughly 0.0002 × 252 ≈ 5%. </a:t>
            </a:r>
            <a:endParaRPr sz="1800"/>
          </a:p>
          <a:p>
            <a:pPr indent="0" lvl="0" marL="342900" rtl="0" algn="l">
              <a:spcBef>
                <a:spcPts val="0"/>
              </a:spcBef>
              <a:spcAft>
                <a:spcPts val="0"/>
              </a:spcAft>
              <a:buNone/>
            </a:pPr>
            <a:r>
              <a:t/>
            </a:r>
            <a:endParaRPr sz="1800"/>
          </a:p>
          <a:p>
            <a:pPr indent="0" lvl="0" marL="342900" rtl="0" algn="l">
              <a:spcBef>
                <a:spcPts val="0"/>
              </a:spcBef>
              <a:spcAft>
                <a:spcPts val="0"/>
              </a:spcAft>
              <a:buNone/>
            </a:pPr>
            <a:r>
              <a:t/>
            </a:r>
            <a:endParaRPr sz="1800"/>
          </a:p>
          <a:p>
            <a:pPr indent="0" lvl="0" marL="342900" rtl="0" algn="l">
              <a:lnSpc>
                <a:spcPct val="100000"/>
              </a:lnSpc>
              <a:spcBef>
                <a:spcPts val="0"/>
              </a:spcBef>
              <a:spcAft>
                <a:spcPts val="0"/>
              </a:spcAft>
              <a:buNone/>
            </a:pPr>
            <a:r>
              <a:t/>
            </a:r>
            <a:endParaRPr sz="1800"/>
          </a:p>
          <a:p>
            <a:pPr indent="-190500" lvl="0" marL="342900" rtl="0" algn="l">
              <a:lnSpc>
                <a:spcPct val="100000"/>
              </a:lnSpc>
              <a:spcBef>
                <a:spcPts val="480"/>
              </a:spcBef>
              <a:spcAft>
                <a:spcPts val="0"/>
              </a:spcAft>
              <a:buClr>
                <a:schemeClr val="dk1"/>
              </a:buClr>
              <a:buSzPts val="2400"/>
              <a:buFont typeface="Arial"/>
              <a:buNone/>
            </a:pPr>
            <a:r>
              <a:t/>
            </a:r>
            <a:endParaRPr sz="1800"/>
          </a:p>
        </p:txBody>
      </p:sp>
      <p:sp>
        <p:nvSpPr>
          <p:cNvPr id="349" name="Google Shape;349;g39a84e3b28a_0_6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50" name="Google Shape;350;g39a84e3b28a_0_6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g39a84e3b28a_0_7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a:t>
            </a:r>
            <a:endParaRPr/>
          </a:p>
        </p:txBody>
      </p:sp>
      <p:sp>
        <p:nvSpPr>
          <p:cNvPr id="357" name="Google Shape;357;g39a84e3b28a_0_7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58" name="Google Shape;358;g39a84e3b28a_0_7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359" name="Google Shape;359;g39a84e3b28a_0_78"/>
          <p:cNvPicPr preferRelativeResize="0"/>
          <p:nvPr/>
        </p:nvPicPr>
        <p:blipFill>
          <a:blip r:embed="rId3">
            <a:alphaModFix/>
          </a:blip>
          <a:stretch>
            <a:fillRect/>
          </a:stretch>
        </p:blipFill>
        <p:spPr>
          <a:xfrm>
            <a:off x="152400" y="1851782"/>
            <a:ext cx="11888776" cy="3850767"/>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g3dfdcedfbbb_0_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366" name="Google Shape;366;g3dfdcedfbbb_0_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67" name="Google Shape;367;g3dfdcedfbbb_0_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368" name="Google Shape;368;g3dfdcedfbbb_0_0"/>
          <p:cNvSpPr txBox="1"/>
          <p:nvPr/>
        </p:nvSpPr>
        <p:spPr>
          <a:xfrm>
            <a:off x="734438" y="1135825"/>
            <a:ext cx="10724700" cy="11391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We first try with one ticker (“SMCI”) before looping and aggregating.</a:t>
            </a:r>
            <a:br>
              <a:rPr lang="en-US" sz="2400">
                <a:solidFill>
                  <a:schemeClr val="dk1"/>
                </a:solidFill>
                <a:latin typeface="Titillium Web"/>
                <a:ea typeface="Titillium Web"/>
                <a:cs typeface="Titillium Web"/>
                <a:sym typeface="Titillium Web"/>
              </a:rPr>
            </a:br>
            <a:endParaRPr/>
          </a:p>
        </p:txBody>
      </p:sp>
      <p:pic>
        <p:nvPicPr>
          <p:cNvPr id="369" name="Google Shape;369;g3dfdcedfbbb_0_0"/>
          <p:cNvPicPr preferRelativeResize="0"/>
          <p:nvPr/>
        </p:nvPicPr>
        <p:blipFill>
          <a:blip r:embed="rId3">
            <a:alphaModFix/>
          </a:blip>
          <a:stretch>
            <a:fillRect/>
          </a:stretch>
        </p:blipFill>
        <p:spPr>
          <a:xfrm>
            <a:off x="4229100" y="2062163"/>
            <a:ext cx="3733800" cy="27336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4" name="Shape 374"/>
        <p:cNvGrpSpPr/>
        <p:nvPr/>
      </p:nvGrpSpPr>
      <p:grpSpPr>
        <a:xfrm>
          <a:off x="0" y="0"/>
          <a:ext cx="0" cy="0"/>
          <a:chOff x="0" y="0"/>
          <a:chExt cx="0" cy="0"/>
        </a:xfrm>
      </p:grpSpPr>
      <p:sp>
        <p:nvSpPr>
          <p:cNvPr id="375" name="Google Shape;375;g3dfdcedfbbb_0_1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376" name="Google Shape;376;g3dfdcedfbbb_0_1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77" name="Google Shape;377;g3dfdcedfbbb_0_1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378" name="Google Shape;378;g3dfdcedfbbb_0_11"/>
          <p:cNvSpPr txBox="1"/>
          <p:nvPr/>
        </p:nvSpPr>
        <p:spPr>
          <a:xfrm>
            <a:off x="734438" y="1135825"/>
            <a:ext cx="10724700" cy="11391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We first try with one ticker (“SMCI”) before looping and aggregating.</a:t>
            </a:r>
            <a:br>
              <a:rPr lang="en-US" sz="2400">
                <a:solidFill>
                  <a:schemeClr val="dk1"/>
                </a:solidFill>
                <a:latin typeface="Titillium Web"/>
                <a:ea typeface="Titillium Web"/>
                <a:cs typeface="Titillium Web"/>
                <a:sym typeface="Titillium Web"/>
              </a:rPr>
            </a:br>
            <a:endParaRPr/>
          </a:p>
        </p:txBody>
      </p:sp>
      <p:pic>
        <p:nvPicPr>
          <p:cNvPr id="379" name="Google Shape;379;g3dfdcedfbbb_0_11"/>
          <p:cNvPicPr preferRelativeResize="0"/>
          <p:nvPr/>
        </p:nvPicPr>
        <p:blipFill>
          <a:blip r:embed="rId3">
            <a:alphaModFix/>
          </a:blip>
          <a:stretch>
            <a:fillRect/>
          </a:stretch>
        </p:blipFill>
        <p:spPr>
          <a:xfrm>
            <a:off x="2283325" y="2274925"/>
            <a:ext cx="7626962" cy="407568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4" name="Shape 384"/>
        <p:cNvGrpSpPr/>
        <p:nvPr/>
      </p:nvGrpSpPr>
      <p:grpSpPr>
        <a:xfrm>
          <a:off x="0" y="0"/>
          <a:ext cx="0" cy="0"/>
          <a:chOff x="0" y="0"/>
          <a:chExt cx="0" cy="0"/>
        </a:xfrm>
      </p:grpSpPr>
      <p:sp>
        <p:nvSpPr>
          <p:cNvPr id="385" name="Google Shape;385;g3dfdcedfbbb_0_2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386" name="Google Shape;386;g3dfdcedfbbb_0_2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87" name="Google Shape;387;g3dfdcedfbbb_0_2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388" name="Google Shape;388;g3dfdcedfbbb_0_21"/>
          <p:cNvSpPr txBox="1"/>
          <p:nvPr/>
        </p:nvSpPr>
        <p:spPr>
          <a:xfrm>
            <a:off x="734438" y="1135825"/>
            <a:ext cx="10724700" cy="15084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We first try with one ticker (“SMCI”) before looping and aggregating.</a:t>
            </a:r>
            <a:br>
              <a:rPr lang="en-US" sz="2400">
                <a:solidFill>
                  <a:schemeClr val="dk1"/>
                </a:solidFill>
                <a:latin typeface="Titillium Web"/>
                <a:ea typeface="Titillium Web"/>
                <a:cs typeface="Titillium Web"/>
                <a:sym typeface="Titillium Web"/>
              </a:rPr>
            </a:br>
            <a:r>
              <a:rPr i="1" lang="en-US" sz="2400">
                <a:solidFill>
                  <a:schemeClr val="dk1"/>
                </a:solidFill>
                <a:latin typeface="Titillium Web"/>
                <a:ea typeface="Titillium Web"/>
                <a:cs typeface="Titillium Web"/>
                <a:sym typeface="Titillium Web"/>
              </a:rPr>
              <a:t>Doing the OLS on the full tail is actually a mistake. (Mixing artifacts.)</a:t>
            </a:r>
            <a:br>
              <a:rPr lang="en-US" sz="2400">
                <a:solidFill>
                  <a:schemeClr val="dk1"/>
                </a:solidFill>
                <a:latin typeface="Titillium Web"/>
                <a:ea typeface="Titillium Web"/>
                <a:cs typeface="Titillium Web"/>
                <a:sym typeface="Titillium Web"/>
              </a:rPr>
            </a:br>
            <a:endParaRPr/>
          </a:p>
        </p:txBody>
      </p:sp>
      <p:pic>
        <p:nvPicPr>
          <p:cNvPr id="389" name="Google Shape;389;g3dfdcedfbbb_0_21"/>
          <p:cNvPicPr preferRelativeResize="0"/>
          <p:nvPr/>
        </p:nvPicPr>
        <p:blipFill>
          <a:blip r:embed="rId3">
            <a:alphaModFix/>
          </a:blip>
          <a:stretch>
            <a:fillRect/>
          </a:stretch>
        </p:blipFill>
        <p:spPr>
          <a:xfrm>
            <a:off x="2282525" y="2475450"/>
            <a:ext cx="7626962" cy="407568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g3dfdcedfbbb_0_42"/>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396" name="Google Shape;396;g3dfdcedfbbb_0_42"/>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397" name="Google Shape;397;g3dfdcedfbbb_0_42"/>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398" name="Google Shape;398;g3dfdcedfbbb_0_42"/>
          <p:cNvSpPr txBox="1"/>
          <p:nvPr/>
        </p:nvSpPr>
        <p:spPr>
          <a:xfrm>
            <a:off x="734438" y="1135825"/>
            <a:ext cx="10724700" cy="15084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We first try with one ticker (“SMCI”) before looping and aggregating.</a:t>
            </a:r>
            <a:br>
              <a:rPr lang="en-US" sz="2400">
                <a:solidFill>
                  <a:schemeClr val="dk1"/>
                </a:solidFill>
                <a:latin typeface="Titillium Web"/>
                <a:ea typeface="Titillium Web"/>
                <a:cs typeface="Titillium Web"/>
                <a:sym typeface="Titillium Web"/>
              </a:rPr>
            </a:br>
            <a:r>
              <a:rPr i="1" lang="en-US" sz="2400">
                <a:solidFill>
                  <a:schemeClr val="dk1"/>
                </a:solidFill>
                <a:latin typeface="Titillium Web"/>
                <a:ea typeface="Titillium Web"/>
                <a:cs typeface="Titillium Web"/>
                <a:sym typeface="Titillium Web"/>
              </a:rPr>
              <a:t>Doing the OLS on the full tail is actually a mistake. (Mixing artifacts.)</a:t>
            </a:r>
            <a:br>
              <a:rPr lang="en-US" sz="2400">
                <a:solidFill>
                  <a:schemeClr val="dk1"/>
                </a:solidFill>
                <a:latin typeface="Titillium Web"/>
                <a:ea typeface="Titillium Web"/>
                <a:cs typeface="Titillium Web"/>
                <a:sym typeface="Titillium Web"/>
              </a:rPr>
            </a:br>
            <a:endParaRPr/>
          </a:p>
        </p:txBody>
      </p:sp>
      <p:pic>
        <p:nvPicPr>
          <p:cNvPr id="399" name="Google Shape;399;g3dfdcedfbbb_0_42"/>
          <p:cNvPicPr preferRelativeResize="0"/>
          <p:nvPr/>
        </p:nvPicPr>
        <p:blipFill>
          <a:blip r:embed="rId3">
            <a:alphaModFix/>
          </a:blip>
          <a:stretch>
            <a:fillRect/>
          </a:stretch>
        </p:blipFill>
        <p:spPr>
          <a:xfrm>
            <a:off x="2817969" y="2339425"/>
            <a:ext cx="5982336" cy="4320576"/>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g3dfdcedfbbb_0_3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406" name="Google Shape;406;g3dfdcedfbbb_0_3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07" name="Google Shape;407;g3dfdcedfbbb_0_3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408" name="Google Shape;408;g3dfdcedfbbb_0_31"/>
          <p:cNvSpPr txBox="1"/>
          <p:nvPr/>
        </p:nvSpPr>
        <p:spPr>
          <a:xfrm>
            <a:off x="734438" y="1135825"/>
            <a:ext cx="10724700" cy="11391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We first try with one ticker (“SMCI”) before looping and aggregating.</a:t>
            </a:r>
            <a:br>
              <a:rPr lang="en-US" sz="2400">
                <a:solidFill>
                  <a:schemeClr val="dk1"/>
                </a:solidFill>
                <a:latin typeface="Titillium Web"/>
                <a:ea typeface="Titillium Web"/>
                <a:cs typeface="Titillium Web"/>
                <a:sym typeface="Titillium Web"/>
              </a:rPr>
            </a:br>
            <a:endParaRPr/>
          </a:p>
        </p:txBody>
      </p:sp>
      <p:pic>
        <p:nvPicPr>
          <p:cNvPr id="409" name="Google Shape;409;g3dfdcedfbbb_0_31"/>
          <p:cNvPicPr preferRelativeResize="0"/>
          <p:nvPr/>
        </p:nvPicPr>
        <p:blipFill>
          <a:blip r:embed="rId3">
            <a:alphaModFix/>
          </a:blip>
          <a:stretch>
            <a:fillRect/>
          </a:stretch>
        </p:blipFill>
        <p:spPr>
          <a:xfrm>
            <a:off x="6165588" y="2274926"/>
            <a:ext cx="5922444" cy="3164825"/>
          </a:xfrm>
          <a:prstGeom prst="rect">
            <a:avLst/>
          </a:prstGeom>
          <a:noFill/>
          <a:ln>
            <a:noFill/>
          </a:ln>
        </p:spPr>
      </p:pic>
      <p:pic>
        <p:nvPicPr>
          <p:cNvPr id="410" name="Google Shape;410;g3dfdcedfbbb_0_31"/>
          <p:cNvPicPr preferRelativeResize="0"/>
          <p:nvPr/>
        </p:nvPicPr>
        <p:blipFill>
          <a:blip r:embed="rId4">
            <a:alphaModFix/>
          </a:blip>
          <a:stretch>
            <a:fillRect/>
          </a:stretch>
        </p:blipFill>
        <p:spPr>
          <a:xfrm>
            <a:off x="98925" y="2291400"/>
            <a:ext cx="5860788" cy="313188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5" name="Shape 415"/>
        <p:cNvGrpSpPr/>
        <p:nvPr/>
      </p:nvGrpSpPr>
      <p:grpSpPr>
        <a:xfrm>
          <a:off x="0" y="0"/>
          <a:ext cx="0" cy="0"/>
          <a:chOff x="0" y="0"/>
          <a:chExt cx="0" cy="0"/>
        </a:xfrm>
      </p:grpSpPr>
      <p:sp>
        <p:nvSpPr>
          <p:cNvPr id="416" name="Google Shape;416;g3dfdcedfbbb_0_56"/>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417" name="Google Shape;417;g3dfdcedfbbb_0_56"/>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18" name="Google Shape;418;g3dfdcedfbbb_0_56"/>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419" name="Google Shape;419;g3dfdcedfbbb_0_56"/>
          <p:cNvSpPr txBox="1"/>
          <p:nvPr/>
        </p:nvSpPr>
        <p:spPr>
          <a:xfrm>
            <a:off x="734438" y="1135825"/>
            <a:ext cx="10724700" cy="15084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rPr lang="en-US" sz="2400">
                <a:solidFill>
                  <a:schemeClr val="dk1"/>
                </a:solidFill>
                <a:latin typeface="Titillium Web"/>
                <a:ea typeface="Titillium Web"/>
                <a:cs typeface="Titillium Web"/>
                <a:sym typeface="Titillium Web"/>
              </a:rPr>
              <a:t>Now test the CAPM on the top 0.1%.</a:t>
            </a:r>
            <a:br>
              <a:rPr lang="en-US" sz="2400">
                <a:solidFill>
                  <a:schemeClr val="dk1"/>
                </a:solidFill>
                <a:latin typeface="Titillium Web"/>
                <a:ea typeface="Titillium Web"/>
                <a:cs typeface="Titillium Web"/>
                <a:sym typeface="Titillium Web"/>
              </a:rPr>
            </a:br>
            <a:r>
              <a:rPr lang="en-US" sz="2400">
                <a:solidFill>
                  <a:schemeClr val="dk1"/>
                </a:solidFill>
                <a:latin typeface="Titillium Web"/>
                <a:ea typeface="Titillium Web"/>
                <a:cs typeface="Titillium Web"/>
                <a:sym typeface="Titillium Web"/>
              </a:rPr>
              <a:t>Here, separating on both tails. Minimum of 5 extreme obs. per ticker for the OLS.</a:t>
            </a:r>
            <a:br>
              <a:rPr lang="en-US" sz="2400">
                <a:solidFill>
                  <a:schemeClr val="dk1"/>
                </a:solidFill>
                <a:latin typeface="Titillium Web"/>
                <a:ea typeface="Titillium Web"/>
                <a:cs typeface="Titillium Web"/>
                <a:sym typeface="Titillium Web"/>
              </a:rPr>
            </a:br>
            <a:endParaRPr/>
          </a:p>
        </p:txBody>
      </p:sp>
      <p:pic>
        <p:nvPicPr>
          <p:cNvPr id="420" name="Google Shape;420;g3dfdcedfbbb_0_56"/>
          <p:cNvPicPr preferRelativeResize="0"/>
          <p:nvPr/>
        </p:nvPicPr>
        <p:blipFill>
          <a:blip r:embed="rId3">
            <a:alphaModFix/>
          </a:blip>
          <a:stretch>
            <a:fillRect/>
          </a:stretch>
        </p:blipFill>
        <p:spPr>
          <a:xfrm>
            <a:off x="1548613" y="3429000"/>
            <a:ext cx="9096375" cy="1238250"/>
          </a:xfrm>
          <a:prstGeom prst="rect">
            <a:avLst/>
          </a:prstGeom>
          <a:noFill/>
          <a:ln>
            <a:noFill/>
          </a:ln>
        </p:spPr>
      </p:pic>
      <p:sp>
        <p:nvSpPr>
          <p:cNvPr id="421" name="Google Shape;421;g3dfdcedfbbb_0_56"/>
          <p:cNvSpPr txBox="1"/>
          <p:nvPr/>
        </p:nvSpPr>
        <p:spPr>
          <a:xfrm>
            <a:off x="1356600" y="5179825"/>
            <a:ext cx="9478800" cy="762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pct_sig_alpha &amp; pct_sig_beta = percentage of stock where alpha or beta had a </a:t>
            </a:r>
            <a:r>
              <a:rPr lang="en-US"/>
              <a:t>significant</a:t>
            </a:r>
            <a:r>
              <a:rPr lang="en-US"/>
              <a:t> p-value (&gt;0.05).</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6" name="Shape 426"/>
        <p:cNvGrpSpPr/>
        <p:nvPr/>
      </p:nvGrpSpPr>
      <p:grpSpPr>
        <a:xfrm>
          <a:off x="0" y="0"/>
          <a:ext cx="0" cy="0"/>
          <a:chOff x="0" y="0"/>
          <a:chExt cx="0" cy="0"/>
        </a:xfrm>
      </p:grpSpPr>
      <p:sp>
        <p:nvSpPr>
          <p:cNvPr id="427" name="Google Shape;427;g3dfdcedfbbb_0_7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CAPM Modeling for the top 0.1%</a:t>
            </a:r>
            <a:endParaRPr/>
          </a:p>
        </p:txBody>
      </p:sp>
      <p:sp>
        <p:nvSpPr>
          <p:cNvPr id="428" name="Google Shape;428;g3dfdcedfbbb_0_7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29" name="Google Shape;429;g3dfdcedfbbb_0_7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
        <p:nvSpPr>
          <p:cNvPr id="430" name="Google Shape;430;g3dfdcedfbbb_0_70"/>
          <p:cNvSpPr txBox="1"/>
          <p:nvPr/>
        </p:nvSpPr>
        <p:spPr>
          <a:xfrm>
            <a:off x="734438" y="1135825"/>
            <a:ext cx="10724700" cy="1293000"/>
          </a:xfrm>
          <a:prstGeom prst="rect">
            <a:avLst/>
          </a:prstGeom>
          <a:noFill/>
          <a:ln>
            <a:noFill/>
          </a:ln>
        </p:spPr>
        <p:txBody>
          <a:bodyPr anchorCtr="0" anchor="t" bIns="91425" lIns="91425" spcFirstLastPara="1" rIns="91425" wrap="square" tIns="91425">
            <a:spAutoFit/>
          </a:bodyPr>
          <a:lstStyle/>
          <a:p>
            <a:pPr indent="0" lvl="0" marL="342900" rtl="0" algn="l">
              <a:spcBef>
                <a:spcPts val="0"/>
              </a:spcBef>
              <a:spcAft>
                <a:spcPts val="0"/>
              </a:spcAft>
              <a:buNone/>
            </a:pPr>
            <a:r>
              <a:t/>
            </a:r>
            <a:endParaRPr sz="2400">
              <a:solidFill>
                <a:schemeClr val="dk1"/>
              </a:solidFill>
              <a:latin typeface="Titillium Web"/>
              <a:ea typeface="Titillium Web"/>
              <a:cs typeface="Titillium Web"/>
              <a:sym typeface="Titillium Web"/>
            </a:endParaRPr>
          </a:p>
          <a:p>
            <a:pPr indent="0" lvl="0" marL="342900" rtl="0" algn="l">
              <a:spcBef>
                <a:spcPts val="0"/>
              </a:spcBef>
              <a:spcAft>
                <a:spcPts val="0"/>
              </a:spcAft>
              <a:buNone/>
            </a:pPr>
            <a:r>
              <a:rPr lang="en-US" sz="2400">
                <a:solidFill>
                  <a:srgbClr val="FF0000"/>
                </a:solidFill>
                <a:latin typeface="Titillium Web"/>
                <a:ea typeface="Titillium Web"/>
                <a:cs typeface="Titillium Web"/>
                <a:sym typeface="Titillium Web"/>
              </a:rPr>
              <a:t>CAPM shows very little correlation between stock excess and market excess in the tails !</a:t>
            </a:r>
            <a:endParaRPr sz="2400">
              <a:solidFill>
                <a:srgbClr val="FF0000"/>
              </a:solidFill>
              <a:latin typeface="Titillium Web"/>
              <a:ea typeface="Titillium Web"/>
              <a:cs typeface="Titillium Web"/>
              <a:sym typeface="Titillium Web"/>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g3dfdcedfbbb_0_8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3F</a:t>
            </a:r>
            <a:r>
              <a:rPr lang="en-US"/>
              <a:t> Modeling for the top 0.1%</a:t>
            </a:r>
            <a:endParaRPr/>
          </a:p>
        </p:txBody>
      </p:sp>
      <p:sp>
        <p:nvSpPr>
          <p:cNvPr id="437" name="Google Shape;437;g3dfdcedfbbb_0_8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factor models explain extreme returns as well as they explain the full distribution?</a:t>
            </a:r>
            <a:br>
              <a:rPr lang="en-US"/>
            </a:br>
            <a:br>
              <a:rPr lang="en-US"/>
            </a:br>
            <a:r>
              <a:rPr lang="en-US"/>
              <a:t>FF3 : Ri​−Rf​=α+β(Rm​−Rf​)</a:t>
            </a:r>
            <a:r>
              <a:rPr lang="en-US"/>
              <a:t>+βSMB​⋅SMB+βHML​⋅HML</a:t>
            </a:r>
            <a:br>
              <a:rPr lang="en-US"/>
            </a:br>
            <a:br>
              <a:rPr lang="en-US"/>
            </a:br>
            <a:r>
              <a:rPr lang="en-US"/>
              <a:t>Ri​ - the return of your stock (or portfolio)</a:t>
            </a:r>
            <a:endParaRPr/>
          </a:p>
          <a:p>
            <a:pPr indent="0" lvl="0" marL="342900" rtl="0" algn="l">
              <a:spcBef>
                <a:spcPts val="0"/>
              </a:spcBef>
              <a:spcAft>
                <a:spcPts val="0"/>
              </a:spcAft>
              <a:buNone/>
            </a:pPr>
            <a:r>
              <a:rPr lang="en-US"/>
              <a:t>Rm - the return of the market (S&amp;P500 index)</a:t>
            </a:r>
            <a:endParaRPr/>
          </a:p>
          <a:p>
            <a:pPr indent="0" lvl="0" marL="342900" rtl="0" algn="l">
              <a:spcBef>
                <a:spcPts val="0"/>
              </a:spcBef>
              <a:spcAft>
                <a:spcPts val="0"/>
              </a:spcAft>
              <a:buNone/>
            </a:pPr>
            <a:r>
              <a:rPr lang="en-US"/>
              <a:t>Rf - the risk-free rate (DTB3, the 3-month T-bill)</a:t>
            </a:r>
            <a:endParaRPr/>
          </a:p>
          <a:p>
            <a:pPr indent="0" lvl="0" marL="342900" rtl="0" algn="l">
              <a:spcBef>
                <a:spcPts val="0"/>
              </a:spcBef>
              <a:spcAft>
                <a:spcPts val="0"/>
              </a:spcAft>
              <a:buNone/>
            </a:pPr>
            <a:r>
              <a:rPr lang="en-US"/>
              <a:t>SMB - Small minus Big (market cap factors)</a:t>
            </a:r>
            <a:endParaRPr/>
          </a:p>
          <a:p>
            <a:pPr indent="0" lvl="0" marL="342900" rtl="0" algn="l">
              <a:spcBef>
                <a:spcPts val="0"/>
              </a:spcBef>
              <a:spcAft>
                <a:spcPts val="0"/>
              </a:spcAft>
              <a:buNone/>
            </a:pPr>
            <a:r>
              <a:rPr lang="en-US"/>
              <a:t>HML - High minus Low (book to market ratio)</a:t>
            </a: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438" name="Google Shape;438;g3dfdcedfbbb_0_8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39" name="Google Shape;439;g3dfdcedfbbb_0_8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g3dfdcedfbbb_0_88"/>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3F Modeling for the top 0.1%</a:t>
            </a:r>
            <a:endParaRPr/>
          </a:p>
        </p:txBody>
      </p:sp>
      <p:sp>
        <p:nvSpPr>
          <p:cNvPr id="446" name="Google Shape;446;g3dfdcedfbbb_0_88"/>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FF3 on the whole set of S&amp;P500 from 01.01.2010</a:t>
            </a:r>
            <a:br>
              <a:rPr lang="en-US"/>
            </a:br>
            <a:br>
              <a:rPr lang="en-US"/>
            </a:b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447" name="Google Shape;447;g3dfdcedfbbb_0_88"/>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48" name="Google Shape;448;g3dfdcedfbbb_0_88"/>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449" name="Google Shape;449;g3dfdcedfbbb_0_88"/>
          <p:cNvPicPr preferRelativeResize="0"/>
          <p:nvPr/>
        </p:nvPicPr>
        <p:blipFill>
          <a:blip r:embed="rId3">
            <a:alphaModFix/>
          </a:blip>
          <a:stretch>
            <a:fillRect/>
          </a:stretch>
        </p:blipFill>
        <p:spPr>
          <a:xfrm>
            <a:off x="4076525" y="1957775"/>
            <a:ext cx="4038950" cy="4583275"/>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g3dfdcedfbbb_0_10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3F Modeling for the top 0.1%</a:t>
            </a:r>
            <a:endParaRPr/>
          </a:p>
        </p:txBody>
      </p:sp>
      <p:sp>
        <p:nvSpPr>
          <p:cNvPr id="456" name="Google Shape;456;g3dfdcedfbbb_0_10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FF3 for the top 0.1%. R2 Increases ! ... but no, it is overfit.</a:t>
            </a:r>
            <a:br>
              <a:rPr lang="en-US"/>
            </a:br>
            <a:br>
              <a:rPr lang="en-US"/>
            </a:b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p:txBody>
      </p:sp>
      <p:sp>
        <p:nvSpPr>
          <p:cNvPr id="457" name="Google Shape;457;g3dfdcedfbbb_0_10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58" name="Google Shape;458;g3dfdcedfbbb_0_10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459" name="Google Shape;459;g3dfdcedfbbb_0_107"/>
          <p:cNvPicPr preferRelativeResize="0"/>
          <p:nvPr/>
        </p:nvPicPr>
        <p:blipFill>
          <a:blip r:embed="rId3">
            <a:alphaModFix/>
          </a:blip>
          <a:stretch>
            <a:fillRect/>
          </a:stretch>
        </p:blipFill>
        <p:spPr>
          <a:xfrm>
            <a:off x="2005013" y="2314575"/>
            <a:ext cx="8181975" cy="22288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g3dfdcedfbbb_0_11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3F Modeling for the top 0.1%</a:t>
            </a:r>
            <a:endParaRPr/>
          </a:p>
        </p:txBody>
      </p:sp>
      <p:sp>
        <p:nvSpPr>
          <p:cNvPr id="466" name="Google Shape;466;g3dfdcedfbbb_0_11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FF3 </a:t>
            </a:r>
            <a:r>
              <a:rPr lang="en-US"/>
              <a:t>for the top 0.1%</a:t>
            </a:r>
            <a:r>
              <a:rPr lang="en-US"/>
              <a:t>. With adjusted R2.</a:t>
            </a:r>
            <a:br>
              <a:rPr lang="en-US"/>
            </a:br>
            <a:br>
              <a:rPr lang="en-US"/>
            </a:br>
            <a:endParaRPr/>
          </a:p>
          <a:p>
            <a:pPr indent="0" lvl="0" marL="342900" rtl="0" algn="l">
              <a:lnSpc>
                <a:spcPct val="100000"/>
              </a:lnSpc>
              <a:spcBef>
                <a:spcPts val="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rPr lang="en-US">
                <a:solidFill>
                  <a:srgbClr val="FF0000"/>
                </a:solidFill>
              </a:rPr>
              <a:t>Neither CAPM nor FF3 seems good to explain extreme returns. Adding size and value factors absorbs some alpha but the vast majority of tail behavior remains idiosyncratic and unexplained by systematic factors.</a:t>
            </a:r>
            <a:endParaRPr>
              <a:solidFill>
                <a:srgbClr val="FF0000"/>
              </a:solidFill>
            </a:endParaRPr>
          </a:p>
        </p:txBody>
      </p:sp>
      <p:sp>
        <p:nvSpPr>
          <p:cNvPr id="467" name="Google Shape;467;g3dfdcedfbbb_0_11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68" name="Google Shape;468;g3dfdcedfbbb_0_11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469" name="Google Shape;469;g3dfdcedfbbb_0_117"/>
          <p:cNvPicPr preferRelativeResize="0"/>
          <p:nvPr/>
        </p:nvPicPr>
        <p:blipFill>
          <a:blip r:embed="rId3">
            <a:alphaModFix/>
          </a:blip>
          <a:stretch>
            <a:fillRect/>
          </a:stretch>
        </p:blipFill>
        <p:spPr>
          <a:xfrm>
            <a:off x="2282025" y="2314575"/>
            <a:ext cx="7629525" cy="222885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4" name="Shape 474"/>
        <p:cNvGrpSpPr/>
        <p:nvPr/>
      </p:nvGrpSpPr>
      <p:grpSpPr>
        <a:xfrm>
          <a:off x="0" y="0"/>
          <a:ext cx="0" cy="0"/>
          <a:chOff x="0" y="0"/>
          <a:chExt cx="0" cy="0"/>
        </a:xfrm>
      </p:grpSpPr>
      <p:sp>
        <p:nvSpPr>
          <p:cNvPr id="475" name="Google Shape;475;g3db971e7cb6_0_24"/>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Momentum</a:t>
            </a:r>
            <a:r>
              <a:rPr lang="en-US"/>
              <a:t> for the top 0.1%</a:t>
            </a:r>
            <a:endParaRPr/>
          </a:p>
        </p:txBody>
      </p:sp>
      <p:sp>
        <p:nvSpPr>
          <p:cNvPr id="476" name="Google Shape;476;g3db971e7cb6_0_24"/>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42900" lvl="0" marL="342900" rtl="0" algn="l">
              <a:lnSpc>
                <a:spcPct val="100000"/>
              </a:lnSpc>
              <a:spcBef>
                <a:spcPts val="0"/>
              </a:spcBef>
              <a:spcAft>
                <a:spcPts val="0"/>
              </a:spcAft>
              <a:buClr>
                <a:schemeClr val="dk1"/>
              </a:buClr>
              <a:buSzPts val="2400"/>
              <a:buFont typeface="Arial"/>
              <a:buChar char="•"/>
            </a:pPr>
            <a:r>
              <a:rPr lang="en-US"/>
              <a:t>Do extreme returns have a persistence component to them?</a:t>
            </a:r>
            <a:br>
              <a:rPr lang="en-US"/>
            </a:br>
            <a:r>
              <a:rPr lang="en-US"/>
              <a:t>The case for momentum also known as the Carhart 4 factors model.</a:t>
            </a:r>
            <a:endParaRPr/>
          </a:p>
          <a:p>
            <a:pPr indent="0" lvl="0" marL="557213" rtl="0" algn="l">
              <a:lnSpc>
                <a:spcPct val="100000"/>
              </a:lnSpc>
              <a:spcBef>
                <a:spcPts val="400"/>
              </a:spcBef>
              <a:spcAft>
                <a:spcPts val="0"/>
              </a:spcAft>
              <a:buNone/>
            </a:pPr>
            <a:r>
              <a:t/>
            </a:r>
            <a:endParaRPr/>
          </a:p>
          <a:p>
            <a:pPr indent="-190500" lvl="0" marL="342900" rtl="0" algn="l">
              <a:lnSpc>
                <a:spcPct val="100000"/>
              </a:lnSpc>
              <a:spcBef>
                <a:spcPts val="480"/>
              </a:spcBef>
              <a:spcAft>
                <a:spcPts val="0"/>
              </a:spcAft>
              <a:buClr>
                <a:schemeClr val="dk1"/>
              </a:buClr>
              <a:buSzPts val="2400"/>
              <a:buFont typeface="Arial"/>
              <a:buNone/>
            </a:pPr>
            <a:r>
              <a:t/>
            </a:r>
            <a:endParaRPr/>
          </a:p>
          <a:p>
            <a:pPr indent="-190500" lvl="0" marL="342900" rtl="0" algn="l">
              <a:lnSpc>
                <a:spcPct val="100000"/>
              </a:lnSpc>
              <a:spcBef>
                <a:spcPts val="480"/>
              </a:spcBef>
              <a:spcAft>
                <a:spcPts val="0"/>
              </a:spcAft>
              <a:buClr>
                <a:schemeClr val="dk1"/>
              </a:buClr>
              <a:buSzPts val="2400"/>
              <a:buFont typeface="Arial"/>
              <a:buNone/>
            </a:pPr>
            <a:r>
              <a:rPr lang="en-US"/>
              <a:t>Ri−Rf=α+βm(Rm−Rf)+βSMB⋅SMB+βHML⋅HML+βUMD⋅UMD</a:t>
            </a:r>
            <a:br>
              <a:rPr lang="en-US"/>
            </a:br>
            <a:br>
              <a:rPr lang="en-US"/>
            </a:br>
            <a:r>
              <a:rPr lang="en-US"/>
              <a:t>Ri​ - the return of your stock (or portfolio)</a:t>
            </a:r>
            <a:endParaRPr/>
          </a:p>
          <a:p>
            <a:pPr indent="0" lvl="0" marL="342900" rtl="0" algn="l">
              <a:spcBef>
                <a:spcPts val="0"/>
              </a:spcBef>
              <a:spcAft>
                <a:spcPts val="0"/>
              </a:spcAft>
              <a:buClr>
                <a:schemeClr val="dk1"/>
              </a:buClr>
              <a:buSzPts val="1100"/>
              <a:buFont typeface="Arial"/>
              <a:buNone/>
            </a:pPr>
            <a:r>
              <a:rPr lang="en-US"/>
              <a:t>Rm - the return of the market (S&amp;P500 index)</a:t>
            </a:r>
            <a:endParaRPr/>
          </a:p>
          <a:p>
            <a:pPr indent="0" lvl="0" marL="342900" rtl="0" algn="l">
              <a:spcBef>
                <a:spcPts val="0"/>
              </a:spcBef>
              <a:spcAft>
                <a:spcPts val="0"/>
              </a:spcAft>
              <a:buClr>
                <a:schemeClr val="dk1"/>
              </a:buClr>
              <a:buSzPts val="1100"/>
              <a:buFont typeface="Arial"/>
              <a:buNone/>
            </a:pPr>
            <a:r>
              <a:rPr lang="en-US"/>
              <a:t>Rf - the risk-free rate (DTB3, the 3-month T-bill)</a:t>
            </a:r>
            <a:endParaRPr/>
          </a:p>
          <a:p>
            <a:pPr indent="0" lvl="0" marL="342900" rtl="0" algn="l">
              <a:spcBef>
                <a:spcPts val="0"/>
              </a:spcBef>
              <a:spcAft>
                <a:spcPts val="0"/>
              </a:spcAft>
              <a:buClr>
                <a:schemeClr val="dk1"/>
              </a:buClr>
              <a:buSzPts val="1100"/>
              <a:buFont typeface="Arial"/>
              <a:buNone/>
            </a:pPr>
            <a:r>
              <a:rPr lang="en-US"/>
              <a:t>SMB - Small minus Big (market cap factors)</a:t>
            </a:r>
            <a:endParaRPr/>
          </a:p>
          <a:p>
            <a:pPr indent="0" lvl="0" marL="342900" rtl="0" algn="l">
              <a:spcBef>
                <a:spcPts val="0"/>
              </a:spcBef>
              <a:spcAft>
                <a:spcPts val="0"/>
              </a:spcAft>
              <a:buClr>
                <a:schemeClr val="dk1"/>
              </a:buClr>
              <a:buSzPts val="1100"/>
              <a:buFont typeface="Arial"/>
              <a:buNone/>
            </a:pPr>
            <a:r>
              <a:rPr lang="en-US"/>
              <a:t>HML - High minus Low (book to market ratio)</a:t>
            </a:r>
            <a:br>
              <a:rPr lang="en-US"/>
            </a:br>
            <a:r>
              <a:rPr lang="en-US"/>
              <a:t>UMD - Up minus Down (long time winners vs long time losers)</a:t>
            </a:r>
            <a:endParaRPr/>
          </a:p>
        </p:txBody>
      </p:sp>
      <p:sp>
        <p:nvSpPr>
          <p:cNvPr id="477" name="Google Shape;477;g3db971e7cb6_0_24"/>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78" name="Google Shape;478;g3db971e7cb6_0_24"/>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g3dfdcedfbbb_0_149"/>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Momentum for the top 0.1%</a:t>
            </a:r>
            <a:endParaRPr/>
          </a:p>
        </p:txBody>
      </p:sp>
      <p:sp>
        <p:nvSpPr>
          <p:cNvPr id="485" name="Google Shape;485;g3dfdcedfbbb_0_149"/>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Adjusted R2 doubles in the tails and the </a:t>
            </a:r>
            <a:r>
              <a:rPr lang="en-US"/>
              <a:t>percentage</a:t>
            </a:r>
            <a:r>
              <a:rPr lang="en-US"/>
              <a:t> of stocks with a significant alpha is halved ! Rallies go against momentum. Crashes follow it. The UMD significance tells us that it explains crashes better than rallies.</a:t>
            </a:r>
            <a:endParaRPr/>
          </a:p>
        </p:txBody>
      </p:sp>
      <p:sp>
        <p:nvSpPr>
          <p:cNvPr id="486" name="Google Shape;486;g3dfdcedfbbb_0_149"/>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87" name="Google Shape;487;g3dfdcedfbbb_0_149"/>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488" name="Google Shape;488;g3dfdcedfbbb_0_149"/>
          <p:cNvPicPr preferRelativeResize="0"/>
          <p:nvPr/>
        </p:nvPicPr>
        <p:blipFill>
          <a:blip r:embed="rId3">
            <a:alphaModFix/>
          </a:blip>
          <a:stretch>
            <a:fillRect/>
          </a:stretch>
        </p:blipFill>
        <p:spPr>
          <a:xfrm>
            <a:off x="2538413" y="2865750"/>
            <a:ext cx="7115175" cy="3524250"/>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3" name="Shape 493"/>
        <p:cNvGrpSpPr/>
        <p:nvPr/>
      </p:nvGrpSpPr>
      <p:grpSpPr>
        <a:xfrm>
          <a:off x="0" y="0"/>
          <a:ext cx="0" cy="0"/>
          <a:chOff x="0" y="0"/>
          <a:chExt cx="0" cy="0"/>
        </a:xfrm>
      </p:grpSpPr>
      <p:sp>
        <p:nvSpPr>
          <p:cNvPr id="494" name="Google Shape;494;g3dfdcedfbbb_0_160"/>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a:t>
            </a:r>
            <a:r>
              <a:rPr lang="en-US"/>
              <a:t> for the top 0.1%</a:t>
            </a:r>
            <a:endParaRPr/>
          </a:p>
        </p:txBody>
      </p:sp>
      <p:sp>
        <p:nvSpPr>
          <p:cNvPr id="495" name="Google Shape;495;g3dfdcedfbbb_0_160"/>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br>
              <a:rPr lang="en-US"/>
            </a:br>
            <a:r>
              <a:rPr lang="en-US"/>
              <a:t>(using a proxy of financial news headlines)</a:t>
            </a:r>
            <a:br>
              <a:rPr lang="en-US"/>
            </a:br>
            <a:br>
              <a:rPr lang="en-US"/>
            </a:br>
            <a:r>
              <a:rPr lang="en-US"/>
              <a:t>Ri−Rf=α+βm(Rm−Rf)+βSMB⋅SMB+βHML⋅HML+βUMD⋅UMD+βSENT⋅SENT</a:t>
            </a:r>
            <a:br>
              <a:rPr lang="en-US"/>
            </a:br>
            <a:br>
              <a:rPr lang="en-US"/>
            </a:br>
            <a:r>
              <a:rPr lang="en-US"/>
              <a:t>Ri​ - the return of your stock (or portfolio)</a:t>
            </a:r>
            <a:endParaRPr/>
          </a:p>
          <a:p>
            <a:pPr indent="0" lvl="0" marL="342900" rtl="0" algn="l">
              <a:spcBef>
                <a:spcPts val="0"/>
              </a:spcBef>
              <a:spcAft>
                <a:spcPts val="0"/>
              </a:spcAft>
              <a:buClr>
                <a:schemeClr val="dk1"/>
              </a:buClr>
              <a:buSzPts val="1100"/>
              <a:buFont typeface="Arial"/>
              <a:buNone/>
            </a:pPr>
            <a:r>
              <a:rPr lang="en-US"/>
              <a:t>Rm - the return of the market (S&amp;P500 index)</a:t>
            </a:r>
            <a:endParaRPr/>
          </a:p>
          <a:p>
            <a:pPr indent="0" lvl="0" marL="342900" rtl="0" algn="l">
              <a:spcBef>
                <a:spcPts val="0"/>
              </a:spcBef>
              <a:spcAft>
                <a:spcPts val="0"/>
              </a:spcAft>
              <a:buClr>
                <a:schemeClr val="dk1"/>
              </a:buClr>
              <a:buSzPts val="1100"/>
              <a:buFont typeface="Arial"/>
              <a:buNone/>
            </a:pPr>
            <a:r>
              <a:rPr lang="en-US"/>
              <a:t>Rf - the risk-free rate (DTB3, the 3-month T-bill)</a:t>
            </a:r>
            <a:endParaRPr/>
          </a:p>
          <a:p>
            <a:pPr indent="0" lvl="0" marL="342900" rtl="0" algn="l">
              <a:spcBef>
                <a:spcPts val="0"/>
              </a:spcBef>
              <a:spcAft>
                <a:spcPts val="0"/>
              </a:spcAft>
              <a:buClr>
                <a:schemeClr val="dk1"/>
              </a:buClr>
              <a:buSzPts val="1100"/>
              <a:buFont typeface="Arial"/>
              <a:buNone/>
            </a:pPr>
            <a:r>
              <a:rPr lang="en-US"/>
              <a:t>SMB - Small minus Big (market cap factors)</a:t>
            </a:r>
            <a:endParaRPr/>
          </a:p>
          <a:p>
            <a:pPr indent="0" lvl="0" marL="342900" rtl="0" algn="l">
              <a:spcBef>
                <a:spcPts val="0"/>
              </a:spcBef>
              <a:spcAft>
                <a:spcPts val="0"/>
              </a:spcAft>
              <a:buClr>
                <a:schemeClr val="dk1"/>
              </a:buClr>
              <a:buSzPts val="1100"/>
              <a:buFont typeface="Arial"/>
              <a:buNone/>
            </a:pPr>
            <a:r>
              <a:rPr lang="en-US"/>
              <a:t>HML - High minus Low (book to market ratio)</a:t>
            </a:r>
            <a:br>
              <a:rPr lang="en-US"/>
            </a:br>
            <a:r>
              <a:rPr lang="en-US"/>
              <a:t>UMD - Up minus Down (long time winners vs long time losers)</a:t>
            </a:r>
            <a:endParaRPr/>
          </a:p>
          <a:p>
            <a:pPr indent="0" lvl="0" marL="342900" rtl="0" algn="l">
              <a:spcBef>
                <a:spcPts val="0"/>
              </a:spcBef>
              <a:spcAft>
                <a:spcPts val="0"/>
              </a:spcAft>
              <a:buClr>
                <a:schemeClr val="dk1"/>
              </a:buClr>
              <a:buSzPts val="1100"/>
              <a:buFont typeface="Arial"/>
              <a:buNone/>
            </a:pPr>
            <a:r>
              <a:rPr lang="en-US"/>
              <a:t>SENT - minus 1 for low sentiment, plus 1 for high sentiment</a:t>
            </a:r>
            <a:endParaRPr/>
          </a:p>
          <a:p>
            <a:pPr indent="0" lvl="0" marL="342900" rtl="0" algn="l">
              <a:spcBef>
                <a:spcPts val="0"/>
              </a:spcBef>
              <a:spcAft>
                <a:spcPts val="0"/>
              </a:spcAft>
              <a:buClr>
                <a:schemeClr val="dk1"/>
              </a:buClr>
              <a:buSzPts val="1100"/>
              <a:buFont typeface="Arial"/>
              <a:buNone/>
            </a:pPr>
            <a:r>
              <a:t/>
            </a:r>
            <a:endParaRPr/>
          </a:p>
        </p:txBody>
      </p:sp>
      <p:sp>
        <p:nvSpPr>
          <p:cNvPr id="496" name="Google Shape;496;g3dfdcedfbbb_0_160"/>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497" name="Google Shape;497;g3dfdcedfbbb_0_160"/>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g3e1cae8f83d_0_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 for the top 0.1%</a:t>
            </a:r>
            <a:endParaRPr/>
          </a:p>
        </p:txBody>
      </p:sp>
      <p:sp>
        <p:nvSpPr>
          <p:cNvPr id="504" name="Google Shape;504;g3e1cae8f83d_0_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br>
              <a:rPr lang="en-US"/>
            </a:br>
            <a:r>
              <a:rPr lang="en-US"/>
              <a:t>(using a proxy of financial news headlines)</a:t>
            </a:r>
            <a:br>
              <a:rPr lang="en-US"/>
            </a:br>
            <a:br>
              <a:rPr lang="en-US"/>
            </a:br>
            <a:r>
              <a:rPr lang="en-US" u="sng">
                <a:solidFill>
                  <a:schemeClr val="hlink"/>
                </a:solidFill>
                <a:hlinkClick r:id="rId3"/>
              </a:rPr>
              <a:t>Kaggle </a:t>
            </a:r>
            <a:r>
              <a:rPr b="1" lang="en-US" sz="2300" u="sng">
                <a:solidFill>
                  <a:schemeClr val="hlink"/>
                </a:solidFill>
                <a:latin typeface="Arial"/>
                <a:ea typeface="Arial"/>
                <a:cs typeface="Arial"/>
                <a:sym typeface="Arial"/>
                <a:hlinkClick r:id="rId4"/>
              </a:rPr>
              <a:t>S&amp;P 500 with Financial News Headlines (2008–2024)</a:t>
            </a: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05" name="Google Shape;505;g3e1cae8f83d_0_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06" name="Google Shape;506;g3e1cae8f83d_0_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07" name="Google Shape;507;g3e1cae8f83d_0_7"/>
          <p:cNvPicPr preferRelativeResize="0"/>
          <p:nvPr/>
        </p:nvPicPr>
        <p:blipFill>
          <a:blip r:embed="rId5">
            <a:alphaModFix/>
          </a:blip>
          <a:stretch>
            <a:fillRect/>
          </a:stretch>
        </p:blipFill>
        <p:spPr>
          <a:xfrm>
            <a:off x="4409325" y="2809500"/>
            <a:ext cx="3373350" cy="38505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g3dfdcedfbbb_0_182"/>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 for the top 0.1%</a:t>
            </a:r>
            <a:endParaRPr/>
          </a:p>
        </p:txBody>
      </p:sp>
      <p:sp>
        <p:nvSpPr>
          <p:cNvPr id="514" name="Google Shape;514;g3dfdcedfbbb_0_182"/>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br>
              <a:rPr lang="en-US"/>
            </a:br>
            <a:r>
              <a:rPr lang="en-US">
                <a:solidFill>
                  <a:srgbClr val="FF0000"/>
                </a:solidFill>
              </a:rPr>
              <a:t>But limitations of the dataset… (sparsity and cutoff)</a:t>
            </a:r>
            <a:endParaRPr>
              <a:solidFill>
                <a:srgbClr val="FF0000"/>
              </a:solidFill>
            </a:endParaRPr>
          </a:p>
          <a:p>
            <a:pPr indent="0" lvl="0" marL="342900" rtl="0" algn="l">
              <a:spcBef>
                <a:spcPts val="0"/>
              </a:spcBef>
              <a:spcAft>
                <a:spcPts val="0"/>
              </a:spcAft>
              <a:buClr>
                <a:schemeClr val="dk1"/>
              </a:buClr>
              <a:buSzPts val="1100"/>
              <a:buFont typeface="Arial"/>
              <a:buNone/>
            </a:pP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15" name="Google Shape;515;g3dfdcedfbbb_0_182"/>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16" name="Google Shape;516;g3dfdcedfbbb_0_182"/>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17" name="Google Shape;517;g3dfdcedfbbb_0_182"/>
          <p:cNvPicPr preferRelativeResize="0"/>
          <p:nvPr/>
        </p:nvPicPr>
        <p:blipFill>
          <a:blip r:embed="rId3">
            <a:alphaModFix/>
          </a:blip>
          <a:stretch>
            <a:fillRect/>
          </a:stretch>
        </p:blipFill>
        <p:spPr>
          <a:xfrm>
            <a:off x="476146" y="2427225"/>
            <a:ext cx="11239707" cy="40322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g3dfdcedfbbb_0_171"/>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 for the top 0.1%</a:t>
            </a:r>
            <a:endParaRPr/>
          </a:p>
        </p:txBody>
      </p:sp>
      <p:sp>
        <p:nvSpPr>
          <p:cNvPr id="524" name="Google Shape;524;g3dfdcedfbbb_0_171"/>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br>
              <a:rPr lang="en-US"/>
            </a:br>
            <a:r>
              <a:rPr lang="en-US"/>
              <a:t>FinBERT for NLP analysis :</a:t>
            </a:r>
            <a:br>
              <a:rPr lang="en-US"/>
            </a:br>
            <a:br>
              <a:rPr lang="en-US"/>
            </a:br>
            <a:r>
              <a:rPr lang="en-US" u="sng">
                <a:solidFill>
                  <a:schemeClr val="hlink"/>
                </a:solidFill>
                <a:hlinkClick r:id="rId3"/>
              </a:rPr>
              <a:t>Hugging Face FinBERT</a:t>
            </a:r>
            <a:endParaRPr/>
          </a:p>
          <a:p>
            <a:pPr indent="0" lvl="0" marL="342900" rtl="0" algn="l">
              <a:spcBef>
                <a:spcPts val="0"/>
              </a:spcBef>
              <a:spcAft>
                <a:spcPts val="0"/>
              </a:spcAft>
              <a:buClr>
                <a:schemeClr val="dk1"/>
              </a:buClr>
              <a:buSzPts val="1100"/>
              <a:buFont typeface="Arial"/>
              <a:buNone/>
            </a:pPr>
            <a:r>
              <a:t/>
            </a:r>
            <a:endParaRPr/>
          </a:p>
          <a:p>
            <a:pPr indent="0" lvl="0" marL="342900" rtl="0" algn="l">
              <a:spcBef>
                <a:spcPts val="0"/>
              </a:spcBef>
              <a:spcAft>
                <a:spcPts val="0"/>
              </a:spcAft>
              <a:buClr>
                <a:schemeClr val="dk1"/>
              </a:buClr>
              <a:buSzPts val="1100"/>
              <a:buFont typeface="Arial"/>
              <a:buNone/>
            </a:pPr>
            <a:r>
              <a:rPr lang="en-US" sz="1900"/>
              <a:t>FinBERT is a pre-trained NLP model to analyze sentiment of financial text. It is built by further training the BERT language model in the finance domain, using a large financial corpus and thereby fine-tuning it for financial sentiment classification.</a:t>
            </a:r>
            <a:r>
              <a:rPr lang="en-US" sz="1900">
                <a:uFill>
                  <a:noFill/>
                </a:uFill>
                <a:hlinkClick r:id="rId4"/>
              </a:rPr>
              <a:t> Financial PhraseBank</a:t>
            </a:r>
            <a:r>
              <a:rPr lang="en-US" sz="1900"/>
              <a:t> by Malo et al. (2014) is used for fine-tuning. </a:t>
            </a:r>
            <a:br>
              <a:rPr lang="en-US"/>
            </a:b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25" name="Google Shape;525;g3dfdcedfbbb_0_171"/>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26" name="Google Shape;526;g3dfdcedfbbb_0_171"/>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27" name="Google Shape;527;g3dfdcedfbbb_0_171"/>
          <p:cNvPicPr preferRelativeResize="0"/>
          <p:nvPr/>
        </p:nvPicPr>
        <p:blipFill>
          <a:blip r:embed="rId5">
            <a:alphaModFix/>
          </a:blip>
          <a:stretch>
            <a:fillRect/>
          </a:stretch>
        </p:blipFill>
        <p:spPr>
          <a:xfrm>
            <a:off x="4325624" y="4625575"/>
            <a:ext cx="3540750" cy="1777600"/>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g3dfdcedfbbb_0_192"/>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 for the top 0.1%</a:t>
            </a:r>
            <a:endParaRPr/>
          </a:p>
        </p:txBody>
      </p:sp>
      <p:sp>
        <p:nvSpPr>
          <p:cNvPr id="534" name="Google Shape;534;g3dfdcedfbbb_0_192"/>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endParaRPr/>
          </a:p>
          <a:p>
            <a:pPr indent="0" lvl="0" marL="342900" rtl="0" algn="l">
              <a:spcBef>
                <a:spcPts val="0"/>
              </a:spcBef>
              <a:spcAft>
                <a:spcPts val="0"/>
              </a:spcAft>
              <a:buClr>
                <a:schemeClr val="dk1"/>
              </a:buClr>
              <a:buSzPts val="1100"/>
              <a:buFont typeface="Arial"/>
              <a:buNone/>
            </a:pPr>
            <a:br>
              <a:rPr lang="en-US"/>
            </a:br>
            <a:endParaRPr>
              <a:solidFill>
                <a:srgbClr val="FF0000"/>
              </a:solidFill>
            </a:endParaRPr>
          </a:p>
          <a:p>
            <a:pPr indent="0" lvl="0" marL="342900" rtl="0" algn="l">
              <a:spcBef>
                <a:spcPts val="0"/>
              </a:spcBef>
              <a:spcAft>
                <a:spcPts val="0"/>
              </a:spcAft>
              <a:buClr>
                <a:schemeClr val="dk1"/>
              </a:buClr>
              <a:buSzPts val="1100"/>
              <a:buFont typeface="Arial"/>
              <a:buNone/>
            </a:pP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35" name="Google Shape;535;g3dfdcedfbbb_0_192"/>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36" name="Google Shape;536;g3dfdcedfbbb_0_192"/>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37" name="Google Shape;537;g3dfdcedfbbb_0_192"/>
          <p:cNvPicPr preferRelativeResize="0"/>
          <p:nvPr/>
        </p:nvPicPr>
        <p:blipFill>
          <a:blip r:embed="rId3">
            <a:alphaModFix/>
          </a:blip>
          <a:stretch>
            <a:fillRect/>
          </a:stretch>
        </p:blipFill>
        <p:spPr>
          <a:xfrm>
            <a:off x="1568300" y="1977500"/>
            <a:ext cx="9056975" cy="4230850"/>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g3e1cae8f83d_0_1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Sentiment for the top 0.1%</a:t>
            </a:r>
            <a:endParaRPr/>
          </a:p>
        </p:txBody>
      </p:sp>
      <p:sp>
        <p:nvSpPr>
          <p:cNvPr id="544" name="Google Shape;544;g3e1cae8f83d_0_1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r>
              <a:rPr lang="en-US"/>
              <a:t>Does market sentiment explain these extreme returns?</a:t>
            </a:r>
            <a:endParaRPr/>
          </a:p>
          <a:p>
            <a:pPr indent="0" lvl="0" marL="342900" rtl="0" algn="l">
              <a:spcBef>
                <a:spcPts val="0"/>
              </a:spcBef>
              <a:spcAft>
                <a:spcPts val="0"/>
              </a:spcAft>
              <a:buClr>
                <a:schemeClr val="dk1"/>
              </a:buClr>
              <a:buSzPts val="1100"/>
              <a:buFont typeface="Arial"/>
              <a:buNone/>
            </a:pPr>
            <a:br>
              <a:rPr lang="en-US"/>
            </a:br>
            <a:endParaRPr>
              <a:solidFill>
                <a:srgbClr val="FF0000"/>
              </a:solidFill>
            </a:endParaRPr>
          </a:p>
          <a:p>
            <a:pPr indent="0" lvl="0" marL="342900" rtl="0" algn="l">
              <a:spcBef>
                <a:spcPts val="0"/>
              </a:spcBef>
              <a:spcAft>
                <a:spcPts val="0"/>
              </a:spcAft>
              <a:buClr>
                <a:schemeClr val="dk1"/>
              </a:buClr>
              <a:buSzPts val="1100"/>
              <a:buFont typeface="Arial"/>
              <a:buNone/>
            </a:pP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45" name="Google Shape;545;g3e1cae8f83d_0_1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46" name="Google Shape;546;g3e1cae8f83d_0_1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47" name="Google Shape;547;g3e1cae8f83d_0_17"/>
          <p:cNvPicPr preferRelativeResize="0"/>
          <p:nvPr/>
        </p:nvPicPr>
        <p:blipFill>
          <a:blip r:embed="rId3">
            <a:alphaModFix/>
          </a:blip>
          <a:stretch>
            <a:fillRect/>
          </a:stretch>
        </p:blipFill>
        <p:spPr>
          <a:xfrm>
            <a:off x="214925" y="2245850"/>
            <a:ext cx="11763725" cy="324830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g3e1cae8f83d_0_27"/>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Modeling Summary</a:t>
            </a:r>
            <a:endParaRPr/>
          </a:p>
        </p:txBody>
      </p:sp>
      <p:sp>
        <p:nvSpPr>
          <p:cNvPr id="554" name="Google Shape;554;g3e1cae8f83d_0_27"/>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0" lvl="0" marL="342900" rtl="0" algn="l">
              <a:spcBef>
                <a:spcPts val="0"/>
              </a:spcBef>
              <a:spcAft>
                <a:spcPts val="0"/>
              </a:spcAft>
              <a:buClr>
                <a:schemeClr val="dk1"/>
              </a:buClr>
              <a:buSzPts val="1100"/>
              <a:buFont typeface="Arial"/>
              <a:buNone/>
            </a:pP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55" name="Google Shape;555;g3e1cae8f83d_0_27"/>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56" name="Google Shape;556;g3e1cae8f83d_0_27"/>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pic>
        <p:nvPicPr>
          <p:cNvPr id="557" name="Google Shape;557;g3e1cae8f83d_0_27"/>
          <p:cNvPicPr preferRelativeResize="0"/>
          <p:nvPr/>
        </p:nvPicPr>
        <p:blipFill>
          <a:blip r:embed="rId3">
            <a:alphaModFix/>
          </a:blip>
          <a:stretch>
            <a:fillRect/>
          </a:stretch>
        </p:blipFill>
        <p:spPr>
          <a:xfrm>
            <a:off x="250088" y="2654800"/>
            <a:ext cx="11691824" cy="243040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g3e1cae8f83d_0_36"/>
          <p:cNvSpPr txBox="1"/>
          <p:nvPr>
            <p:ph type="title"/>
          </p:nvPr>
        </p:nvSpPr>
        <p:spPr>
          <a:xfrm>
            <a:off x="3240000" y="116632"/>
            <a:ext cx="8233200" cy="540000"/>
          </a:xfrm>
          <a:prstGeom prst="rect">
            <a:avLst/>
          </a:prstGeom>
          <a:noFill/>
          <a:ln>
            <a:noFill/>
          </a:ln>
        </p:spPr>
        <p:txBody>
          <a:bodyPr anchorCtr="0" anchor="ctr" bIns="0" lIns="0" spcFirstLastPara="1" rIns="0" wrap="square" tIns="0">
            <a:noAutofit/>
          </a:bodyPr>
          <a:lstStyle/>
          <a:p>
            <a:pPr indent="0" lvl="0" marL="0" rtl="0" algn="r">
              <a:spcBef>
                <a:spcPts val="0"/>
              </a:spcBef>
              <a:spcAft>
                <a:spcPts val="0"/>
              </a:spcAft>
              <a:buClr>
                <a:schemeClr val="lt1"/>
              </a:buClr>
              <a:buSzPts val="3200"/>
              <a:buFont typeface="Titillium Web"/>
              <a:buNone/>
            </a:pPr>
            <a:r>
              <a:rPr lang="en-US"/>
              <a:t>Conclusion</a:t>
            </a:r>
            <a:endParaRPr/>
          </a:p>
        </p:txBody>
      </p:sp>
      <p:sp>
        <p:nvSpPr>
          <p:cNvPr id="564" name="Google Shape;564;g3e1cae8f83d_0_36"/>
          <p:cNvSpPr txBox="1"/>
          <p:nvPr>
            <p:ph idx="1" type="body"/>
          </p:nvPr>
        </p:nvSpPr>
        <p:spPr>
          <a:xfrm>
            <a:off x="720000" y="1350000"/>
            <a:ext cx="10753200" cy="5040000"/>
          </a:xfrm>
          <a:prstGeom prst="rect">
            <a:avLst/>
          </a:prstGeom>
          <a:noFill/>
          <a:ln>
            <a:noFill/>
          </a:ln>
        </p:spPr>
        <p:txBody>
          <a:bodyPr anchorCtr="0" anchor="t" bIns="0" lIns="0" spcFirstLastPara="1" rIns="0" wrap="square" tIns="0">
            <a:noAutofit/>
          </a:bodyPr>
          <a:lstStyle/>
          <a:p>
            <a:pPr indent="-381000" lvl="0" marL="457200" rtl="0" algn="l">
              <a:spcBef>
                <a:spcPts val="0"/>
              </a:spcBef>
              <a:spcAft>
                <a:spcPts val="0"/>
              </a:spcAft>
              <a:buSzPts val="2400"/>
              <a:buAutoNum type="arabicParenR"/>
            </a:pPr>
            <a:r>
              <a:rPr lang="en-US"/>
              <a:t>Overall returns on the S&amp;P500 do exhibit fat tail behavior.</a:t>
            </a:r>
            <a:endParaRPr/>
          </a:p>
          <a:p>
            <a:pPr indent="-381000" lvl="0" marL="457200" rtl="0" algn="l">
              <a:spcBef>
                <a:spcPts val="0"/>
              </a:spcBef>
              <a:spcAft>
                <a:spcPts val="0"/>
              </a:spcAft>
              <a:buSzPts val="2400"/>
              <a:buAutoNum type="arabicParenR"/>
            </a:pPr>
            <a:r>
              <a:rPr lang="en-US"/>
              <a:t>Definition of returns, log vs. arithmetic, starts to really matter in the tails.</a:t>
            </a:r>
            <a:endParaRPr/>
          </a:p>
          <a:p>
            <a:pPr indent="-381000" lvl="0" marL="457200" rtl="0" algn="l">
              <a:spcBef>
                <a:spcPts val="0"/>
              </a:spcBef>
              <a:spcAft>
                <a:spcPts val="0"/>
              </a:spcAft>
              <a:buSzPts val="2400"/>
              <a:buAutoNum type="arabicParenR"/>
            </a:pPr>
            <a:r>
              <a:rPr lang="en-US"/>
              <a:t>Positive tail and negative tail are not symmetric. Neither in count nor magnitude.</a:t>
            </a:r>
            <a:endParaRPr/>
          </a:p>
          <a:p>
            <a:pPr indent="-381000" lvl="0" marL="457200" rtl="0" algn="l">
              <a:spcBef>
                <a:spcPts val="0"/>
              </a:spcBef>
              <a:spcAft>
                <a:spcPts val="0"/>
              </a:spcAft>
              <a:buSzPts val="2400"/>
              <a:buAutoNum type="arabicParenR"/>
            </a:pPr>
            <a:r>
              <a:rPr lang="en-US"/>
              <a:t>Extremes distribution seem to be consistent across years.</a:t>
            </a:r>
            <a:endParaRPr/>
          </a:p>
          <a:p>
            <a:pPr indent="-381000" lvl="0" marL="457200" rtl="0" algn="l">
              <a:spcBef>
                <a:spcPts val="0"/>
              </a:spcBef>
              <a:spcAft>
                <a:spcPts val="0"/>
              </a:spcAft>
              <a:buSzPts val="2400"/>
              <a:buAutoNum type="arabicParenR"/>
            </a:pPr>
            <a:r>
              <a:rPr lang="en-US"/>
              <a:t>Extremes distribution do not seem to be consistent across sectors. (Probably due to the Communication Services outlier. To be tested.)</a:t>
            </a:r>
            <a:endParaRPr/>
          </a:p>
          <a:p>
            <a:pPr indent="-381000" lvl="0" marL="457200" rtl="0" algn="l">
              <a:spcBef>
                <a:spcPts val="0"/>
              </a:spcBef>
              <a:spcAft>
                <a:spcPts val="0"/>
              </a:spcAft>
              <a:buSzPts val="2400"/>
              <a:buAutoNum type="arabicParenR"/>
            </a:pPr>
            <a:r>
              <a:rPr lang="en-US"/>
              <a:t>Modeling in the tails performs worse than on the full set of returns.</a:t>
            </a:r>
            <a:endParaRPr/>
          </a:p>
          <a:p>
            <a:pPr indent="-381000" lvl="0" marL="457200" rtl="0" algn="l">
              <a:spcBef>
                <a:spcPts val="0"/>
              </a:spcBef>
              <a:spcAft>
                <a:spcPts val="0"/>
              </a:spcAft>
              <a:buSzPts val="2400"/>
              <a:buAutoNum type="arabicParenR"/>
            </a:pPr>
            <a:r>
              <a:rPr lang="en-US"/>
              <a:t>Factors have very low statistical significance (p&lt;0.05) in the tails overall.</a:t>
            </a:r>
            <a:endParaRPr/>
          </a:p>
          <a:p>
            <a:pPr indent="-381000" lvl="0" marL="457200" rtl="0" algn="l">
              <a:spcBef>
                <a:spcPts val="0"/>
              </a:spcBef>
              <a:spcAft>
                <a:spcPts val="0"/>
              </a:spcAft>
              <a:buSzPts val="2400"/>
              <a:buAutoNum type="arabicParenR"/>
            </a:pPr>
            <a:r>
              <a:rPr lang="en-US"/>
              <a:t>Crashes, negative tail, seems to be best explained using CAPM and momentum.</a:t>
            </a:r>
            <a:endParaRPr/>
          </a:p>
          <a:p>
            <a:pPr indent="-381000" lvl="0" marL="457200" rtl="0" algn="l">
              <a:spcBef>
                <a:spcPts val="0"/>
              </a:spcBef>
              <a:spcAft>
                <a:spcPts val="0"/>
              </a:spcAft>
              <a:buSzPts val="2400"/>
              <a:buAutoNum type="arabicParenR"/>
            </a:pPr>
            <a:r>
              <a:rPr lang="en-US"/>
              <a:t>Rallies, positive tail, seems to have very shaky significance with the models used overall.</a:t>
            </a:r>
            <a:endParaRPr/>
          </a:p>
          <a:p>
            <a:pPr indent="-381000" lvl="0" marL="457200" rtl="0" algn="l">
              <a:spcBef>
                <a:spcPts val="0"/>
              </a:spcBef>
              <a:spcAft>
                <a:spcPts val="0"/>
              </a:spcAft>
              <a:buSzPts val="2400"/>
              <a:buAutoNum type="arabicParenR"/>
            </a:pPr>
            <a:r>
              <a:rPr lang="en-US"/>
              <a:t>I learned about extreme value theory and generalized pareto distributions while making this presentation. So, there is an exploration of these tools to be done </a:t>
            </a:r>
            <a:r>
              <a:rPr lang="en-US"/>
              <a:t>next</a:t>
            </a:r>
            <a:r>
              <a:rPr lang="en-US"/>
              <a:t> time.</a:t>
            </a:r>
            <a:br>
              <a:rPr lang="en-US"/>
            </a:br>
            <a:endParaRPr>
              <a:solidFill>
                <a:srgbClr val="FF0000"/>
              </a:solidFill>
            </a:endParaRPr>
          </a:p>
          <a:p>
            <a:pPr indent="0" lvl="0" marL="342900" rtl="0" algn="l">
              <a:spcBef>
                <a:spcPts val="0"/>
              </a:spcBef>
              <a:spcAft>
                <a:spcPts val="0"/>
              </a:spcAft>
              <a:buClr>
                <a:schemeClr val="dk1"/>
              </a:buClr>
              <a:buSzPts val="1100"/>
              <a:buFont typeface="Arial"/>
              <a:buNone/>
            </a:pPr>
            <a:br>
              <a:rPr lang="en-US"/>
            </a:br>
            <a:endParaRPr b="1" sz="2300">
              <a:latin typeface="Arial"/>
              <a:ea typeface="Arial"/>
              <a:cs typeface="Arial"/>
              <a:sym typeface="Arial"/>
            </a:endParaRPr>
          </a:p>
          <a:p>
            <a:pPr indent="0" lvl="0" marL="342900" rtl="0" algn="l">
              <a:spcBef>
                <a:spcPts val="0"/>
              </a:spcBef>
              <a:spcAft>
                <a:spcPts val="0"/>
              </a:spcAft>
              <a:buClr>
                <a:schemeClr val="dk1"/>
              </a:buClr>
              <a:buSzPts val="1100"/>
              <a:buFont typeface="Arial"/>
              <a:buNone/>
            </a:pPr>
            <a:r>
              <a:t/>
            </a:r>
            <a:endParaRPr/>
          </a:p>
        </p:txBody>
      </p:sp>
      <p:sp>
        <p:nvSpPr>
          <p:cNvPr id="565" name="Google Shape;565;g3e1cae8f83d_0_36"/>
          <p:cNvSpPr txBox="1"/>
          <p:nvPr>
            <p:ph idx="11" type="ftr"/>
          </p:nvPr>
        </p:nvSpPr>
        <p:spPr>
          <a:xfrm>
            <a:off x="719999" y="6660000"/>
            <a:ext cx="5445600" cy="197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CFDS-11: Summer 2026</a:t>
            </a:r>
            <a:endParaRPr/>
          </a:p>
        </p:txBody>
      </p:sp>
      <p:sp>
        <p:nvSpPr>
          <p:cNvPr id="566" name="Google Shape;566;g3e1cae8f83d_0_36"/>
          <p:cNvSpPr txBox="1"/>
          <p:nvPr>
            <p:ph idx="12" type="sldNum"/>
          </p:nvPr>
        </p:nvSpPr>
        <p:spPr>
          <a:xfrm>
            <a:off x="10781211" y="6655411"/>
            <a:ext cx="692100" cy="223200"/>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1" name="Shape 571"/>
        <p:cNvGrpSpPr/>
        <p:nvPr/>
      </p:nvGrpSpPr>
      <p:grpSpPr>
        <a:xfrm>
          <a:off x="0" y="0"/>
          <a:ext cx="0" cy="0"/>
          <a:chOff x="0" y="0"/>
          <a:chExt cx="0" cy="0"/>
        </a:xfrm>
      </p:grpSpPr>
      <p:sp>
        <p:nvSpPr>
          <p:cNvPr id="572" name="Google Shape;572;p4"/>
          <p:cNvSpPr/>
          <p:nvPr/>
        </p:nvSpPr>
        <p:spPr>
          <a:xfrm>
            <a:off x="0" y="808038"/>
            <a:ext cx="12193200" cy="5886000"/>
          </a:xfrm>
          <a:prstGeom prst="rect">
            <a:avLst/>
          </a:prstGeom>
          <a:solidFill>
            <a:srgbClr val="3F3F3F"/>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t/>
            </a:r>
            <a:endParaRPr sz="1867">
              <a:solidFill>
                <a:schemeClr val="dk1"/>
              </a:solidFill>
              <a:latin typeface="Arial"/>
              <a:ea typeface="Arial"/>
              <a:cs typeface="Arial"/>
              <a:sym typeface="Arial"/>
            </a:endParaRPr>
          </a:p>
        </p:txBody>
      </p:sp>
      <p:pic>
        <p:nvPicPr>
          <p:cNvPr id="573" name="Google Shape;573;p4"/>
          <p:cNvPicPr preferRelativeResize="0"/>
          <p:nvPr/>
        </p:nvPicPr>
        <p:blipFill rotWithShape="1">
          <a:blip r:embed="rId3">
            <a:alphaModFix/>
          </a:blip>
          <a:srcRect b="28637" l="0" r="0" t="12018"/>
          <a:stretch/>
        </p:blipFill>
        <p:spPr>
          <a:xfrm>
            <a:off x="794" y="825910"/>
            <a:ext cx="12192000" cy="4739148"/>
          </a:xfrm>
          <a:prstGeom prst="rect">
            <a:avLst/>
          </a:prstGeom>
          <a:noFill/>
          <a:ln>
            <a:noFill/>
          </a:ln>
        </p:spPr>
      </p:pic>
      <p:sp>
        <p:nvSpPr>
          <p:cNvPr id="574" name="Google Shape;574;p4"/>
          <p:cNvSpPr txBox="1"/>
          <p:nvPr>
            <p:ph type="title"/>
          </p:nvPr>
        </p:nvSpPr>
        <p:spPr>
          <a:xfrm>
            <a:off x="696913" y="5841328"/>
            <a:ext cx="8233200" cy="5400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lt1"/>
              </a:buClr>
              <a:buSzPts val="4200"/>
              <a:buFont typeface="Titillium Web"/>
              <a:buNone/>
            </a:pPr>
            <a:r>
              <a:rPr lang="en-US" sz="4200"/>
              <a:t>Questions?</a:t>
            </a:r>
            <a:endParaRPr/>
          </a:p>
        </p:txBody>
      </p:sp>
      <p:cxnSp>
        <p:nvCxnSpPr>
          <p:cNvPr id="575" name="Google Shape;575;p4"/>
          <p:cNvCxnSpPr/>
          <p:nvPr/>
        </p:nvCxnSpPr>
        <p:spPr>
          <a:xfrm>
            <a:off x="-1" y="5580000"/>
            <a:ext cx="12186000" cy="0"/>
          </a:xfrm>
          <a:prstGeom prst="straightConnector1">
            <a:avLst/>
          </a:prstGeom>
          <a:noFill/>
          <a:ln cap="flat" cmpd="sng" w="19050">
            <a:solidFill>
              <a:srgbClr val="0C0C0C"/>
            </a:solidFill>
            <a:prstDash val="solid"/>
            <a:round/>
            <a:headEnd len="sm" w="sm" type="none"/>
            <a:tailEnd len="sm" w="sm" type="none"/>
          </a:ln>
        </p:spPr>
      </p:cxnSp>
      <p:sp>
        <p:nvSpPr>
          <p:cNvPr id="576" name="Google Shape;576;p4"/>
          <p:cNvSpPr txBox="1"/>
          <p:nvPr>
            <p:ph idx="11" type="ftr"/>
          </p:nvPr>
        </p:nvSpPr>
        <p:spPr>
          <a:xfrm>
            <a:off x="719999" y="6660000"/>
            <a:ext cx="5445670" cy="197197"/>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t>CFDS-11: Summer 2026</a:t>
            </a:r>
            <a:endParaRPr/>
          </a:p>
        </p:txBody>
      </p:sp>
      <p:sp>
        <p:nvSpPr>
          <p:cNvPr id="577" name="Google Shape;577;p4"/>
          <p:cNvSpPr txBox="1"/>
          <p:nvPr>
            <p:ph idx="12" type="sldNum"/>
          </p:nvPr>
        </p:nvSpPr>
        <p:spPr>
          <a:xfrm>
            <a:off x="10781211" y="6655411"/>
            <a:ext cx="691988" cy="223112"/>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CFDS - Master">
  <a:themeElements>
    <a:clrScheme name="UNISG Grün">
      <a:dk1>
        <a:srgbClr val="000000"/>
      </a:dk1>
      <a:lt1>
        <a:srgbClr val="FFFFFF"/>
      </a:lt1>
      <a:dk2>
        <a:srgbClr val="115C2E"/>
      </a:dk2>
      <a:lt2>
        <a:srgbClr val="CCCCCC"/>
      </a:lt2>
      <a:accent1>
        <a:srgbClr val="115C2E"/>
      </a:accent1>
      <a:accent2>
        <a:srgbClr val="249662"/>
      </a:accent2>
      <a:accent3>
        <a:srgbClr val="54A47C"/>
      </a:accent3>
      <a:accent4>
        <a:srgbClr val="8FBFA9"/>
      </a:accent4>
      <a:accent5>
        <a:srgbClr val="ED904B"/>
      </a:accent5>
      <a:accent6>
        <a:srgbClr val="FAB73E"/>
      </a:accent6>
      <a:hlink>
        <a:srgbClr val="115C2E"/>
      </a:hlink>
      <a:folHlink>
        <a:srgbClr val="54A47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2016-04-12T09:28:03Z</dcterms:created>
  <dc:creator>Prof. Dr. Damian Borth</dc:creator>
</cp:coreProperties>
</file>