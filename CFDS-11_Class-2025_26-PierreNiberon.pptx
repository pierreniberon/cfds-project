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y="6858000" cx="12193575"/>
  <p:notesSz cx="6858000" cy="9144000"/>
  <p:embeddedFontLst>
    <p:embeddedFont>
      <p:font typeface="Titillium Web"/>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iEwmeh2muz3l7LSIYUVvzqcd4R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font" Target="fonts/TitilliumWeb-regular.fntdata"/><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font" Target="fonts/TitilliumWeb-italic.fntdata"/><Relationship Id="rId23" Type="http://schemas.openxmlformats.org/officeDocument/2006/relationships/slide" Target="slides/slide19.xml"/><Relationship Id="rId45" Type="http://schemas.openxmlformats.org/officeDocument/2006/relationships/font" Target="fonts/TitilliumWeb-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TitilliumWeb-bold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 my presentation on the tail distribution of stock returns.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complete presentation, as well as the code, is on my GitHub.</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content we will cover.</a:t>
            </a:r>
            <a:endParaRPr/>
          </a:p>
          <a:p>
            <a:pPr indent="0" lvl="0" marL="0" rtl="0" algn="l">
              <a:spcBef>
                <a:spcPts val="0"/>
              </a:spcBef>
              <a:spcAft>
                <a:spcPts val="0"/>
              </a:spcAft>
              <a:buNone/>
            </a:pPr>
            <a:r>
              <a:rPr lang="en-US"/>
              <a:t>We will go through my main motivations to cover this problem.</a:t>
            </a:r>
            <a:endParaRPr/>
          </a:p>
          <a:p>
            <a:pPr indent="0" lvl="0" marL="0" rtl="0" algn="l">
              <a:spcBef>
                <a:spcPts val="0"/>
              </a:spcBef>
              <a:spcAft>
                <a:spcPts val="0"/>
              </a:spcAft>
              <a:buNone/>
            </a:pPr>
            <a:r>
              <a:rPr lang="en-US"/>
              <a:t>There will be a quick word on the research plan as well as the dataset used.</a:t>
            </a:r>
            <a:endParaRPr/>
          </a:p>
          <a:p>
            <a:pPr indent="0" lvl="0" marL="0" rtl="0" algn="l">
              <a:spcBef>
                <a:spcPts val="0"/>
              </a:spcBef>
              <a:spcAft>
                <a:spcPts val="0"/>
              </a:spcAft>
              <a:buNone/>
            </a:pPr>
            <a:r>
              <a:rPr lang="en-US"/>
              <a:t>The presentation will be in two parts. </a:t>
            </a:r>
            <a:endParaRPr/>
          </a:p>
          <a:p>
            <a:pPr indent="0" lvl="0" marL="0" rtl="0" algn="l">
              <a:spcBef>
                <a:spcPts val="0"/>
              </a:spcBef>
              <a:spcAft>
                <a:spcPts val="0"/>
              </a:spcAft>
              <a:buNone/>
            </a:pPr>
            <a:r>
              <a:rPr lang="en-US"/>
              <a:t>The first one is mostly description while the second part is about modeling.</a:t>
            </a:r>
            <a:endParaRPr/>
          </a:p>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choose to study fat tails because there was a mention on the non-normality of stock returns during the first lesson of CFDS which picked my curiosity.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Also, as I have more of a background in IT, I wanted to learn more about the finance side of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seemed to be the perfect opportunity to learn, build and test common financial models. </a:t>
            </a:r>
            <a:endParaRPr/>
          </a:p>
          <a:p>
            <a:pPr indent="0" lvl="0" marL="0" rtl="0" algn="l">
              <a:spcBef>
                <a:spcPts val="0"/>
              </a:spcBef>
              <a:spcAft>
                <a:spcPts val="0"/>
              </a:spcAft>
              <a:buNone/>
            </a:pPr>
            <a:r>
              <a:rPr lang="en-US"/>
              <a:t>As well as reuse the tools we learned during the CFDS training.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96c7f3a6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g3d96c7f3a6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We’ve already seen that we observe fat tails, but I wanted to re-explore it and show it my way. </a:t>
            </a:r>
            <a:endParaRPr/>
          </a:p>
          <a:p>
            <a:pPr indent="0" lvl="0" marL="0" rtl="0" algn="l">
              <a:spcBef>
                <a:spcPts val="0"/>
              </a:spcBef>
              <a:spcAft>
                <a:spcPts val="0"/>
              </a:spcAft>
              <a:buNone/>
            </a:pPr>
            <a:r>
              <a:rPr lang="en-US"/>
              <a:t>I want to show them visually and take the time to test things around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this purpose, I splitted my presentation in two halves.</a:t>
            </a:r>
            <a:endParaRPr/>
          </a:p>
          <a:p>
            <a:pPr indent="0" lvl="0" marL="0" rtl="0" algn="l">
              <a:spcBef>
                <a:spcPts val="0"/>
              </a:spcBef>
              <a:spcAft>
                <a:spcPts val="0"/>
              </a:spcAft>
              <a:buClr>
                <a:schemeClr val="dk1"/>
              </a:buClr>
              <a:buFont typeface="Arial"/>
              <a:buNone/>
            </a:pPr>
            <a:r>
              <a:rPr lang="en-US"/>
              <a:t>The </a:t>
            </a:r>
            <a:r>
              <a:rPr lang="en-US"/>
              <a:t>First part is about describing the characteristics of the distribution of returns.</a:t>
            </a:r>
            <a:br>
              <a:rPr lang="en-US"/>
            </a:br>
            <a:r>
              <a:rPr lang="en-US"/>
              <a:t>The Second part is about applying models and see if they hold in the tails.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During this research, I started to see discrepancies in the tools and processes I used. </a:t>
            </a:r>
            <a:endParaRPr/>
          </a:p>
          <a:p>
            <a:pPr indent="0" lvl="0" marL="0" rtl="0" algn="l">
              <a:spcBef>
                <a:spcPts val="0"/>
              </a:spcBef>
              <a:spcAft>
                <a:spcPts val="0"/>
              </a:spcAft>
              <a:buNone/>
            </a:pPr>
            <a:r>
              <a:rPr lang="en-US"/>
              <a:t>For example, arithmetic returns vs log returns, when analysing the tails.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Because of that, I failed numerously during the analysis, sometimes because of poor logic on my side and sometimes because the tools I used were not made for the extreme values.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that’s one goal of my presentation. To see how things behave in the extremes.</a:t>
            </a:r>
            <a:endParaRPr/>
          </a:p>
          <a:p>
            <a:pPr indent="0" lvl="0" marL="0" rtl="0" algn="l">
              <a:spcBef>
                <a:spcPts val="0"/>
              </a:spcBef>
              <a:spcAft>
                <a:spcPts val="0"/>
              </a:spcAft>
              <a:buNone/>
            </a:pPr>
            <a:r>
              <a:t/>
            </a:r>
            <a:endParaRPr/>
          </a:p>
          <a:p>
            <a:pPr indent="0" lvl="0" marL="0" rtl="0" algn="l">
              <a:spcBef>
                <a:spcPts val="0"/>
              </a:spcBef>
              <a:spcAft>
                <a:spcPts val="0"/>
              </a:spcAft>
              <a:buNone/>
            </a:pPr>
            <a:br>
              <a:rPr lang="en-US"/>
            </a:br>
            <a:endParaRPr/>
          </a:p>
        </p:txBody>
      </p:sp>
      <p:sp>
        <p:nvSpPr>
          <p:cNvPr id="80" name="Google Shape;80;g3d96c7f3a6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96c7f3a6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d96c7f3a6c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dataset is a classical set of S&amp;P500 daily close prices from the 1st of january 2010 to 1st of may 2026.</a:t>
            </a:r>
            <a:endParaRPr/>
          </a:p>
          <a:p>
            <a:pPr indent="0" lvl="0" marL="0" rtl="0" algn="l">
              <a:spcBef>
                <a:spcPts val="0"/>
              </a:spcBef>
              <a:spcAft>
                <a:spcPts val="0"/>
              </a:spcAft>
              <a:buNone/>
            </a:pPr>
            <a:r>
              <a:rPr lang="en-US"/>
              <a:t>I also used the Fama and French open source dataset.</a:t>
            </a:r>
            <a:endParaRPr/>
          </a:p>
          <a:p>
            <a:pPr indent="0" lvl="0" marL="0" rtl="0" algn="l">
              <a:spcBef>
                <a:spcPts val="0"/>
              </a:spcBef>
              <a:spcAft>
                <a:spcPts val="0"/>
              </a:spcAft>
              <a:buNone/>
            </a:pPr>
            <a:r>
              <a:rPr lang="en-US"/>
              <a:t>I used the risk free rate from the federal bank of saint louis.</a:t>
            </a:r>
            <a:endParaRPr/>
          </a:p>
          <a:p>
            <a:pPr indent="0" lvl="0" marL="0" rtl="0" algn="l">
              <a:spcBef>
                <a:spcPts val="0"/>
              </a:spcBef>
              <a:spcAft>
                <a:spcPts val="0"/>
              </a:spcAft>
              <a:buNone/>
            </a:pPr>
            <a:r>
              <a:rPr lang="en-US"/>
              <a:t>And finally, a news headline dataset from Kaggle.</a:t>
            </a:r>
            <a:endParaRPr/>
          </a:p>
        </p:txBody>
      </p:sp>
      <p:sp>
        <p:nvSpPr>
          <p:cNvPr id="89" name="Google Shape;89;g3d96c7f3a6c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96c7f3a6c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d96c7f3a6c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stat tables done on the same S&amp;P500 data set. However, on the left, it is the arithmetic return definition and on the right, the </a:t>
            </a:r>
            <a:r>
              <a:rPr lang="en-US"/>
              <a:t>logarithmic return definition. </a:t>
            </a:r>
            <a:endParaRPr/>
          </a:p>
          <a:p>
            <a:pPr indent="0" lvl="0" marL="0" rtl="0" algn="l">
              <a:spcBef>
                <a:spcPts val="0"/>
              </a:spcBef>
              <a:spcAft>
                <a:spcPts val="0"/>
              </a:spcAft>
              <a:buNone/>
            </a:pPr>
            <a:r>
              <a:rPr lang="en-US"/>
              <a:t>Please note the first and second arrows, the min and max values for both distribution. Please also note the impact on the skewness which changes signs.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l</a:t>
            </a:r>
            <a:r>
              <a:rPr lang="en-US"/>
              <a:t>og return definition, compared to the arithmetic one, flattens extreme positive returns and increase extreme negative return.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Also note, at the bottom of each table that the Jarque-Berra test statistics rejects normality, as expected.</a:t>
            </a:r>
            <a:endParaRPr/>
          </a:p>
          <a:p>
            <a:pPr indent="0" lvl="0" marL="0" rtl="0" algn="l">
              <a:spcBef>
                <a:spcPts val="0"/>
              </a:spcBef>
              <a:spcAft>
                <a:spcPts val="0"/>
              </a:spcAft>
              <a:buClr>
                <a:schemeClr val="dk1"/>
              </a:buClr>
              <a:buFont typeface="Arial"/>
              <a:buNone/>
            </a:pPr>
            <a:r>
              <a:t/>
            </a:r>
            <a:endParaRPr/>
          </a:p>
        </p:txBody>
      </p:sp>
      <p:sp>
        <p:nvSpPr>
          <p:cNvPr id="99" name="Google Shape;99;g3d96c7f3a6c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96c7f3a6c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3d96c7f3a6c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are  visualizations of  stock returns density as bar chart plot.</a:t>
            </a:r>
            <a:endParaRPr/>
          </a:p>
          <a:p>
            <a:pPr indent="0" lvl="0" marL="0" rtl="0" algn="l">
              <a:spcBef>
                <a:spcPts val="0"/>
              </a:spcBef>
              <a:spcAft>
                <a:spcPts val="0"/>
              </a:spcAft>
              <a:buNone/>
            </a:pPr>
            <a:r>
              <a:rPr lang="en-US"/>
              <a:t>A quick disclaimer here, I juggle a bit between arithmetic and </a:t>
            </a:r>
            <a:r>
              <a:rPr lang="en-US"/>
              <a:t>logarithmic</a:t>
            </a:r>
            <a:r>
              <a:rPr lang="en-US"/>
              <a:t> for the ease of visualization.</a:t>
            </a:r>
            <a:endParaRPr/>
          </a:p>
          <a:p>
            <a:pPr indent="0" lvl="0" marL="0" rtl="0" algn="l">
              <a:spcBef>
                <a:spcPts val="0"/>
              </a:spcBef>
              <a:spcAft>
                <a:spcPts val="0"/>
              </a:spcAft>
              <a:buNone/>
            </a:pPr>
            <a:r>
              <a:rPr lang="en-US"/>
              <a:t>The return definitions are in the graphs titles.</a:t>
            </a:r>
            <a:endParaRPr/>
          </a:p>
        </p:txBody>
      </p:sp>
      <p:sp>
        <p:nvSpPr>
          <p:cNvPr id="119" name="Google Shape;119;g3d96c7f3a6c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96c7f3a6c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d96c7f3a6c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a QQ plot, on the left.</a:t>
            </a:r>
            <a:endParaRPr/>
          </a:p>
          <a:p>
            <a:pPr indent="0" lvl="0" marL="0" rtl="0" algn="l">
              <a:spcBef>
                <a:spcPts val="0"/>
              </a:spcBef>
              <a:spcAft>
                <a:spcPts val="0"/>
              </a:spcAft>
              <a:buNone/>
            </a:pPr>
            <a:r>
              <a:rPr lang="en-US"/>
              <a:t>It is a plot of two distribution against one  another. On the y-vertical-axis is the empirical return distribution and on the x-horizontal-axis is the </a:t>
            </a:r>
            <a:r>
              <a:rPr lang="en-US"/>
              <a:t>theoretical</a:t>
            </a:r>
            <a:r>
              <a:rPr lang="en-US"/>
              <a:t> normal distribution. The orange line would be a plot of a normal </a:t>
            </a:r>
            <a:r>
              <a:rPr lang="en-US"/>
              <a:t>against</a:t>
            </a:r>
            <a:r>
              <a:rPr lang="en-US"/>
              <a:t> a normal. We clearly see the tails deviating from normal values.</a:t>
            </a:r>
            <a:endParaRPr/>
          </a:p>
          <a:p>
            <a:pPr indent="0" lvl="0" marL="0" rtl="0" algn="l">
              <a:spcBef>
                <a:spcPts val="0"/>
              </a:spcBef>
              <a:spcAft>
                <a:spcPts val="0"/>
              </a:spcAft>
              <a:buNone/>
            </a:pPr>
            <a:r>
              <a:rPr lang="en-US"/>
              <a:t>On the right it is the density distribution against the normal in orange.</a:t>
            </a:r>
            <a:endParaRPr/>
          </a:p>
        </p:txBody>
      </p:sp>
      <p:sp>
        <p:nvSpPr>
          <p:cNvPr id="129" name="Google Shape;129;g3d96c7f3a6c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96c7f3a6c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d96c7f3a6c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as the last graph but zoomed in.</a:t>
            </a:r>
            <a:endParaRPr/>
          </a:p>
        </p:txBody>
      </p:sp>
      <p:sp>
        <p:nvSpPr>
          <p:cNvPr id="139" name="Google Shape;139;g3d96c7f3a6c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96c7f3a6c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d96c7f3a6c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we zoom on the negative tail to see the mismatch.</a:t>
            </a:r>
            <a:endParaRPr/>
          </a:p>
        </p:txBody>
      </p:sp>
      <p:sp>
        <p:nvSpPr>
          <p:cNvPr id="148" name="Google Shape;148;g3d96c7f3a6c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96c7f3a6c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d96c7f3a6c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tried a bit of mirroring to have a feel of how both sides are distributed. </a:t>
            </a:r>
            <a:endParaRPr/>
          </a:p>
          <a:p>
            <a:pPr indent="0" lvl="0" marL="0" rtl="0" algn="l">
              <a:spcBef>
                <a:spcPts val="0"/>
              </a:spcBef>
              <a:spcAft>
                <a:spcPts val="0"/>
              </a:spcAft>
              <a:buNone/>
            </a:pPr>
            <a:r>
              <a:rPr lang="en-US"/>
              <a:t>On the left, this is the arithmetic return distribution mirrored on itself.</a:t>
            </a:r>
            <a:endParaRPr/>
          </a:p>
          <a:p>
            <a:pPr indent="0" lvl="0" marL="0" rtl="0" algn="l">
              <a:spcBef>
                <a:spcPts val="0"/>
              </a:spcBef>
              <a:spcAft>
                <a:spcPts val="0"/>
              </a:spcAft>
              <a:buClr>
                <a:schemeClr val="dk1"/>
              </a:buClr>
              <a:buFont typeface="Arial"/>
              <a:buNone/>
            </a:pPr>
            <a:r>
              <a:rPr lang="en-US"/>
              <a:t>On the right, this is the log return distribution mirrored on itself.</a:t>
            </a:r>
            <a:endParaRPr/>
          </a:p>
          <a:p>
            <a:pPr indent="0" lvl="0" marL="0" rtl="0" algn="l">
              <a:spcBef>
                <a:spcPts val="0"/>
              </a:spcBef>
              <a:spcAft>
                <a:spcPts val="0"/>
              </a:spcAft>
              <a:buNone/>
            </a:pPr>
            <a:r>
              <a:rPr lang="en-US"/>
              <a:t>We see again that the extremes are not alike. </a:t>
            </a:r>
            <a:endParaRPr/>
          </a:p>
        </p:txBody>
      </p:sp>
      <p:sp>
        <p:nvSpPr>
          <p:cNvPr id="157" name="Google Shape;157;g3d96c7f3a6c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b971e7cb6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3db971e7cb6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single out the extremes I decided to cutoff only the top 0.1% absolute return values. </a:t>
            </a:r>
            <a:endParaRPr/>
          </a:p>
          <a:p>
            <a:pPr indent="0" lvl="0" marL="0" rtl="0" algn="l">
              <a:spcBef>
                <a:spcPts val="0"/>
              </a:spcBef>
              <a:spcAft>
                <a:spcPts val="0"/>
              </a:spcAft>
              <a:buNone/>
            </a:pPr>
            <a:r>
              <a:rPr lang="en-US"/>
              <a:t>This gives a threshold return value at 0.1436. About a 14% daily return.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observation is that the positive tail has 692 records while the negative one has about 1000, which is about 50% more negative events.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I tested the statistical </a:t>
            </a:r>
            <a:r>
              <a:rPr lang="en-US"/>
              <a:t>resemblance</a:t>
            </a:r>
            <a:r>
              <a:rPr lang="en-US"/>
              <a:t> of both tails with a Welch t-test and Levene test ( robust F-Test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rejects the null hypothesis of equal means and equal variances with a significance well below 5 %.</a:t>
            </a:r>
            <a:endParaRPr/>
          </a:p>
        </p:txBody>
      </p:sp>
      <p:sp>
        <p:nvSpPr>
          <p:cNvPr id="168" name="Google Shape;168;g3db971e7cb6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96c7f3a6c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d96c7f3a6c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Then, I tried to do some clustering to see how the data is distributed.</a:t>
            </a:r>
            <a:endParaRPr/>
          </a:p>
          <a:p>
            <a:pPr indent="0" lvl="0" marL="0" rtl="0" algn="l">
              <a:spcBef>
                <a:spcPts val="0"/>
              </a:spcBef>
              <a:spcAft>
                <a:spcPts val="0"/>
              </a:spcAft>
              <a:buNone/>
            </a:pPr>
            <a:r>
              <a:rPr lang="en-US"/>
              <a:t>I started with time clustering and just tried with yearly clustering of extreme events.</a:t>
            </a:r>
            <a:endParaRPr/>
          </a:p>
          <a:p>
            <a:pPr indent="0" lvl="0" marL="0" rtl="0" algn="l">
              <a:spcBef>
                <a:spcPts val="0"/>
              </a:spcBef>
              <a:spcAft>
                <a:spcPts val="0"/>
              </a:spcAft>
              <a:buNone/>
            </a:pPr>
            <a:r>
              <a:rPr lang="en-US"/>
              <a:t>With the exception of 2020 (for the covid) and 2025 (with the infamous tariffs), the count of e</a:t>
            </a:r>
            <a:r>
              <a:rPr lang="en-US"/>
              <a:t>xtremes of all kind seem consistent across years. </a:t>
            </a:r>
            <a:endParaRPr/>
          </a:p>
        </p:txBody>
      </p:sp>
      <p:sp>
        <p:nvSpPr>
          <p:cNvPr id="181" name="Google Shape;181;g3d96c7f3a6c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b971e7cb6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db971e7cb6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an in depth decomposition to see what years were good or bad.</a:t>
            </a:r>
            <a:endParaRPr/>
          </a:p>
          <a:p>
            <a:pPr indent="0" lvl="0" marL="0" rtl="0" algn="l">
              <a:spcBef>
                <a:spcPts val="0"/>
              </a:spcBef>
              <a:spcAft>
                <a:spcPts val="0"/>
              </a:spcAft>
              <a:buNone/>
            </a:pPr>
            <a:r>
              <a:rPr lang="en-US"/>
              <a:t>Most years have more negative events. As you can see in the “Net” column, the fourth one.</a:t>
            </a:r>
            <a:endParaRPr/>
          </a:p>
          <a:p>
            <a:pPr indent="0" lvl="0" marL="0" rtl="0" algn="l">
              <a:spcBef>
                <a:spcPts val="0"/>
              </a:spcBef>
              <a:spcAft>
                <a:spcPts val="0"/>
              </a:spcAft>
              <a:buNone/>
            </a:pPr>
            <a:r>
              <a:rPr lang="en-US"/>
              <a:t> Most years have a negative mean and negative median log return. As you can see in the two last columns.</a:t>
            </a:r>
            <a:endParaRPr/>
          </a:p>
        </p:txBody>
      </p:sp>
      <p:sp>
        <p:nvSpPr>
          <p:cNvPr id="193" name="Google Shape;193;g3db971e7cb6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b971e7cb6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db971e7cb6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try at visualization with a line chart which was noisy and messy.</a:t>
            </a:r>
            <a:endParaRPr/>
          </a:p>
          <a:p>
            <a:pPr indent="0" lvl="0" marL="0" rtl="0" algn="l">
              <a:spcBef>
                <a:spcPts val="0"/>
              </a:spcBef>
              <a:spcAft>
                <a:spcPts val="0"/>
              </a:spcAft>
              <a:buNone/>
            </a:pPr>
            <a:r>
              <a:rPr lang="en-US"/>
              <a:t>On the left, you have the negative events, and on the right the positive extreme events.</a:t>
            </a:r>
            <a:endParaRPr/>
          </a:p>
        </p:txBody>
      </p:sp>
      <p:sp>
        <p:nvSpPr>
          <p:cNvPr id="204" name="Google Shape;204;g3db971e7cb6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a84e3b2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9a84e3b28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KDEplot. Kernel Density Estimation plot.</a:t>
            </a:r>
            <a:br>
              <a:rPr lang="en-US"/>
            </a:br>
            <a:r>
              <a:rPr lang="en-US"/>
              <a:t>They work kind of like a bar graph but smoothed out with a kernel estimation function.</a:t>
            </a:r>
            <a:endParaRPr/>
          </a:p>
          <a:p>
            <a:pPr indent="0" lvl="0" marL="0" rtl="0" algn="l">
              <a:spcBef>
                <a:spcPts val="0"/>
              </a:spcBef>
              <a:spcAft>
                <a:spcPts val="0"/>
              </a:spcAft>
              <a:buNone/>
            </a:pPr>
            <a:r>
              <a:rPr lang="en-US"/>
              <a:t>More of a qualitative representation than a quantitative one. But less noisy and so, easier to read.</a:t>
            </a:r>
            <a:endParaRPr/>
          </a:p>
        </p:txBody>
      </p:sp>
      <p:sp>
        <p:nvSpPr>
          <p:cNvPr id="215" name="Google Shape;215;g39a84e3b28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b971e7cb6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db971e7cb6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Seeing the previous slides, I wanted to know if a specific year was really different from the others. </a:t>
            </a:r>
            <a:endParaRPr/>
          </a:p>
          <a:p>
            <a:pPr indent="0" lvl="0" marL="0" rtl="0" algn="l">
              <a:spcBef>
                <a:spcPts val="0"/>
              </a:spcBef>
              <a:spcAft>
                <a:spcPts val="0"/>
              </a:spcAft>
              <a:buNone/>
            </a:pPr>
            <a:r>
              <a:rPr lang="en-US"/>
              <a:t>Like if there was a “Crash or a rally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tested with a Welch-ANOVA the different groups.</a:t>
            </a:r>
            <a:endParaRPr/>
          </a:p>
          <a:p>
            <a:pPr indent="0" lvl="0" marL="0" rtl="0" algn="l">
              <a:spcBef>
                <a:spcPts val="0"/>
              </a:spcBef>
              <a:spcAft>
                <a:spcPts val="0"/>
              </a:spcAft>
              <a:buNone/>
            </a:pPr>
            <a:r>
              <a:rPr lang="en-US"/>
              <a:t>H0 is not rejected with a 5% significance level.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 is no difference in the equivalence of means between yearly distribution of extreme events.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quick disclaimer here, some years have less than 20 extreme events which is a bit shaky for this ANOVA.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I think it would need further testing. Also because we are in the tails specifically, I am not sure of the robustness of a test like the welch-ANOVA.</a:t>
            </a:r>
            <a:endParaRPr/>
          </a:p>
        </p:txBody>
      </p:sp>
      <p:sp>
        <p:nvSpPr>
          <p:cNvPr id="225" name="Google Shape;225;g3db971e7cb6_0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b971e7cb6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db971e7cb6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After time clustering, I moved on sector clustering. To see if specific sectors stand out.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services is the only sector with a positive mean and median.</a:t>
            </a:r>
            <a:endParaRPr/>
          </a:p>
        </p:txBody>
      </p:sp>
      <p:sp>
        <p:nvSpPr>
          <p:cNvPr id="237" name="Google Shape;237;g3db971e7cb6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b971e7cb6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db971e7cb6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did the same as with time clustering and tried to visualize these sectors with a line graph but it is messy.</a:t>
            </a:r>
            <a:endParaRPr/>
          </a:p>
        </p:txBody>
      </p:sp>
      <p:sp>
        <p:nvSpPr>
          <p:cNvPr id="249" name="Google Shape;249;g3db971e7cb6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a84e3b28a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9a84e3b28a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KDEplot. The same as with time clustering.</a:t>
            </a:r>
            <a:endParaRPr/>
          </a:p>
        </p:txBody>
      </p:sp>
      <p:sp>
        <p:nvSpPr>
          <p:cNvPr id="260" name="Google Shape;260;g39a84e3b28a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b971e7cb6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db971e7cb6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analysis as the time clustering.</a:t>
            </a:r>
            <a:endParaRPr/>
          </a:p>
          <a:p>
            <a:pPr indent="0" lvl="0" marL="0" rtl="0" algn="l">
              <a:spcBef>
                <a:spcPts val="0"/>
              </a:spcBef>
              <a:spcAft>
                <a:spcPts val="0"/>
              </a:spcAft>
              <a:buNone/>
            </a:pPr>
            <a:r>
              <a:rPr lang="en-US"/>
              <a:t>The consideration still stands on the results that should be further tested because of the GPD territory.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time, we reject H0, most probably because of the communication services sector which had a positive mean.</a:t>
            </a:r>
            <a:endParaRPr/>
          </a:p>
          <a:p>
            <a:pPr indent="0" lvl="0" marL="0" rtl="0" algn="l">
              <a:spcBef>
                <a:spcPts val="0"/>
              </a:spcBef>
              <a:spcAft>
                <a:spcPts val="0"/>
              </a:spcAft>
              <a:buNone/>
            </a:pPr>
            <a:r>
              <a:t/>
            </a:r>
            <a:endParaRPr/>
          </a:p>
        </p:txBody>
      </p:sp>
      <p:sp>
        <p:nvSpPr>
          <p:cNvPr id="270" name="Google Shape;270;g3db971e7cb6_0_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b971e7cb6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3db971e7cb6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far I was describing the whole set, then the tails, then clustering by years and sectors to have a feel for the distribution.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we move onto modelling, to see if the model still holds in the tails as much as the full distribution.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start with one of the simplest model. Capital Asset Pricing Model. Developed in the 1960s by William Sharpe and based on Modern Portfolio Theory.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creates a linear </a:t>
            </a:r>
            <a:r>
              <a:rPr lang="en-US"/>
              <a:t>relationship</a:t>
            </a:r>
            <a:r>
              <a:rPr lang="en-US"/>
              <a:t> between the movement of the market and the movement of the asset.</a:t>
            </a:r>
            <a:endParaRPr/>
          </a:p>
        </p:txBody>
      </p:sp>
      <p:sp>
        <p:nvSpPr>
          <p:cNvPr id="282" name="Google Shape;282;g3db971e7cb6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9a84e3b28a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39a84e3b28a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a quick test on apple returns to get familiar with the technique.</a:t>
            </a:r>
            <a:endParaRPr/>
          </a:p>
          <a:p>
            <a:pPr indent="0" lvl="0" marL="0" rtl="0" algn="l">
              <a:spcBef>
                <a:spcPts val="0"/>
              </a:spcBef>
              <a:spcAft>
                <a:spcPts val="0"/>
              </a:spcAft>
              <a:buNone/>
            </a:pPr>
            <a:r>
              <a:rPr lang="en-US"/>
              <a:t>This model as basically a linear regression with one constant alpha and one parameter beta, the market excess.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r-squared indicates that the model explains 47% percent of the variance in apple daily returns, with the constant and the market excess coefficient being statistically significant.</a:t>
            </a:r>
            <a:endParaRPr/>
          </a:p>
        </p:txBody>
      </p:sp>
      <p:sp>
        <p:nvSpPr>
          <p:cNvPr id="291" name="Google Shape;291;g39a84e3b28a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a84e3b28a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9a84e3b28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visualized it to understand what I was doing.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this is CAPM modeling.</a:t>
            </a:r>
            <a:endParaRPr/>
          </a:p>
        </p:txBody>
      </p:sp>
      <p:sp>
        <p:nvSpPr>
          <p:cNvPr id="303" name="Google Shape;303;g39a84e3b28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a84e3b28a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9a84e3b28a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 loop on </a:t>
            </a:r>
            <a:r>
              <a:rPr lang="en-US"/>
              <a:t>each ticker on </a:t>
            </a:r>
            <a:r>
              <a:rPr lang="en-US"/>
              <a:t>the </a:t>
            </a:r>
            <a:r>
              <a:rPr b="1" lang="en-US"/>
              <a:t>whole set, not just the tails</a:t>
            </a:r>
            <a:r>
              <a:rPr lang="en-US"/>
              <a:t> and do a CAPM regression and then I store the alpha, beta and r-squared for each and summarize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top table is the loop on each ticker. The bottom table is the summary.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on average, for the S&amp;P500 for the last 15 years, CAPM explains 34% of a stock excess return against market return.</a:t>
            </a:r>
            <a:endParaRPr/>
          </a:p>
          <a:p>
            <a:pPr indent="0" lvl="0" marL="0" rtl="0" algn="l">
              <a:spcBef>
                <a:spcPts val="0"/>
              </a:spcBef>
              <a:spcAft>
                <a:spcPts val="0"/>
              </a:spcAft>
              <a:buNone/>
            </a:pPr>
            <a:r>
              <a:t/>
            </a:r>
            <a:endParaRPr/>
          </a:p>
        </p:txBody>
      </p:sp>
      <p:sp>
        <p:nvSpPr>
          <p:cNvPr id="312" name="Google Shape;312;g39a84e3b28a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fdcedfbbb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3dfdcedfbbb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 loop on all stocks in the extreme. Then I aggregate.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first line is the full sample that we’ve already seen.</a:t>
            </a:r>
            <a:endParaRPr/>
          </a:p>
          <a:p>
            <a:pPr indent="0" lvl="0" marL="0" rtl="0" algn="l">
              <a:spcBef>
                <a:spcPts val="0"/>
              </a:spcBef>
              <a:spcAft>
                <a:spcPts val="0"/>
              </a:spcAft>
              <a:buNone/>
            </a:pPr>
            <a:r>
              <a:rPr lang="en-US"/>
              <a:t>The second line is a CAPM regression on the extreme positive events</a:t>
            </a:r>
            <a:endParaRPr/>
          </a:p>
          <a:p>
            <a:pPr indent="0" lvl="0" marL="0" rtl="0" algn="l">
              <a:spcBef>
                <a:spcPts val="0"/>
              </a:spcBef>
              <a:spcAft>
                <a:spcPts val="0"/>
              </a:spcAft>
              <a:buNone/>
            </a:pPr>
            <a:r>
              <a:rPr lang="en-US"/>
              <a:t>The third line is</a:t>
            </a:r>
            <a:r>
              <a:rPr lang="en-US"/>
              <a:t> a CAPM regression on the extreme negative events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an r-squared of 9% in the positive tail and 13% in the negative tail, CAPM performs worse in the tails than in the full distribution.</a:t>
            </a:r>
            <a:endParaRPr/>
          </a:p>
        </p:txBody>
      </p:sp>
      <p:sp>
        <p:nvSpPr>
          <p:cNvPr id="325" name="Google Shape;325;g3dfdcedfbbb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fdcedfbbb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dfdcedfbbb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try the same for the Fama and French three factor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is an extension of the CAPM model d</a:t>
            </a:r>
            <a:r>
              <a:rPr lang="en-US" sz="1100">
                <a:latin typeface="Arial"/>
                <a:ea typeface="Arial"/>
                <a:cs typeface="Arial"/>
                <a:sym typeface="Arial"/>
              </a:rPr>
              <a:t>esigned in 1992 by Eugene </a:t>
            </a:r>
            <a:r>
              <a:rPr i="1" lang="en-US" sz="1100">
                <a:latin typeface="Arial"/>
                <a:ea typeface="Arial"/>
                <a:cs typeface="Arial"/>
                <a:sym typeface="Arial"/>
              </a:rPr>
              <a:t>Fama</a:t>
            </a:r>
            <a:r>
              <a:rPr lang="en-US" sz="1100">
                <a:latin typeface="Arial"/>
                <a:ea typeface="Arial"/>
                <a:cs typeface="Arial"/>
                <a:sym typeface="Arial"/>
              </a:rPr>
              <a:t> and Kenneth </a:t>
            </a:r>
            <a:r>
              <a:rPr i="1" lang="en-US" sz="1100">
                <a:latin typeface="Arial"/>
                <a:ea typeface="Arial"/>
                <a:cs typeface="Arial"/>
                <a:sym typeface="Arial"/>
              </a:rPr>
              <a:t>French</a:t>
            </a:r>
            <a:r>
              <a:rPr lang="en-US" sz="1100">
                <a:latin typeface="Arial"/>
                <a:ea typeface="Arial"/>
                <a:cs typeface="Arial"/>
                <a:sym typeface="Arial"/>
              </a:rPr>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methodology will be the same as with the CAPM.</a:t>
            </a:r>
            <a:endParaRPr/>
          </a:p>
        </p:txBody>
      </p:sp>
      <p:sp>
        <p:nvSpPr>
          <p:cNvPr id="338" name="Google Shape;338;g3dfdcedfbbb_0_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fdcedfbbb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dfdcedfbbb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three factor modeling on the whole 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switched to adjusted R-squared because we add more explanatory variable.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R² is at 37% (we were at 33% with CAPM) but improvement is limited because the S&amp;P500 universe mutes the size premium.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real test is whether </a:t>
            </a:r>
            <a:r>
              <a:rPr lang="en-US"/>
              <a:t>three factor model </a:t>
            </a:r>
            <a:r>
              <a:rPr lang="en-US"/>
              <a:t>does better in the tails than CAPM did.</a:t>
            </a:r>
            <a:endParaRPr/>
          </a:p>
          <a:p>
            <a:pPr indent="0" lvl="0" marL="0" rtl="0" algn="l">
              <a:spcBef>
                <a:spcPts val="0"/>
              </a:spcBef>
              <a:spcAft>
                <a:spcPts val="0"/>
              </a:spcAft>
              <a:buClr>
                <a:srgbClr val="000000"/>
              </a:buClr>
              <a:buFont typeface="Arial"/>
              <a:buNone/>
            </a:pPr>
            <a:r>
              <a:t/>
            </a:r>
            <a:endParaRPr/>
          </a:p>
        </p:txBody>
      </p:sp>
      <p:sp>
        <p:nvSpPr>
          <p:cNvPr id="347" name="Google Shape;347;g3dfdcedfbbb_0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fdcedfbbb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dfdcedfbbb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positive tail has an r-squared of 7%, the negative tail, 16%.</a:t>
            </a:r>
            <a:endParaRPr/>
          </a:p>
          <a:p>
            <a:pPr indent="0" lvl="0" marL="0" rtl="0" algn="l">
              <a:spcBef>
                <a:spcPts val="0"/>
              </a:spcBef>
              <a:spcAft>
                <a:spcPts val="0"/>
              </a:spcAft>
              <a:buNone/>
            </a:pPr>
            <a:r>
              <a:rPr lang="en-US"/>
              <a:t>Slight increase of 3% for the negative tail, and an actual decrease of 2% for the positive tail compared to CAPM.</a:t>
            </a:r>
            <a:endParaRPr/>
          </a:p>
        </p:txBody>
      </p:sp>
      <p:sp>
        <p:nvSpPr>
          <p:cNvPr id="358" name="Google Shape;358;g3dfdcedfbbb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b971e7cb6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db971e7cb6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methodology with Carhart 4 factor model. </a:t>
            </a:r>
            <a:r>
              <a:rPr lang="en-US"/>
              <a:t>Developed</a:t>
            </a:r>
            <a:r>
              <a:rPr lang="en-US"/>
              <a:t> later in 1997 by Mark Carhart as an extension of 3F.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Also known as the MOM, monthly momentum factor.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read on the wikipedia website that t</a:t>
            </a:r>
            <a:r>
              <a:rPr lang="en-US"/>
              <a:t>he four factor model is commonly used as an active management and mutual fund evaluation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how will it fare?</a:t>
            </a:r>
            <a:endParaRPr/>
          </a:p>
        </p:txBody>
      </p:sp>
      <p:sp>
        <p:nvSpPr>
          <p:cNvPr id="374" name="Google Shape;374;g3db971e7cb6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dfdcedfbbb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dfdcedfbbb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Adjusted R2 doubles in the tails compared to 3F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momentum coefficient for the positive tail is negative at -0.29 while it is positive at 1.10 for the negative tail.</a:t>
            </a:r>
            <a:endParaRPr/>
          </a:p>
          <a:p>
            <a:pPr indent="0" lvl="0" marL="0" rtl="0" algn="l">
              <a:spcBef>
                <a:spcPts val="0"/>
              </a:spcBef>
              <a:spcAft>
                <a:spcPts val="0"/>
              </a:spcAft>
              <a:buNone/>
            </a:pPr>
            <a:r>
              <a:rPr lang="en-US"/>
              <a:t>Meaning that Rallies go against momentum. Crashes follow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the statistical significance of the coefficient, at the bottom of the table, is really low overall with 2% and 11% and just slightly higher for the negative tail.</a:t>
            </a:r>
            <a:endParaRPr/>
          </a:p>
          <a:p>
            <a:pPr indent="0" lvl="0" marL="0" rtl="0" algn="l">
              <a:spcBef>
                <a:spcPts val="0"/>
              </a:spcBef>
              <a:spcAft>
                <a:spcPts val="0"/>
              </a:spcAft>
              <a:buClr>
                <a:srgbClr val="000000"/>
              </a:buClr>
              <a:buFont typeface="Arial"/>
              <a:buNone/>
            </a:pPr>
            <a:r>
              <a:t/>
            </a:r>
            <a:endParaRPr/>
          </a:p>
        </p:txBody>
      </p:sp>
      <p:sp>
        <p:nvSpPr>
          <p:cNvPr id="383" name="Google Shape;383;g3dfdcedfbbb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fdcedfbbb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dfdcedfbbb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try to add a market sentiment coefficient to our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hypothesis is that these extreme returns are irrational movement induced by extreme sentiment among traders.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Also a disclaimer here but due to the </a:t>
            </a:r>
            <a:r>
              <a:rPr lang="en-US"/>
              <a:t>difficulties to find free historical sentiment data.</a:t>
            </a:r>
            <a:br>
              <a:rPr lang="en-US"/>
            </a:br>
            <a:r>
              <a:rPr lang="en-US"/>
              <a:t>This indicator is on the market level, not stock level.</a:t>
            </a:r>
            <a:endParaRPr/>
          </a:p>
        </p:txBody>
      </p:sp>
      <p:sp>
        <p:nvSpPr>
          <p:cNvPr id="400" name="Google Shape;400;g3dfdcedfbbb_0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e1cae8f83d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e1cae8f83d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used a Financial news headlines from kaggle</a:t>
            </a:r>
            <a:endParaRPr/>
          </a:p>
          <a:p>
            <a:pPr indent="0" lvl="0" marL="0" rtl="0" algn="l">
              <a:spcBef>
                <a:spcPts val="0"/>
              </a:spcBef>
              <a:spcAft>
                <a:spcPts val="0"/>
              </a:spcAft>
              <a:buNone/>
            </a:pPr>
            <a:r>
              <a:rPr lang="en-US"/>
              <a:t>Not great but one of the best I found as open source on the internet.</a:t>
            </a:r>
            <a:endParaRPr/>
          </a:p>
          <a:p>
            <a:pPr indent="0" lvl="0" marL="0" rtl="0" algn="l">
              <a:spcBef>
                <a:spcPts val="0"/>
              </a:spcBef>
              <a:spcAft>
                <a:spcPts val="0"/>
              </a:spcAft>
              <a:buNone/>
            </a:pPr>
            <a:r>
              <a:rPr lang="en-US"/>
              <a:t>You can see an example of the dataset on the slide.</a:t>
            </a:r>
            <a:endParaRPr/>
          </a:p>
        </p:txBody>
      </p:sp>
      <p:sp>
        <p:nvSpPr>
          <p:cNvPr id="409" name="Google Shape;409;g3e1cae8f83d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fdcedfbbb_0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dfdcedfbbb_0_1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a visualisation of the news headline count by day.</a:t>
            </a:r>
            <a:endParaRPr/>
          </a:p>
          <a:p>
            <a:pPr indent="0" lvl="0" marL="0" rtl="0" algn="l">
              <a:spcBef>
                <a:spcPts val="0"/>
              </a:spcBef>
              <a:spcAft>
                <a:spcPts val="0"/>
              </a:spcAft>
              <a:buNone/>
            </a:pPr>
            <a:r>
              <a:rPr lang="en-US"/>
              <a:t>We have very sparse headlines number in the first years. And does not go to 2026.</a:t>
            </a:r>
            <a:endParaRPr/>
          </a:p>
          <a:p>
            <a:pPr indent="0" lvl="0" marL="0" rtl="0" algn="l">
              <a:spcBef>
                <a:spcPts val="0"/>
              </a:spcBef>
              <a:spcAft>
                <a:spcPts val="0"/>
              </a:spcAft>
              <a:buNone/>
            </a:pPr>
            <a:r>
              <a:rPr lang="en-US"/>
              <a:t>So I had to also cutoff the return dataset accordingly.</a:t>
            </a:r>
            <a:endParaRPr/>
          </a:p>
        </p:txBody>
      </p:sp>
      <p:sp>
        <p:nvSpPr>
          <p:cNvPr id="419" name="Google Shape;419;g3dfdcedfbbb_0_1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fdcedfbbb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dfdcedfbbb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To label the headlines with a sentiment I used </a:t>
            </a:r>
            <a:r>
              <a:rPr lang="en-US"/>
              <a:t>FinBERT. </a:t>
            </a:r>
            <a:endParaRPr/>
          </a:p>
          <a:p>
            <a:pPr indent="0" lvl="0" marL="0" rtl="0" algn="l">
              <a:spcBef>
                <a:spcPts val="0"/>
              </a:spcBef>
              <a:spcAft>
                <a:spcPts val="0"/>
              </a:spcAft>
              <a:buClr>
                <a:schemeClr val="dk1"/>
              </a:buClr>
              <a:buFont typeface="Arial"/>
              <a:buNone/>
            </a:pPr>
            <a:r>
              <a:rPr lang="en-US"/>
              <a:t>It is an encoder, which creates an embedding, with a linear classifier at the end to give a score.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installed FinBERT in local to give a score  between -1 extremely negative to +1, extremely positive sentiment for each headlines. And then I aggregated by date. This gives a market sentiment for the day.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29" name="Google Shape;429;g3dfdcedfbbb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fdcedfbbb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dfdcedfbbb_0_1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 the total set, the </a:t>
            </a:r>
            <a:r>
              <a:rPr lang="en-US"/>
              <a:t>adjusted</a:t>
            </a:r>
            <a:r>
              <a:rPr lang="en-US"/>
              <a:t> R-squared increases a bit from 0.37 to 0.41 compared to the momentum model.</a:t>
            </a:r>
            <a:endParaRPr/>
          </a:p>
          <a:p>
            <a:pPr indent="0" lvl="0" marL="0" rtl="0" algn="l">
              <a:spcBef>
                <a:spcPts val="0"/>
              </a:spcBef>
              <a:spcAft>
                <a:spcPts val="0"/>
              </a:spcAft>
              <a:buNone/>
            </a:pPr>
            <a:r>
              <a:rPr lang="en-US"/>
              <a:t>However, there is only 5 percent of significant sentiment beta, on the full sample.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Is it a sign of multicollinearity or overfit?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positive tail r-squared jumps from 13% to 26% but with a significance of the sentiment which is null.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Again, Is it a sign of multicollinearity or overfit?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negative tail r-squared barely changed. The significance of the sentiment is also really low.</a:t>
            </a:r>
            <a:endParaRPr/>
          </a:p>
          <a:p>
            <a:pPr indent="0" lvl="0" marL="0" rtl="0" algn="l">
              <a:spcBef>
                <a:spcPts val="0"/>
              </a:spcBef>
              <a:spcAft>
                <a:spcPts val="0"/>
              </a:spcAft>
              <a:buNone/>
            </a:pPr>
            <a:r>
              <a:t/>
            </a:r>
            <a:endParaRPr/>
          </a:p>
        </p:txBody>
      </p:sp>
      <p:sp>
        <p:nvSpPr>
          <p:cNvPr id="439" name="Google Shape;439;g3dfdcedfbbb_0_1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e1cae8f83d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g3e1cae8f83d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On this summary, we see that overall these models are worse in the tails compared to the full set.</a:t>
            </a:r>
            <a:endParaRPr/>
          </a:p>
          <a:p>
            <a:pPr indent="0" lvl="0" marL="0" rtl="0" algn="l">
              <a:spcBef>
                <a:spcPts val="0"/>
              </a:spcBef>
              <a:spcAft>
                <a:spcPts val="0"/>
              </a:spcAft>
              <a:buNone/>
            </a:pPr>
            <a:r>
              <a:t/>
            </a:r>
            <a:endParaRPr/>
          </a:p>
        </p:txBody>
      </p:sp>
      <p:sp>
        <p:nvSpPr>
          <p:cNvPr id="454" name="Google Shape;454;g3e1cae8f83d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e1cae8f83d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e1cae8f83d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To end this presentation, I will conclude on the following : </a:t>
            </a:r>
            <a:endParaRPr/>
          </a:p>
        </p:txBody>
      </p:sp>
      <p:sp>
        <p:nvSpPr>
          <p:cNvPr id="465" name="Google Shape;465;g3e1cae8f83d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Title">
  <p:cSld name="CFDS - Title">
    <p:spTree>
      <p:nvGrpSpPr>
        <p:cNvPr id="21" name="Shape 21"/>
        <p:cNvGrpSpPr/>
        <p:nvPr/>
      </p:nvGrpSpPr>
      <p:grpSpPr>
        <a:xfrm>
          <a:off x="0" y="0"/>
          <a:ext cx="0" cy="0"/>
          <a:chOff x="0" y="0"/>
          <a:chExt cx="0" cy="0"/>
        </a:xfrm>
      </p:grpSpPr>
      <p:sp>
        <p:nvSpPr>
          <p:cNvPr id="22" name="Google Shape;22;p6"/>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sp>
        <p:nvSpPr>
          <p:cNvPr id="23" name="Google Shape;23;p6"/>
          <p:cNvSpPr txBox="1"/>
          <p:nvPr>
            <p:ph idx="1" type="subTitle"/>
          </p:nvPr>
        </p:nvSpPr>
        <p:spPr>
          <a:xfrm>
            <a:off x="720000" y="5220000"/>
            <a:ext cx="8640000" cy="27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Titillium Web"/>
                <a:ea typeface="Titillium Web"/>
                <a:cs typeface="Titillium Web"/>
                <a:sym typeface="Titillium Web"/>
              </a:defRPr>
            </a:lvl1pPr>
            <a:lvl2pPr lvl="1"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Titillium Web"/>
                <a:ea typeface="Titillium Web"/>
                <a:cs typeface="Titillium Web"/>
                <a:sym typeface="Titillium Web"/>
              </a:defRPr>
            </a:lvl2pPr>
            <a:lvl3pPr lvl="2" marR="0" rtl="0" algn="ctr">
              <a:lnSpc>
                <a:spcPct val="100000"/>
              </a:lnSpc>
              <a:spcBef>
                <a:spcPts val="270"/>
              </a:spcBef>
              <a:spcAft>
                <a:spcPts val="0"/>
              </a:spcAft>
              <a:buClr>
                <a:srgbClr val="888888"/>
              </a:buClr>
              <a:buSzPts val="1350"/>
              <a:buFont typeface="Arial"/>
              <a:buNone/>
              <a:defRPr b="0" i="0" sz="1350" u="none" cap="none" strike="noStrike">
                <a:solidFill>
                  <a:srgbClr val="888888"/>
                </a:solidFill>
                <a:latin typeface="Titillium Web"/>
                <a:ea typeface="Titillium Web"/>
                <a:cs typeface="Titillium Web"/>
                <a:sym typeface="Titillium Web"/>
              </a:defRPr>
            </a:lvl3pPr>
            <a:lvl4pPr lvl="3"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cxnSp>
        <p:nvCxnSpPr>
          <p:cNvPr id="24" name="Google Shape;24;p6"/>
          <p:cNvCxnSpPr/>
          <p:nvPr/>
        </p:nvCxnSpPr>
        <p:spPr>
          <a:xfrm>
            <a:off x="0" y="4921254"/>
            <a:ext cx="12193587" cy="0"/>
          </a:xfrm>
          <a:prstGeom prst="straightConnector1">
            <a:avLst/>
          </a:prstGeom>
          <a:noFill/>
          <a:ln cap="flat" cmpd="sng" w="9525">
            <a:solidFill>
              <a:srgbClr val="3F3F3F"/>
            </a:solidFill>
            <a:prstDash val="solid"/>
            <a:round/>
            <a:headEnd len="sm" w="sm" type="none"/>
            <a:tailEnd len="sm" w="sm" type="none"/>
          </a:ln>
        </p:spPr>
      </p:cxnSp>
      <p:sp>
        <p:nvSpPr>
          <p:cNvPr id="25" name="Google Shape;25;p6"/>
          <p:cNvSpPr txBox="1"/>
          <p:nvPr>
            <p:ph type="title"/>
          </p:nvPr>
        </p:nvSpPr>
        <p:spPr>
          <a:xfrm>
            <a:off x="720000" y="5490000"/>
            <a:ext cx="8640000" cy="540000"/>
          </a:xfrm>
          <a:prstGeom prst="rect">
            <a:avLst/>
          </a:prstGeom>
          <a:noFill/>
          <a:ln>
            <a:noFill/>
          </a:ln>
        </p:spPr>
        <p:txBody>
          <a:bodyPr anchorCtr="0" anchor="ctr" bIns="0" lIns="0" spcFirstLastPara="1" rIns="0" wrap="square" tIns="0">
            <a:normAutofit/>
          </a:bodyPr>
          <a:lstStyle>
            <a:lvl1pPr lvl="0" algn="l">
              <a:spcBef>
                <a:spcPts val="0"/>
              </a:spcBef>
              <a:spcAft>
                <a:spcPts val="0"/>
              </a:spcAft>
              <a:buClr>
                <a:schemeClr val="lt1"/>
              </a:buClr>
              <a:buSzPts val="3200"/>
              <a:buFont typeface="Titillium Web"/>
              <a:buNone/>
              <a:defRPr sz="3200">
                <a:solidFill>
                  <a:schemeClr val="lt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6"/>
          <p:cNvSpPr txBox="1"/>
          <p:nvPr>
            <p:ph idx="2" type="body"/>
          </p:nvPr>
        </p:nvSpPr>
        <p:spPr>
          <a:xfrm>
            <a:off x="720000" y="6030000"/>
            <a:ext cx="8640000" cy="3600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320"/>
              </a:spcBef>
              <a:spcAft>
                <a:spcPts val="0"/>
              </a:spcAft>
              <a:buClr>
                <a:schemeClr val="lt1"/>
              </a:buClr>
              <a:buSzPts val="1600"/>
              <a:buFont typeface="Arial"/>
              <a:buNone/>
              <a:defRPr b="0" i="0" sz="1600" u="none" cap="none" strike="noStrike">
                <a:solidFill>
                  <a:schemeClr val="lt1"/>
                </a:solidFill>
                <a:latin typeface="Titillium Web"/>
                <a:ea typeface="Titillium Web"/>
                <a:cs typeface="Titillium Web"/>
                <a:sym typeface="Titillium Web"/>
              </a:defRPr>
            </a:lvl1pPr>
            <a:lvl2pPr indent="-228600" lvl="1" marL="9144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Titillium Web"/>
                <a:ea typeface="Titillium Web"/>
                <a:cs typeface="Titillium Web"/>
                <a:sym typeface="Titillium Web"/>
              </a:defRPr>
            </a:lvl2pPr>
            <a:lvl3pPr indent="-228600" lvl="2" marL="1371600" marR="0" rtl="0" algn="l">
              <a:lnSpc>
                <a:spcPct val="100000"/>
              </a:lnSpc>
              <a:spcBef>
                <a:spcPts val="270"/>
              </a:spcBef>
              <a:spcAft>
                <a:spcPts val="0"/>
              </a:spcAft>
              <a:buClr>
                <a:schemeClr val="dk1"/>
              </a:buClr>
              <a:buSzPts val="1350"/>
              <a:buFont typeface="Arial"/>
              <a:buNone/>
              <a:defRPr b="0" i="0" sz="1350" u="none" cap="none" strike="noStrike">
                <a:solidFill>
                  <a:schemeClr val="dk1"/>
                </a:solidFill>
                <a:latin typeface="Titillium Web"/>
                <a:ea typeface="Titillium Web"/>
                <a:cs typeface="Titillium Web"/>
                <a:sym typeface="Titillium Web"/>
              </a:defRPr>
            </a:lvl3pPr>
            <a:lvl4pPr indent="-228600" lvl="3" marL="18288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7" name="Google Shape;27;p6"/>
          <p:cNvSpPr txBox="1"/>
          <p:nvPr/>
        </p:nvSpPr>
        <p:spPr>
          <a:xfrm>
            <a:off x="3358662" y="-1186962"/>
            <a:ext cx="0" cy="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28" name="Google Shape;28;p6"/>
          <p:cNvPicPr preferRelativeResize="0"/>
          <p:nvPr/>
        </p:nvPicPr>
        <p:blipFill rotWithShape="1">
          <a:blip r:embed="rId2">
            <a:alphaModFix/>
          </a:blip>
          <a:srcRect b="25283" l="-63" r="-133" t="-151"/>
          <a:stretch/>
        </p:blipFill>
        <p:spPr>
          <a:xfrm>
            <a:off x="-1" y="810000"/>
            <a:ext cx="12193589" cy="4140000"/>
          </a:xfrm>
          <a:prstGeom prst="rect">
            <a:avLst/>
          </a:prstGeom>
          <a:noFill/>
          <a:ln>
            <a:noFill/>
          </a:ln>
        </p:spPr>
      </p:pic>
      <p:cxnSp>
        <p:nvCxnSpPr>
          <p:cNvPr id="29" name="Google Shape;29;p6"/>
          <p:cNvCxnSpPr/>
          <p:nvPr/>
        </p:nvCxnSpPr>
        <p:spPr>
          <a:xfrm>
            <a:off x="-1" y="4950000"/>
            <a:ext cx="12186000" cy="0"/>
          </a:xfrm>
          <a:prstGeom prst="straightConnector1">
            <a:avLst/>
          </a:prstGeom>
          <a:noFill/>
          <a:ln cap="flat" cmpd="sng" w="19050">
            <a:solidFill>
              <a:srgbClr val="0C0C0C"/>
            </a:solidFill>
            <a:prstDash val="solid"/>
            <a:round/>
            <a:headEnd len="sm" w="sm" type="none"/>
            <a:tailEnd len="sm" w="sm" type="none"/>
          </a:ln>
        </p:spPr>
      </p:cxnSp>
      <p:sp>
        <p:nvSpPr>
          <p:cNvPr id="30" name="Google Shape;30;p6"/>
          <p:cNvSpPr txBox="1"/>
          <p:nvPr/>
        </p:nvSpPr>
        <p:spPr>
          <a:xfrm>
            <a:off x="630000" y="6318000"/>
            <a:ext cx="582683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rgbClr val="D8D8D8"/>
                </a:solidFill>
                <a:latin typeface="Calibri"/>
                <a:ea typeface="Calibri"/>
                <a:cs typeface="Calibri"/>
                <a:sym typeface="Calibri"/>
              </a:rPr>
              <a:t>ALL RIGHTS RESERVED. No part of this work may be reproduced in any form or by any means, electronic or mechanical, including photocopying, recording, or by any information storage and retrieval system without expressed written permission from the authors.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Main Slides - Top-Title">
  <p:cSld name="CFDS - Main Slides - Top-Title">
    <p:spTree>
      <p:nvGrpSpPr>
        <p:cNvPr id="31" name="Shape 31"/>
        <p:cNvGrpSpPr/>
        <p:nvPr/>
      </p:nvGrpSpPr>
      <p:grpSpPr>
        <a:xfrm>
          <a:off x="0" y="0"/>
          <a:ext cx="0" cy="0"/>
          <a:chOff x="0" y="0"/>
          <a:chExt cx="0" cy="0"/>
        </a:xfrm>
      </p:grpSpPr>
      <p:sp>
        <p:nvSpPr>
          <p:cNvPr id="32" name="Google Shape;32;p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lvl1pPr lvl="0" algn="r">
              <a:spcBef>
                <a:spcPts val="0"/>
              </a:spcBef>
              <a:spcAft>
                <a:spcPts val="0"/>
              </a:spcAft>
              <a:buClr>
                <a:schemeClr val="lt1"/>
              </a:buClr>
              <a:buSzPts val="3200"/>
              <a:buFont typeface="Titillium Web"/>
              <a:buNone/>
              <a:defRPr b="0" sz="3200">
                <a:solidFill>
                  <a:schemeClr val="lt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tillium Web"/>
                <a:ea typeface="Titillium Web"/>
                <a:cs typeface="Titillium Web"/>
                <a:sym typeface="Titillium Web"/>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tillium Web"/>
                <a:ea typeface="Titillium Web"/>
                <a:cs typeface="Titillium Web"/>
                <a:sym typeface="Titillium Web"/>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Titillium Web"/>
                <a:ea typeface="Titillium Web"/>
                <a:cs typeface="Titillium Web"/>
                <a:sym typeface="Titillium Web"/>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7"/>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7"/>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890">
          <p15:clr>
            <a:srgbClr val="FBAE40"/>
          </p15:clr>
        </p15:guide>
        <p15:guide id="2" orient="horz" pos="4020">
          <p15:clr>
            <a:srgbClr val="FBAE40"/>
          </p15:clr>
        </p15:guide>
        <p15:guide id="3" pos="439">
          <p15:clr>
            <a:srgbClr val="FBAE40"/>
          </p15:clr>
        </p15:guide>
        <p15:guide id="4" pos="72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Main Slides - In-Title">
  <p:cSld name="CFDS - Main Slides - In-Title">
    <p:spTree>
      <p:nvGrpSpPr>
        <p:cNvPr id="36" name="Shape 36"/>
        <p:cNvGrpSpPr/>
        <p:nvPr/>
      </p:nvGrpSpPr>
      <p:grpSpPr>
        <a:xfrm>
          <a:off x="0" y="0"/>
          <a:ext cx="0" cy="0"/>
          <a:chOff x="0" y="0"/>
          <a:chExt cx="0" cy="0"/>
        </a:xfrm>
      </p:grpSpPr>
      <p:sp>
        <p:nvSpPr>
          <p:cNvPr id="37" name="Google Shape;37;p8"/>
          <p:cNvSpPr txBox="1"/>
          <p:nvPr>
            <p:ph type="title"/>
          </p:nvPr>
        </p:nvSpPr>
        <p:spPr>
          <a:xfrm>
            <a:off x="720000" y="1080000"/>
            <a:ext cx="10730589" cy="370800"/>
          </a:xfrm>
          <a:prstGeom prst="rect">
            <a:avLst/>
          </a:prstGeom>
          <a:noFill/>
          <a:ln>
            <a:noFill/>
          </a:ln>
        </p:spPr>
        <p:txBody>
          <a:bodyPr anchorCtr="0" anchor="ctr" bIns="0" lIns="0" spcFirstLastPara="1" rIns="0" wrap="square" tIns="0">
            <a:noAutofit/>
          </a:bodyPr>
          <a:lstStyle>
            <a:lvl1pPr lvl="0" algn="l">
              <a:spcBef>
                <a:spcPts val="0"/>
              </a:spcBef>
              <a:spcAft>
                <a:spcPts val="0"/>
              </a:spcAft>
              <a:buClr>
                <a:schemeClr val="dk1"/>
              </a:buClr>
              <a:buSzPts val="2800"/>
              <a:buFont typeface="Titillium Web"/>
              <a:buNone/>
              <a:defRPr b="1" sz="2800">
                <a:solidFill>
                  <a:schemeClr val="dk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719999" y="1800000"/>
            <a:ext cx="10753200" cy="4590000"/>
          </a:xfrm>
          <a:prstGeom prst="rect">
            <a:avLst/>
          </a:prstGeom>
          <a:noFill/>
          <a:ln>
            <a:noFill/>
          </a:ln>
        </p:spPr>
        <p:txBody>
          <a:bodyPr anchorCtr="0" anchor="t" bIns="0" lIns="0" spcFirstLastPara="1" rIns="0" wrap="square" tIns="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tillium Web"/>
                <a:ea typeface="Titillium Web"/>
                <a:cs typeface="Titillium Web"/>
                <a:sym typeface="Titillium Web"/>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tillium Web"/>
                <a:ea typeface="Titillium Web"/>
                <a:cs typeface="Titillium Web"/>
                <a:sym typeface="Titillium Web"/>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Titillium Web"/>
                <a:ea typeface="Titillium Web"/>
                <a:cs typeface="Titillium Web"/>
                <a:sym typeface="Titillium Web"/>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 name="Google Shape;39;p8"/>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8"/>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439">
          <p15:clr>
            <a:srgbClr val="FBAE40"/>
          </p15:clr>
        </p15:guide>
        <p15:guide id="2" pos="7242">
          <p15:clr>
            <a:srgbClr val="FBAE40"/>
          </p15:clr>
        </p15:guide>
        <p15:guide id="3" orient="horz" pos="1117">
          <p15:clr>
            <a:srgbClr val="547EBF"/>
          </p15:clr>
        </p15:guide>
        <p15:guide id="4" orient="horz" pos="4020">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Empty Slide" type="blank">
  <p:cSld name="BLANK">
    <p:spTree>
      <p:nvGrpSpPr>
        <p:cNvPr id="41" name="Shape 41"/>
        <p:cNvGrpSpPr/>
        <p:nvPr/>
      </p:nvGrpSpPr>
      <p:grpSpPr>
        <a:xfrm>
          <a:off x="0" y="0"/>
          <a:ext cx="0" cy="0"/>
          <a:chOff x="0" y="0"/>
          <a:chExt cx="0" cy="0"/>
        </a:xfrm>
      </p:grpSpPr>
      <p:sp>
        <p:nvSpPr>
          <p:cNvPr id="42" name="Google Shape;42;p9"/>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9"/>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Last Slide">
  <p:cSld name="CFDS - Last Slide">
    <p:spTree>
      <p:nvGrpSpPr>
        <p:cNvPr id="44" name="Shape 44"/>
        <p:cNvGrpSpPr/>
        <p:nvPr/>
      </p:nvGrpSpPr>
      <p:grpSpPr>
        <a:xfrm>
          <a:off x="0" y="0"/>
          <a:ext cx="0" cy="0"/>
          <a:chOff x="0" y="0"/>
          <a:chExt cx="0" cy="0"/>
        </a:xfrm>
      </p:grpSpPr>
      <p:sp>
        <p:nvSpPr>
          <p:cNvPr id="45" name="Google Shape;45;p10"/>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10"/>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48" name="Google Shape;48;p10"/>
          <p:cNvPicPr preferRelativeResize="0"/>
          <p:nvPr/>
        </p:nvPicPr>
        <p:blipFill rotWithShape="1">
          <a:blip r:embed="rId2">
            <a:alphaModFix/>
          </a:blip>
          <a:srcRect b="28637" l="0" r="0" t="12018"/>
          <a:stretch/>
        </p:blipFill>
        <p:spPr>
          <a:xfrm>
            <a:off x="794" y="825910"/>
            <a:ext cx="12192000" cy="4739148"/>
          </a:xfrm>
          <a:prstGeom prst="rect">
            <a:avLst/>
          </a:prstGeom>
          <a:noFill/>
          <a:ln>
            <a:noFill/>
          </a:ln>
        </p:spPr>
      </p:pic>
      <p:cxnSp>
        <p:nvCxnSpPr>
          <p:cNvPr id="49" name="Google Shape;49;p10"/>
          <p:cNvCxnSpPr/>
          <p:nvPr/>
        </p:nvCxnSpPr>
        <p:spPr>
          <a:xfrm>
            <a:off x="-1" y="5580000"/>
            <a:ext cx="12186000" cy="0"/>
          </a:xfrm>
          <a:prstGeom prst="straightConnector1">
            <a:avLst/>
          </a:prstGeom>
          <a:noFill/>
          <a:ln cap="flat" cmpd="sng" w="19050">
            <a:solidFill>
              <a:srgbClr val="0C0C0C"/>
            </a:solidFill>
            <a:prstDash val="solid"/>
            <a:round/>
            <a:headEnd len="sm" w="sm" type="none"/>
            <a:tailEnd len="sm" w="sm" type="none"/>
          </a:ln>
        </p:spPr>
      </p:cxnSp>
      <p:sp>
        <p:nvSpPr>
          <p:cNvPr id="50" name="Google Shape;50;p10"/>
          <p:cNvSpPr txBox="1"/>
          <p:nvPr>
            <p:ph type="title"/>
          </p:nvPr>
        </p:nvSpPr>
        <p:spPr>
          <a:xfrm>
            <a:off x="696913" y="5841328"/>
            <a:ext cx="8233200" cy="5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3200"/>
              <a:buFont typeface="Titillium Web"/>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p:nvPr/>
        </p:nvSpPr>
        <p:spPr>
          <a:xfrm>
            <a:off x="0" y="6678000"/>
            <a:ext cx="12193588" cy="180000"/>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1" name="Google Shape;11;p5"/>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lt1"/>
                </a:solidFill>
                <a:latin typeface="Titillium Web"/>
                <a:ea typeface="Titillium Web"/>
                <a:cs typeface="Titillium Web"/>
                <a:sym typeface="Titillium Web"/>
              </a:defRPr>
            </a:lvl1pPr>
            <a:lvl2pPr indent="0" lvl="1" marL="0" marR="0" rtl="0" algn="r">
              <a:spcBef>
                <a:spcPts val="0"/>
              </a:spcBef>
              <a:buNone/>
              <a:defRPr b="0" i="0" sz="1000" u="none" cap="none" strike="noStrike">
                <a:solidFill>
                  <a:schemeClr val="lt1"/>
                </a:solidFill>
                <a:latin typeface="Titillium Web"/>
                <a:ea typeface="Titillium Web"/>
                <a:cs typeface="Titillium Web"/>
                <a:sym typeface="Titillium Web"/>
              </a:defRPr>
            </a:lvl2pPr>
            <a:lvl3pPr indent="0" lvl="2" marL="0" marR="0" rtl="0" algn="r">
              <a:spcBef>
                <a:spcPts val="0"/>
              </a:spcBef>
              <a:buNone/>
              <a:defRPr b="0" i="0" sz="1000" u="none" cap="none" strike="noStrike">
                <a:solidFill>
                  <a:schemeClr val="lt1"/>
                </a:solidFill>
                <a:latin typeface="Titillium Web"/>
                <a:ea typeface="Titillium Web"/>
                <a:cs typeface="Titillium Web"/>
                <a:sym typeface="Titillium Web"/>
              </a:defRPr>
            </a:lvl3pPr>
            <a:lvl4pPr indent="0" lvl="3" marL="0" marR="0" rtl="0" algn="r">
              <a:spcBef>
                <a:spcPts val="0"/>
              </a:spcBef>
              <a:buNone/>
              <a:defRPr b="0" i="0" sz="1000" u="none" cap="none" strike="noStrike">
                <a:solidFill>
                  <a:schemeClr val="lt1"/>
                </a:solidFill>
                <a:latin typeface="Titillium Web"/>
                <a:ea typeface="Titillium Web"/>
                <a:cs typeface="Titillium Web"/>
                <a:sym typeface="Titillium Web"/>
              </a:defRPr>
            </a:lvl4pPr>
            <a:lvl5pPr indent="0" lvl="4" marL="0" marR="0" rtl="0" algn="r">
              <a:spcBef>
                <a:spcPts val="0"/>
              </a:spcBef>
              <a:buNone/>
              <a:defRPr b="0" i="0" sz="1000" u="none" cap="none" strike="noStrike">
                <a:solidFill>
                  <a:schemeClr val="lt1"/>
                </a:solidFill>
                <a:latin typeface="Titillium Web"/>
                <a:ea typeface="Titillium Web"/>
                <a:cs typeface="Titillium Web"/>
                <a:sym typeface="Titillium Web"/>
              </a:defRPr>
            </a:lvl5pPr>
            <a:lvl6pPr indent="0" lvl="5" marL="0" marR="0" rtl="0" algn="r">
              <a:spcBef>
                <a:spcPts val="0"/>
              </a:spcBef>
              <a:buNone/>
              <a:defRPr b="0" i="0" sz="1000" u="none" cap="none" strike="noStrike">
                <a:solidFill>
                  <a:schemeClr val="lt1"/>
                </a:solidFill>
                <a:latin typeface="Titillium Web"/>
                <a:ea typeface="Titillium Web"/>
                <a:cs typeface="Titillium Web"/>
                <a:sym typeface="Titillium Web"/>
              </a:defRPr>
            </a:lvl6pPr>
            <a:lvl7pPr indent="0" lvl="6" marL="0" marR="0" rtl="0" algn="r">
              <a:spcBef>
                <a:spcPts val="0"/>
              </a:spcBef>
              <a:buNone/>
              <a:defRPr b="0" i="0" sz="1000" u="none" cap="none" strike="noStrike">
                <a:solidFill>
                  <a:schemeClr val="lt1"/>
                </a:solidFill>
                <a:latin typeface="Titillium Web"/>
                <a:ea typeface="Titillium Web"/>
                <a:cs typeface="Titillium Web"/>
                <a:sym typeface="Titillium Web"/>
              </a:defRPr>
            </a:lvl7pPr>
            <a:lvl8pPr indent="0" lvl="7" marL="0" marR="0" rtl="0" algn="r">
              <a:spcBef>
                <a:spcPts val="0"/>
              </a:spcBef>
              <a:buNone/>
              <a:defRPr b="0" i="0" sz="1000" u="none" cap="none" strike="noStrike">
                <a:solidFill>
                  <a:schemeClr val="lt1"/>
                </a:solidFill>
                <a:latin typeface="Titillium Web"/>
                <a:ea typeface="Titillium Web"/>
                <a:cs typeface="Titillium Web"/>
                <a:sym typeface="Titillium Web"/>
              </a:defRPr>
            </a:lvl8pPr>
            <a:lvl9pPr indent="0" lvl="8" marL="0" marR="0" rtl="0" algn="r">
              <a:spcBef>
                <a:spcPts val="0"/>
              </a:spcBef>
              <a:buNone/>
              <a:defRPr b="0" i="0" sz="1000" u="none" cap="none" strike="noStrike">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pic>
        <p:nvPicPr>
          <p:cNvPr id="12" name="Google Shape;12;p5"/>
          <p:cNvPicPr preferRelativeResize="0"/>
          <p:nvPr/>
        </p:nvPicPr>
        <p:blipFill rotWithShape="1">
          <a:blip r:embed="rId1">
            <a:alphaModFix/>
          </a:blip>
          <a:srcRect b="0" l="0" r="0" t="0"/>
          <a:stretch/>
        </p:blipFill>
        <p:spPr>
          <a:xfrm>
            <a:off x="540000" y="180000"/>
            <a:ext cx="2371115" cy="626251"/>
          </a:xfrm>
          <a:prstGeom prst="rect">
            <a:avLst/>
          </a:prstGeom>
          <a:noFill/>
          <a:ln>
            <a:noFill/>
          </a:ln>
        </p:spPr>
      </p:pic>
      <p:sp>
        <p:nvSpPr>
          <p:cNvPr id="13" name="Google Shape;13;p5"/>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lt1"/>
                </a:solidFill>
                <a:latin typeface="Titillium Web"/>
                <a:ea typeface="Titillium Web"/>
                <a:cs typeface="Titillium Web"/>
                <a:sym typeface="Titillium Web"/>
              </a:defRPr>
            </a:lvl1pPr>
            <a:lvl2pPr lvl="1" marR="0" rtl="0" algn="l">
              <a:spcBef>
                <a:spcPts val="0"/>
              </a:spcBef>
              <a:spcAft>
                <a:spcPts val="0"/>
              </a:spcAft>
              <a:buSzPts val="1400"/>
              <a:buNone/>
              <a:defRPr b="0" i="0" sz="1867"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67"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67"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67"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67"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67"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67"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67" u="none" cap="none" strike="noStrike">
                <a:solidFill>
                  <a:schemeClr val="dk1"/>
                </a:solidFill>
                <a:latin typeface="Arial"/>
                <a:ea typeface="Arial"/>
                <a:cs typeface="Arial"/>
                <a:sym typeface="Arial"/>
              </a:defRPr>
            </a:lvl9pPr>
          </a:lstStyle>
          <a:p/>
        </p:txBody>
      </p:sp>
      <p:sp>
        <p:nvSpPr>
          <p:cNvPr id="14" name="Google Shape;14;p5"/>
          <p:cNvSpPr txBox="1"/>
          <p:nvPr>
            <p:ph type="title"/>
          </p:nvPr>
        </p:nvSpPr>
        <p:spPr>
          <a:xfrm>
            <a:off x="3240000" y="288000"/>
            <a:ext cx="8233200" cy="540000"/>
          </a:xfrm>
          <a:prstGeom prst="rect">
            <a:avLst/>
          </a:prstGeom>
          <a:noFill/>
          <a:ln>
            <a:noFill/>
          </a:ln>
        </p:spPr>
        <p:txBody>
          <a:bodyPr anchorCtr="0" anchor="ctr" bIns="45700" lIns="91425" spcFirstLastPara="1" rIns="91425" wrap="square" tIns="45700">
            <a:normAutofit/>
          </a:bodyPr>
          <a:lstStyle>
            <a:lvl1pPr lvl="0" marR="0" rtl="0" algn="r">
              <a:spcBef>
                <a:spcPts val="0"/>
              </a:spcBef>
              <a:spcAft>
                <a:spcPts val="0"/>
              </a:spcAft>
              <a:buClr>
                <a:srgbClr val="262626"/>
              </a:buClr>
              <a:buSzPts val="3200"/>
              <a:buFont typeface="Titillium Web"/>
              <a:buNone/>
              <a:defRPr b="0" i="0" sz="3200" u="none" cap="none" strike="noStrike">
                <a:solidFill>
                  <a:srgbClr val="262626"/>
                </a:solidFill>
                <a:latin typeface="Titillium Web"/>
                <a:ea typeface="Titillium Web"/>
                <a:cs typeface="Titillium Web"/>
                <a:sym typeface="Titillium Web"/>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5"/>
          <p:cNvSpPr/>
          <p:nvPr/>
        </p:nvSpPr>
        <p:spPr>
          <a:xfrm>
            <a:off x="0" y="0"/>
            <a:ext cx="12193588" cy="828675"/>
          </a:xfrm>
          <a:prstGeom prst="rect">
            <a:avLst/>
          </a:prstGeom>
          <a:solidFill>
            <a:srgbClr val="3F3F3F">
              <a:alpha val="9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pic>
        <p:nvPicPr>
          <p:cNvPr descr="FDS_logo-white.png" id="16" name="Google Shape;16;p5"/>
          <p:cNvPicPr preferRelativeResize="0"/>
          <p:nvPr/>
        </p:nvPicPr>
        <p:blipFill rotWithShape="1">
          <a:blip r:embed="rId2">
            <a:alphaModFix/>
          </a:blip>
          <a:srcRect b="0" l="0" r="0" t="0"/>
          <a:stretch/>
        </p:blipFill>
        <p:spPr>
          <a:xfrm>
            <a:off x="323528" y="44624"/>
            <a:ext cx="1512168" cy="554462"/>
          </a:xfrm>
          <a:prstGeom prst="rect">
            <a:avLst/>
          </a:prstGeom>
          <a:noFill/>
          <a:ln>
            <a:noFill/>
          </a:ln>
        </p:spPr>
      </p:pic>
      <p:sp>
        <p:nvSpPr>
          <p:cNvPr id="17" name="Google Shape;17;p5"/>
          <p:cNvSpPr/>
          <p:nvPr/>
        </p:nvSpPr>
        <p:spPr>
          <a:xfrm>
            <a:off x="0" y="720725"/>
            <a:ext cx="5759450" cy="107950"/>
          </a:xfrm>
          <a:prstGeom prst="rect">
            <a:avLst/>
          </a:prstGeom>
          <a:solidFill>
            <a:srgbClr val="F26901">
              <a:alpha val="9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18" name="Google Shape;18;p5"/>
          <p:cNvSpPr/>
          <p:nvPr/>
        </p:nvSpPr>
        <p:spPr>
          <a:xfrm>
            <a:off x="0" y="720725"/>
            <a:ext cx="4319588" cy="107950"/>
          </a:xfrm>
          <a:prstGeom prst="rect">
            <a:avLst/>
          </a:prstGeom>
          <a:solidFill>
            <a:srgbClr val="FF96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19" name="Google Shape;19;p5"/>
          <p:cNvSpPr/>
          <p:nvPr/>
        </p:nvSpPr>
        <p:spPr>
          <a:xfrm>
            <a:off x="0" y="720000"/>
            <a:ext cx="2232248" cy="107950"/>
          </a:xfrm>
          <a:prstGeom prst="rect">
            <a:avLst/>
          </a:prstGeom>
          <a:solidFill>
            <a:srgbClr val="FFCC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cxnSp>
        <p:nvCxnSpPr>
          <p:cNvPr id="20" name="Google Shape;20;p5"/>
          <p:cNvCxnSpPr/>
          <p:nvPr/>
        </p:nvCxnSpPr>
        <p:spPr>
          <a:xfrm>
            <a:off x="-609301" y="6678000"/>
            <a:ext cx="13404600" cy="0"/>
          </a:xfrm>
          <a:prstGeom prst="straightConnector1">
            <a:avLst/>
          </a:prstGeom>
          <a:noFill/>
          <a:ln cap="flat" cmpd="sng" w="12700">
            <a:solidFill>
              <a:schemeClr val="dk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0.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2.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www.kaggle.com/datasets/dyutidasmahaptra/s-and-p-500-with-financial-news-headlines-20082024" TargetMode="External"/><Relationship Id="rId4" Type="http://schemas.openxmlformats.org/officeDocument/2006/relationships/hyperlink" Target="https://www.kaggle.com/datasets/dyutidasmahaptra/s-and-p-500-with-financial-news-headlines-20082024" TargetMode="External"/><Relationship Id="rId5" Type="http://schemas.openxmlformats.org/officeDocument/2006/relationships/hyperlink" Target="https://www.kaggle.com/datasets/dyutidasmahaptra/s-and-p-500-with-financial-news-headlines-20082024" TargetMode="External"/><Relationship Id="rId6"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huggingface.co/ProsusAI/finbert" TargetMode="External"/><Relationship Id="rId4" Type="http://schemas.openxmlformats.org/officeDocument/2006/relationships/hyperlink" Target="https://www.researchgate.net/publication/251231107_Good_Debt_or_Bad_Debt_Detecting_Semantic_Orientations_in_Economic_Texts" TargetMode="External"/><Relationship Id="rId5" Type="http://schemas.openxmlformats.org/officeDocument/2006/relationships/hyperlink" Target="https://www.researchgate.net/publication/251231107_Good_Debt_or_Bad_Debt_Detecting_Semantic_Orientations_in_Economic_Texts" TargetMode="External"/><Relationship Id="rId6"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idx="1" type="subTitle"/>
          </p:nvPr>
        </p:nvSpPr>
        <p:spPr>
          <a:xfrm>
            <a:off x="720000" y="5220000"/>
            <a:ext cx="8640000" cy="27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600"/>
              <a:buNone/>
            </a:pPr>
            <a:r>
              <a:rPr lang="en-US"/>
              <a:t>Chartered Financial Data Scientist (CFDS)</a:t>
            </a:r>
            <a:endParaRPr/>
          </a:p>
        </p:txBody>
      </p:sp>
      <p:sp>
        <p:nvSpPr>
          <p:cNvPr id="57" name="Google Shape;57;p1"/>
          <p:cNvSpPr txBox="1"/>
          <p:nvPr>
            <p:ph type="title"/>
          </p:nvPr>
        </p:nvSpPr>
        <p:spPr>
          <a:xfrm>
            <a:off x="720000" y="5490000"/>
            <a:ext cx="8640000" cy="5400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chemeClr val="dk1"/>
              </a:buClr>
              <a:buSzPts val="1100"/>
              <a:buFont typeface="Arial"/>
              <a:buNone/>
            </a:pPr>
            <a:r>
              <a:rPr b="1" lang="en-US" sz="1600">
                <a:latin typeface="Calibri"/>
                <a:ea typeface="Calibri"/>
                <a:cs typeface="Calibri"/>
                <a:sym typeface="Calibri"/>
              </a:rPr>
              <a:t>Study on the Tail Distribution of Stock Returns: From Empirical Analysis to Factor Explanations</a:t>
            </a:r>
            <a:endParaRPr sz="3800"/>
          </a:p>
        </p:txBody>
      </p:sp>
      <p:sp>
        <p:nvSpPr>
          <p:cNvPr id="58" name="Google Shape;58;p1"/>
          <p:cNvSpPr txBox="1"/>
          <p:nvPr>
            <p:ph idx="2" type="body"/>
          </p:nvPr>
        </p:nvSpPr>
        <p:spPr>
          <a:xfrm>
            <a:off x="720000" y="6030000"/>
            <a:ext cx="8640000" cy="360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600"/>
              <a:buFont typeface="Arial"/>
              <a:buNone/>
            </a:pPr>
            <a:r>
              <a:rPr lang="en-US"/>
              <a:t>CFDS-11 – Project Presentation - Pierre Nibéron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title"/>
          </p:nvPr>
        </p:nvSpPr>
        <p:spPr>
          <a:xfrm>
            <a:off x="3240000" y="116632"/>
            <a:ext cx="8233200" cy="5400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Clr>
                <a:schemeClr val="lt1"/>
              </a:buClr>
              <a:buSzPts val="3200"/>
              <a:buFont typeface="Titillium Web"/>
              <a:buNone/>
            </a:pPr>
            <a:r>
              <a:rPr lang="en-US"/>
              <a:t>Contents</a:t>
            </a:r>
            <a:endParaRPr/>
          </a:p>
        </p:txBody>
      </p:sp>
      <p:sp>
        <p:nvSpPr>
          <p:cNvPr id="65" name="Google Shape;65;p2"/>
          <p:cNvSpPr txBox="1"/>
          <p:nvPr>
            <p:ph idx="1" type="body"/>
          </p:nvPr>
        </p:nvSpPr>
        <p:spPr>
          <a:xfrm>
            <a:off x="719400" y="810988"/>
            <a:ext cx="10753200" cy="5040000"/>
          </a:xfrm>
          <a:prstGeom prst="rect">
            <a:avLst/>
          </a:prstGeom>
          <a:noFill/>
          <a:ln>
            <a:noFill/>
          </a:ln>
        </p:spPr>
        <p:txBody>
          <a:bodyPr anchorCtr="0" anchor="t" bIns="0" lIns="0" spcFirstLastPara="1" rIns="0" wrap="square" tIns="0">
            <a:noAutofit/>
          </a:bodyPr>
          <a:lstStyle/>
          <a:p>
            <a:pPr indent="-317500" lvl="0" marL="342900" rtl="0" algn="l">
              <a:lnSpc>
                <a:spcPct val="100000"/>
              </a:lnSpc>
              <a:spcBef>
                <a:spcPts val="0"/>
              </a:spcBef>
              <a:spcAft>
                <a:spcPts val="0"/>
              </a:spcAft>
              <a:buClr>
                <a:schemeClr val="dk1"/>
              </a:buClr>
              <a:buSzPts val="2000"/>
              <a:buFont typeface="Arial"/>
              <a:buChar char="•"/>
            </a:pPr>
            <a:r>
              <a:rPr lang="en-US" sz="2000"/>
              <a:t>Motivation</a:t>
            </a:r>
            <a:endParaRPr sz="2000"/>
          </a:p>
          <a:p>
            <a:pPr indent="-317500" lvl="0" marL="342900" rtl="0" algn="l">
              <a:lnSpc>
                <a:spcPct val="100000"/>
              </a:lnSpc>
              <a:spcBef>
                <a:spcPts val="480"/>
              </a:spcBef>
              <a:spcAft>
                <a:spcPts val="0"/>
              </a:spcAft>
              <a:buClr>
                <a:schemeClr val="dk1"/>
              </a:buClr>
              <a:buSzPts val="2000"/>
              <a:buFont typeface="Arial"/>
              <a:buChar char="•"/>
            </a:pPr>
            <a:r>
              <a:rPr lang="en-US" sz="2000"/>
              <a:t>Research Plan</a:t>
            </a:r>
            <a:endParaRPr sz="2000"/>
          </a:p>
          <a:p>
            <a:pPr indent="-317500" lvl="0" marL="342900" rtl="0" algn="l">
              <a:lnSpc>
                <a:spcPct val="100000"/>
              </a:lnSpc>
              <a:spcBef>
                <a:spcPts val="480"/>
              </a:spcBef>
              <a:spcAft>
                <a:spcPts val="0"/>
              </a:spcAft>
              <a:buClr>
                <a:schemeClr val="dk1"/>
              </a:buClr>
              <a:buSzPts val="2000"/>
              <a:buFont typeface="Arial"/>
              <a:buChar char="•"/>
            </a:pPr>
            <a:r>
              <a:rPr lang="en-US" sz="2000"/>
              <a:t>Data</a:t>
            </a:r>
            <a:br>
              <a:rPr lang="en-US" sz="2000"/>
            </a:br>
            <a:endParaRPr sz="2000"/>
          </a:p>
          <a:p>
            <a:pPr indent="-317500" lvl="0" marL="342900" rtl="0" algn="l">
              <a:lnSpc>
                <a:spcPct val="100000"/>
              </a:lnSpc>
              <a:spcBef>
                <a:spcPts val="480"/>
              </a:spcBef>
              <a:spcAft>
                <a:spcPts val="0"/>
              </a:spcAft>
              <a:buSzPts val="2000"/>
              <a:buChar char="•"/>
            </a:pPr>
            <a:r>
              <a:rPr lang="en-US" sz="2000"/>
              <a:t>Part 1 - Description:</a:t>
            </a:r>
            <a:endParaRPr sz="2000"/>
          </a:p>
          <a:p>
            <a:pPr indent="-214313" lvl="1" marL="557213" rtl="0" algn="l">
              <a:lnSpc>
                <a:spcPct val="100000"/>
              </a:lnSpc>
              <a:spcBef>
                <a:spcPts val="480"/>
              </a:spcBef>
              <a:spcAft>
                <a:spcPts val="0"/>
              </a:spcAft>
              <a:buClr>
                <a:schemeClr val="dk1"/>
              </a:buClr>
              <a:buSzPts val="2000"/>
              <a:buFont typeface="Arial"/>
              <a:buChar char="–"/>
            </a:pPr>
            <a:r>
              <a:rPr lang="en-US"/>
              <a:t>Whole S&amp;P500 description</a:t>
            </a:r>
            <a:endParaRPr/>
          </a:p>
          <a:p>
            <a:pPr indent="-214313" lvl="1" marL="557213" rtl="0" algn="l">
              <a:lnSpc>
                <a:spcPct val="100000"/>
              </a:lnSpc>
              <a:spcBef>
                <a:spcPts val="480"/>
              </a:spcBef>
              <a:spcAft>
                <a:spcPts val="0"/>
              </a:spcAft>
              <a:buSzPts val="2000"/>
              <a:buChar char="–"/>
            </a:pPr>
            <a:r>
              <a:rPr lang="en-US"/>
              <a:t>Tails description</a:t>
            </a:r>
            <a:endParaRPr/>
          </a:p>
          <a:p>
            <a:pPr indent="-214313" lvl="1" marL="557213" rtl="0" algn="l">
              <a:lnSpc>
                <a:spcPct val="100000"/>
              </a:lnSpc>
              <a:spcBef>
                <a:spcPts val="480"/>
              </a:spcBef>
              <a:spcAft>
                <a:spcPts val="0"/>
              </a:spcAft>
              <a:buSzPts val="2000"/>
              <a:buChar char="–"/>
            </a:pPr>
            <a:r>
              <a:rPr lang="en-US"/>
              <a:t>Time clustering</a:t>
            </a:r>
            <a:endParaRPr/>
          </a:p>
          <a:p>
            <a:pPr indent="-214313" lvl="1" marL="557213" rtl="0" algn="l">
              <a:lnSpc>
                <a:spcPct val="100000"/>
              </a:lnSpc>
              <a:spcBef>
                <a:spcPts val="480"/>
              </a:spcBef>
              <a:spcAft>
                <a:spcPts val="0"/>
              </a:spcAft>
              <a:buSzPts val="2000"/>
              <a:buChar char="–"/>
            </a:pPr>
            <a:r>
              <a:rPr lang="en-US"/>
              <a:t>Sector clustering</a:t>
            </a:r>
            <a:br>
              <a:rPr lang="en-US"/>
            </a:br>
            <a:endParaRPr/>
          </a:p>
          <a:p>
            <a:pPr indent="-317500" lvl="0" marL="342900" rtl="0" algn="l">
              <a:lnSpc>
                <a:spcPct val="100000"/>
              </a:lnSpc>
              <a:spcBef>
                <a:spcPts val="480"/>
              </a:spcBef>
              <a:spcAft>
                <a:spcPts val="0"/>
              </a:spcAft>
              <a:buSzPts val="2000"/>
              <a:buChar char="•"/>
            </a:pPr>
            <a:r>
              <a:rPr lang="en-US" sz="2000"/>
              <a:t>Part 2 - Modeling:</a:t>
            </a:r>
            <a:endParaRPr sz="2000"/>
          </a:p>
          <a:p>
            <a:pPr indent="-188913" lvl="1" marL="557213" rtl="0" algn="l">
              <a:lnSpc>
                <a:spcPct val="100000"/>
              </a:lnSpc>
              <a:spcBef>
                <a:spcPts val="480"/>
              </a:spcBef>
              <a:spcAft>
                <a:spcPts val="0"/>
              </a:spcAft>
              <a:buSzPts val="1600"/>
              <a:buChar char="–"/>
            </a:pPr>
            <a:r>
              <a:rPr lang="en-US" sz="1600"/>
              <a:t>CAPM</a:t>
            </a:r>
            <a:endParaRPr sz="1600"/>
          </a:p>
          <a:p>
            <a:pPr indent="-188913" lvl="1" marL="557213" rtl="0" algn="l">
              <a:lnSpc>
                <a:spcPct val="100000"/>
              </a:lnSpc>
              <a:spcBef>
                <a:spcPts val="480"/>
              </a:spcBef>
              <a:spcAft>
                <a:spcPts val="0"/>
              </a:spcAft>
              <a:buSzPts val="1600"/>
              <a:buChar char="–"/>
            </a:pPr>
            <a:r>
              <a:rPr lang="en-US" sz="1600"/>
              <a:t>Fama-French 3 factors</a:t>
            </a:r>
            <a:endParaRPr sz="1600"/>
          </a:p>
          <a:p>
            <a:pPr indent="-188913" lvl="1" marL="557213" rtl="0" algn="l">
              <a:lnSpc>
                <a:spcPct val="100000"/>
              </a:lnSpc>
              <a:spcBef>
                <a:spcPts val="480"/>
              </a:spcBef>
              <a:spcAft>
                <a:spcPts val="0"/>
              </a:spcAft>
              <a:buSzPts val="1600"/>
              <a:buChar char="–"/>
            </a:pPr>
            <a:r>
              <a:rPr lang="en-US" sz="1600"/>
              <a:t>Carhart’s</a:t>
            </a:r>
            <a:endParaRPr sz="1600"/>
          </a:p>
          <a:p>
            <a:pPr indent="-188913" lvl="1" marL="557213" rtl="0" algn="l">
              <a:lnSpc>
                <a:spcPct val="100000"/>
              </a:lnSpc>
              <a:spcBef>
                <a:spcPts val="480"/>
              </a:spcBef>
              <a:spcAft>
                <a:spcPts val="0"/>
              </a:spcAft>
              <a:buSzPts val="1600"/>
              <a:buChar char="–"/>
            </a:pPr>
            <a:r>
              <a:rPr lang="en-US" sz="1600"/>
              <a:t>Sentiment</a:t>
            </a:r>
            <a:br>
              <a:rPr lang="en-US" sz="1600"/>
            </a:br>
            <a:endParaRPr sz="1600"/>
          </a:p>
          <a:p>
            <a:pPr indent="-317500" lvl="0" marL="342900" rtl="0" algn="l">
              <a:lnSpc>
                <a:spcPct val="100000"/>
              </a:lnSpc>
              <a:spcBef>
                <a:spcPts val="480"/>
              </a:spcBef>
              <a:spcAft>
                <a:spcPts val="0"/>
              </a:spcAft>
              <a:buClr>
                <a:schemeClr val="dk1"/>
              </a:buClr>
              <a:buSzPts val="2000"/>
              <a:buFont typeface="Arial"/>
              <a:buChar char="•"/>
            </a:pPr>
            <a:r>
              <a:rPr lang="en-US" sz="2000"/>
              <a:t>Conclusion</a:t>
            </a:r>
            <a:endParaRPr sz="2000"/>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66" name="Google Shape;66;p2"/>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67" name="Google Shape;67;p2"/>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Motivation</a:t>
            </a:r>
            <a:endParaRPr/>
          </a:p>
        </p:txBody>
      </p:sp>
      <p:sp>
        <p:nvSpPr>
          <p:cNvPr id="74" name="Google Shape;74;p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On Fat-Tails</a:t>
            </a:r>
            <a:endParaRPr/>
          </a:p>
          <a:p>
            <a:pPr indent="-214313" lvl="1" marL="557213" rtl="0" algn="l">
              <a:lnSpc>
                <a:spcPct val="100000"/>
              </a:lnSpc>
              <a:spcBef>
                <a:spcPts val="400"/>
              </a:spcBef>
              <a:spcAft>
                <a:spcPts val="0"/>
              </a:spcAft>
              <a:buClr>
                <a:schemeClr val="dk1"/>
              </a:buClr>
              <a:buSzPts val="2000"/>
              <a:buChar char="–"/>
            </a:pPr>
            <a:r>
              <a:rPr lang="en-US"/>
              <a:t>Mention by Dr. Sikandar Siddiqui during CFDS lessons</a:t>
            </a:r>
            <a:endParaRPr/>
          </a:p>
          <a:p>
            <a:pPr indent="-214313" lvl="1" marL="557213" rtl="0" algn="l">
              <a:lnSpc>
                <a:spcPct val="100000"/>
              </a:lnSpc>
              <a:spcBef>
                <a:spcPts val="400"/>
              </a:spcBef>
              <a:spcAft>
                <a:spcPts val="0"/>
              </a:spcAft>
              <a:buClr>
                <a:schemeClr val="dk1"/>
              </a:buClr>
              <a:buSzPts val="2000"/>
              <a:buChar char="–"/>
            </a:pPr>
            <a:r>
              <a:rPr lang="en-US"/>
              <a:t>Personal IT Background going into finance</a:t>
            </a:r>
            <a:endParaRPr/>
          </a:p>
          <a:p>
            <a:pPr indent="-214313" lvl="1" marL="557213" rtl="0" algn="l">
              <a:lnSpc>
                <a:spcPct val="100000"/>
              </a:lnSpc>
              <a:spcBef>
                <a:spcPts val="400"/>
              </a:spcBef>
              <a:spcAft>
                <a:spcPts val="0"/>
              </a:spcAft>
              <a:buClr>
                <a:schemeClr val="dk1"/>
              </a:buClr>
              <a:buSzPts val="2000"/>
              <a:buChar char="–"/>
            </a:pPr>
            <a:r>
              <a:rPr lang="en-US"/>
              <a:t>Describing and finding explanatory models</a:t>
            </a:r>
            <a:endParaRPr/>
          </a:p>
          <a:p>
            <a:pPr indent="-171450" lvl="2" marL="857250" rtl="0" algn="l">
              <a:lnSpc>
                <a:spcPct val="100000"/>
              </a:lnSpc>
              <a:spcBef>
                <a:spcPts val="400"/>
              </a:spcBef>
              <a:spcAft>
                <a:spcPts val="0"/>
              </a:spcAft>
              <a:buSzPts val="1600"/>
              <a:buChar char="•"/>
            </a:pPr>
            <a:r>
              <a:rPr lang="en-US"/>
              <a:t>Reading </a:t>
            </a:r>
            <a:r>
              <a:rPr lang="en-US"/>
              <a:t>literature</a:t>
            </a:r>
            <a:r>
              <a:rPr lang="en-US"/>
              <a:t> on the subject</a:t>
            </a:r>
            <a:endParaRPr/>
          </a:p>
          <a:p>
            <a:pPr indent="-171450" lvl="2" marL="857250" rtl="0" algn="l">
              <a:lnSpc>
                <a:spcPct val="100000"/>
              </a:lnSpc>
              <a:spcBef>
                <a:spcPts val="400"/>
              </a:spcBef>
              <a:spcAft>
                <a:spcPts val="0"/>
              </a:spcAft>
              <a:buSzPts val="1600"/>
              <a:buChar char="•"/>
            </a:pPr>
            <a:r>
              <a:rPr lang="en-US"/>
              <a:t>Using the tools learned during CFDS course</a:t>
            </a:r>
            <a:endParaRPr/>
          </a:p>
          <a:p>
            <a:pPr indent="-171450" lvl="2" marL="857250" rtl="0" algn="l">
              <a:lnSpc>
                <a:spcPct val="100000"/>
              </a:lnSpc>
              <a:spcBef>
                <a:spcPts val="400"/>
              </a:spcBef>
              <a:spcAft>
                <a:spcPts val="0"/>
              </a:spcAft>
              <a:buSzPts val="1600"/>
              <a:buChar char="•"/>
            </a:pPr>
            <a:r>
              <a:rPr lang="en-US"/>
              <a:t>Initiation to existing financial models (CAPM, Fama-French,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rPr i="1" lang="en-US"/>
              <a:t>“</a:t>
            </a:r>
            <a:r>
              <a:rPr i="1" lang="en-US"/>
              <a:t>large changes tend to be followed by large changes, of either sign, and small changes tend to be followed by small changes.” - </a:t>
            </a:r>
            <a:r>
              <a:rPr b="1" lang="en-US" sz="1100">
                <a:latin typeface="Arial"/>
                <a:ea typeface="Arial"/>
                <a:cs typeface="Arial"/>
                <a:sym typeface="Arial"/>
              </a:rPr>
              <a:t>Benoit B. Mandelbrot, 1963</a:t>
            </a:r>
            <a:endParaRPr i="1"/>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75" name="Google Shape;75;p3"/>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76" name="Google Shape;76;p3"/>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d96c7f3a6c_0_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Research Plan</a:t>
            </a:r>
            <a:endParaRPr/>
          </a:p>
        </p:txBody>
      </p:sp>
      <p:sp>
        <p:nvSpPr>
          <p:cNvPr id="83" name="Google Shape;83;g3d96c7f3a6c_0_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First Part : Description and statistical testing </a:t>
            </a:r>
            <a:endParaRPr/>
          </a:p>
          <a:p>
            <a:pPr indent="-214313" lvl="1" marL="557213" rtl="0" algn="l">
              <a:lnSpc>
                <a:spcPct val="100000"/>
              </a:lnSpc>
              <a:spcBef>
                <a:spcPts val="400"/>
              </a:spcBef>
              <a:spcAft>
                <a:spcPts val="0"/>
              </a:spcAft>
              <a:buClr>
                <a:schemeClr val="dk1"/>
              </a:buClr>
              <a:buSzPts val="2000"/>
              <a:buChar char="–"/>
            </a:pPr>
            <a:r>
              <a:rPr lang="en-US"/>
              <a:t>Do we observe fat tails which would not exist under normal assumptions ? </a:t>
            </a:r>
            <a:br>
              <a:rPr lang="en-US"/>
            </a:br>
            <a:r>
              <a:rPr i="1" lang="en-US"/>
              <a:t>Arithmetic vs. Log, Skewness, Kutorsis, JB and visualization</a:t>
            </a:r>
            <a:endParaRPr i="1"/>
          </a:p>
          <a:p>
            <a:pPr indent="-214313" lvl="1" marL="557213" rtl="0" algn="l">
              <a:lnSpc>
                <a:spcPct val="100000"/>
              </a:lnSpc>
              <a:spcBef>
                <a:spcPts val="400"/>
              </a:spcBef>
              <a:spcAft>
                <a:spcPts val="0"/>
              </a:spcAft>
              <a:buClr>
                <a:schemeClr val="dk1"/>
              </a:buClr>
              <a:buSzPts val="2000"/>
              <a:buChar char="–"/>
            </a:pPr>
            <a:r>
              <a:rPr lang="en-US"/>
              <a:t>What do these tails look like? Are they symmetrical? </a:t>
            </a:r>
            <a:br>
              <a:rPr lang="en-US"/>
            </a:br>
            <a:r>
              <a:rPr i="1" lang="en-US"/>
              <a:t>99.9th percentile, clustering, t-test, f-test and visualization</a:t>
            </a:r>
            <a:endParaRPr i="1"/>
          </a:p>
          <a:p>
            <a:pPr indent="-87313" lvl="1" marL="557213" rtl="0" algn="l">
              <a:lnSpc>
                <a:spcPct val="100000"/>
              </a:lnSpc>
              <a:spcBef>
                <a:spcPts val="400"/>
              </a:spcBef>
              <a:spcAft>
                <a:spcPts val="0"/>
              </a:spcAft>
              <a:buClr>
                <a:schemeClr val="dk1"/>
              </a:buClr>
              <a:buSzPts val="2000"/>
              <a:buNone/>
            </a:pPr>
            <a:r>
              <a:t/>
            </a:r>
            <a:endParaRPr/>
          </a:p>
          <a:p>
            <a:pPr indent="-342900" lvl="0" marL="342900" rtl="0" algn="l">
              <a:lnSpc>
                <a:spcPct val="100000"/>
              </a:lnSpc>
              <a:spcBef>
                <a:spcPts val="480"/>
              </a:spcBef>
              <a:spcAft>
                <a:spcPts val="0"/>
              </a:spcAft>
              <a:buClr>
                <a:schemeClr val="dk1"/>
              </a:buClr>
              <a:buSzPts val="2400"/>
              <a:buFont typeface="Arial"/>
              <a:buChar char="•"/>
            </a:pPr>
            <a:r>
              <a:rPr lang="en-US"/>
              <a:t>Second Part : Model and explanatory power</a:t>
            </a:r>
            <a:endParaRPr/>
          </a:p>
          <a:p>
            <a:pPr indent="-214313" lvl="1" marL="557213" rtl="0" algn="l">
              <a:spcBef>
                <a:spcPts val="0"/>
              </a:spcBef>
              <a:spcAft>
                <a:spcPts val="0"/>
              </a:spcAft>
              <a:buSzPts val="2000"/>
              <a:buChar char="–"/>
            </a:pPr>
            <a:r>
              <a:rPr lang="en-US" sz="2400"/>
              <a:t>Do factor models explain extreme returns as well as they explain the full distribution?</a:t>
            </a:r>
            <a:br>
              <a:rPr lang="en-US" sz="2400"/>
            </a:br>
            <a:r>
              <a:rPr i="1" lang="en-US"/>
              <a:t>CAPM, Fama-French Three factors model, Carhart’s Momentum, Sentiment</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84" name="Google Shape;84;g3d96c7f3a6c_0_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85" name="Google Shape;85;g3d96c7f3a6c_0_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d96c7f3a6c_0_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Data</a:t>
            </a:r>
            <a:endParaRPr/>
          </a:p>
        </p:txBody>
      </p:sp>
      <p:sp>
        <p:nvSpPr>
          <p:cNvPr id="92" name="Google Shape;92;g3d96c7f3a6c_0_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S&amp;P500 stock list from wikipedia</a:t>
            </a:r>
            <a:endParaRPr/>
          </a:p>
          <a:p>
            <a:pPr indent="-342900" lvl="0" marL="342900" rtl="0" algn="l">
              <a:lnSpc>
                <a:spcPct val="100000"/>
              </a:lnSpc>
              <a:spcBef>
                <a:spcPts val="0"/>
              </a:spcBef>
              <a:spcAft>
                <a:spcPts val="0"/>
              </a:spcAft>
              <a:buClr>
                <a:schemeClr val="dk1"/>
              </a:buClr>
              <a:buSzPts val="2400"/>
              <a:buFont typeface="Arial"/>
              <a:buChar char="•"/>
            </a:pPr>
            <a:r>
              <a:rPr lang="en-US"/>
              <a:t>Daily stock prices from 01.01.2010 to 01.05.2026</a:t>
            </a:r>
            <a:endParaRPr/>
          </a:p>
          <a:p>
            <a:pPr indent="-342900" lvl="0" marL="342900" rtl="0" algn="l">
              <a:lnSpc>
                <a:spcPct val="100000"/>
              </a:lnSpc>
              <a:spcBef>
                <a:spcPts val="0"/>
              </a:spcBef>
              <a:spcAft>
                <a:spcPts val="0"/>
              </a:spcAft>
              <a:buSzPts val="2400"/>
              <a:buChar char="•"/>
            </a:pPr>
            <a:r>
              <a:rPr lang="en-US"/>
              <a:t>yFinance api (data from yahoo finance website)</a:t>
            </a:r>
            <a:endParaRPr/>
          </a:p>
          <a:p>
            <a:pPr indent="-342900" lvl="0" marL="342900" rtl="0" algn="l">
              <a:lnSpc>
                <a:spcPct val="100000"/>
              </a:lnSpc>
              <a:spcBef>
                <a:spcPts val="0"/>
              </a:spcBef>
              <a:spcAft>
                <a:spcPts val="0"/>
              </a:spcAft>
              <a:buSzPts val="2400"/>
              <a:buChar char="•"/>
            </a:pPr>
            <a:r>
              <a:rPr lang="en-US"/>
              <a:t>Risk free rate, T-Bill 3 month from FRED’s website</a:t>
            </a:r>
            <a:endParaRPr/>
          </a:p>
          <a:p>
            <a:pPr indent="-342900" lvl="0" marL="342900" rtl="0" algn="l">
              <a:lnSpc>
                <a:spcPct val="100000"/>
              </a:lnSpc>
              <a:spcBef>
                <a:spcPts val="0"/>
              </a:spcBef>
              <a:spcAft>
                <a:spcPts val="0"/>
              </a:spcAft>
              <a:buSzPts val="2400"/>
              <a:buChar char="•"/>
            </a:pPr>
            <a:r>
              <a:rPr lang="en-US"/>
              <a:t>Fama-French dataset from panda_datareader library</a:t>
            </a:r>
            <a:endParaRPr/>
          </a:p>
          <a:p>
            <a:pPr indent="-342900" lvl="0" marL="342900" rtl="0" algn="l">
              <a:lnSpc>
                <a:spcPct val="100000"/>
              </a:lnSpc>
              <a:spcBef>
                <a:spcPts val="0"/>
              </a:spcBef>
              <a:spcAft>
                <a:spcPts val="0"/>
              </a:spcAft>
              <a:buSzPts val="2400"/>
              <a:buChar char="•"/>
            </a:pPr>
            <a:r>
              <a:rPr lang="en-US"/>
              <a:t>News headlines from kaggle (see link in sentiment analysis part)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93" name="Google Shape;93;g3d96c7f3a6c_0_9"/>
          <p:cNvSpPr txBox="1"/>
          <p:nvPr>
            <p:ph idx="11" type="ftr"/>
          </p:nvPr>
        </p:nvSpPr>
        <p:spPr>
          <a:xfrm>
            <a:off x="484024" y="666845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94" name="Google Shape;94;g3d96c7f3a6c_0_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5" name="Google Shape;95;g3d96c7f3a6c_0_9"/>
          <p:cNvPicPr preferRelativeResize="0"/>
          <p:nvPr/>
        </p:nvPicPr>
        <p:blipFill>
          <a:blip r:embed="rId3">
            <a:alphaModFix/>
          </a:blip>
          <a:stretch>
            <a:fillRect/>
          </a:stretch>
        </p:blipFill>
        <p:spPr>
          <a:xfrm>
            <a:off x="-787" y="4224925"/>
            <a:ext cx="12193577" cy="1960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d96c7f3a6c_0_7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description</a:t>
            </a:r>
            <a:endParaRPr/>
          </a:p>
        </p:txBody>
      </p:sp>
      <p:sp>
        <p:nvSpPr>
          <p:cNvPr id="102" name="Google Shape;102;g3d96c7f3a6c_0_79"/>
          <p:cNvSpPr txBox="1"/>
          <p:nvPr>
            <p:ph idx="1" type="body"/>
          </p:nvPr>
        </p:nvSpPr>
        <p:spPr>
          <a:xfrm>
            <a:off x="589075" y="940600"/>
            <a:ext cx="5445600" cy="52377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None/>
            </a:pPr>
            <a:r>
              <a:rPr lang="en-US"/>
              <a:t>Arithmetic</a:t>
            </a:r>
            <a:r>
              <a:rPr lang="en-US"/>
              <a:t>-Returns stats table:</a:t>
            </a:r>
            <a:br>
              <a:rPr lang="en-US"/>
            </a:br>
            <a:endParaRPr/>
          </a:p>
          <a:p>
            <a:pPr indent="0" lvl="0" marL="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03" name="Google Shape;103;g3d96c7f3a6c_0_7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04" name="Google Shape;104;g3d96c7f3a6c_0_7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5" name="Google Shape;105;g3d96c7f3a6c_0_79"/>
          <p:cNvPicPr preferRelativeResize="0"/>
          <p:nvPr/>
        </p:nvPicPr>
        <p:blipFill>
          <a:blip r:embed="rId3">
            <a:alphaModFix/>
          </a:blip>
          <a:stretch>
            <a:fillRect/>
          </a:stretch>
        </p:blipFill>
        <p:spPr>
          <a:xfrm>
            <a:off x="1237375" y="1372038"/>
            <a:ext cx="3660350" cy="4374825"/>
          </a:xfrm>
          <a:prstGeom prst="rect">
            <a:avLst/>
          </a:prstGeom>
          <a:noFill/>
          <a:ln>
            <a:noFill/>
          </a:ln>
        </p:spPr>
      </p:pic>
      <p:cxnSp>
        <p:nvCxnSpPr>
          <p:cNvPr id="106" name="Google Shape;106;g3d96c7f3a6c_0_79"/>
          <p:cNvCxnSpPr/>
          <p:nvPr/>
        </p:nvCxnSpPr>
        <p:spPr>
          <a:xfrm>
            <a:off x="6108900" y="940600"/>
            <a:ext cx="16500" cy="5024700"/>
          </a:xfrm>
          <a:prstGeom prst="straightConnector1">
            <a:avLst/>
          </a:prstGeom>
          <a:noFill/>
          <a:ln cap="flat" cmpd="sng" w="38100">
            <a:solidFill>
              <a:schemeClr val="dk2"/>
            </a:solidFill>
            <a:prstDash val="solid"/>
            <a:round/>
            <a:headEnd len="med" w="med" type="none"/>
            <a:tailEnd len="med" w="med" type="none"/>
          </a:ln>
        </p:spPr>
      </p:cxnSp>
      <p:sp>
        <p:nvSpPr>
          <p:cNvPr id="107" name="Google Shape;107;g3d96c7f3a6c_0_79"/>
          <p:cNvSpPr txBox="1"/>
          <p:nvPr/>
        </p:nvSpPr>
        <p:spPr>
          <a:xfrm>
            <a:off x="6698150" y="834100"/>
            <a:ext cx="4910400" cy="5237700"/>
          </a:xfrm>
          <a:prstGeom prst="rect">
            <a:avLst/>
          </a:prstGeom>
          <a:noFill/>
          <a:ln>
            <a:noFill/>
          </a:ln>
        </p:spPr>
        <p:txBody>
          <a:bodyPr anchorCtr="0" anchor="t" bIns="91425" lIns="91425" spcFirstLastPara="1" rIns="91425" wrap="square" tIns="91425">
            <a:no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Log-Returns stats table:</a:t>
            </a:r>
            <a:endParaRPr/>
          </a:p>
        </p:txBody>
      </p:sp>
      <p:pic>
        <p:nvPicPr>
          <p:cNvPr id="108" name="Google Shape;108;g3d96c7f3a6c_0_79"/>
          <p:cNvPicPr preferRelativeResize="0"/>
          <p:nvPr/>
        </p:nvPicPr>
        <p:blipFill>
          <a:blip r:embed="rId4">
            <a:alphaModFix/>
          </a:blip>
          <a:stretch>
            <a:fillRect/>
          </a:stretch>
        </p:blipFill>
        <p:spPr>
          <a:xfrm>
            <a:off x="7076950" y="1372038"/>
            <a:ext cx="3660350" cy="4374825"/>
          </a:xfrm>
          <a:prstGeom prst="rect">
            <a:avLst/>
          </a:prstGeom>
          <a:noFill/>
          <a:ln>
            <a:noFill/>
          </a:ln>
        </p:spPr>
      </p:pic>
      <p:sp>
        <p:nvSpPr>
          <p:cNvPr id="109" name="Google Shape;109;g3d96c7f3a6c_0_79"/>
          <p:cNvSpPr/>
          <p:nvPr/>
        </p:nvSpPr>
        <p:spPr>
          <a:xfrm>
            <a:off x="4995875" y="2394138"/>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g3d96c7f3a6c_0_79"/>
          <p:cNvSpPr/>
          <p:nvPr/>
        </p:nvSpPr>
        <p:spPr>
          <a:xfrm>
            <a:off x="4995875" y="4435463"/>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g3d96c7f3a6c_0_79"/>
          <p:cNvSpPr/>
          <p:nvPr/>
        </p:nvSpPr>
        <p:spPr>
          <a:xfrm>
            <a:off x="10865650" y="2394138"/>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g3d96c7f3a6c_0_79"/>
          <p:cNvSpPr/>
          <p:nvPr/>
        </p:nvSpPr>
        <p:spPr>
          <a:xfrm>
            <a:off x="10865650" y="4433163"/>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g3d96c7f3a6c_0_79"/>
          <p:cNvSpPr/>
          <p:nvPr/>
        </p:nvSpPr>
        <p:spPr>
          <a:xfrm>
            <a:off x="4995875" y="4779863"/>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g3d96c7f3a6c_0_79"/>
          <p:cNvSpPr/>
          <p:nvPr/>
        </p:nvSpPr>
        <p:spPr>
          <a:xfrm>
            <a:off x="10865650" y="4779863"/>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g3d96c7f3a6c_0_79"/>
          <p:cNvSpPr txBox="1"/>
          <p:nvPr/>
        </p:nvSpPr>
        <p:spPr>
          <a:xfrm>
            <a:off x="118400" y="6071800"/>
            <a:ext cx="119157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US" sz="1700">
                <a:solidFill>
                  <a:srgbClr val="FF0000"/>
                </a:solidFill>
                <a:latin typeface="Calibri"/>
                <a:ea typeface="Calibri"/>
                <a:cs typeface="Calibri"/>
                <a:sym typeface="Calibri"/>
              </a:rPr>
              <a:t>The log return definition, compared to the arithmetic one, flattens extreme positive returns and increase extreme negative returns</a:t>
            </a:r>
            <a:endParaRPr b="1" sz="190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d96c7f3a6c_0_3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22" name="Google Shape;122;g3d96c7f3a6c_0_3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23" name="Google Shape;123;g3d96c7f3a6c_0_3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4" name="Google Shape;124;g3d96c7f3a6c_0_39"/>
          <p:cNvPicPr preferRelativeResize="0"/>
          <p:nvPr/>
        </p:nvPicPr>
        <p:blipFill>
          <a:blip r:embed="rId3">
            <a:alphaModFix/>
          </a:blip>
          <a:stretch>
            <a:fillRect/>
          </a:stretch>
        </p:blipFill>
        <p:spPr>
          <a:xfrm>
            <a:off x="0" y="1231600"/>
            <a:ext cx="6026774" cy="4853425"/>
          </a:xfrm>
          <a:prstGeom prst="rect">
            <a:avLst/>
          </a:prstGeom>
          <a:noFill/>
          <a:ln>
            <a:noFill/>
          </a:ln>
        </p:spPr>
      </p:pic>
      <p:pic>
        <p:nvPicPr>
          <p:cNvPr id="125" name="Google Shape;125;g3d96c7f3a6c_0_39"/>
          <p:cNvPicPr preferRelativeResize="0"/>
          <p:nvPr/>
        </p:nvPicPr>
        <p:blipFill>
          <a:blip r:embed="rId4">
            <a:alphaModFix/>
          </a:blip>
          <a:stretch>
            <a:fillRect/>
          </a:stretch>
        </p:blipFill>
        <p:spPr>
          <a:xfrm>
            <a:off x="6165599" y="1319949"/>
            <a:ext cx="5965977" cy="467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d96c7f3a6c_0_4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32" name="Google Shape;132;g3d96c7f3a6c_0_4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33" name="Google Shape;133;g3d96c7f3a6c_0_4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4" name="Google Shape;134;g3d96c7f3a6c_0_49"/>
          <p:cNvPicPr preferRelativeResize="0"/>
          <p:nvPr/>
        </p:nvPicPr>
        <p:blipFill>
          <a:blip r:embed="rId3">
            <a:alphaModFix/>
          </a:blip>
          <a:stretch>
            <a:fillRect/>
          </a:stretch>
        </p:blipFill>
        <p:spPr>
          <a:xfrm>
            <a:off x="5825000" y="1060251"/>
            <a:ext cx="6257375" cy="5039125"/>
          </a:xfrm>
          <a:prstGeom prst="rect">
            <a:avLst/>
          </a:prstGeom>
          <a:noFill/>
          <a:ln>
            <a:noFill/>
          </a:ln>
        </p:spPr>
      </p:pic>
      <p:pic>
        <p:nvPicPr>
          <p:cNvPr id="135" name="Google Shape;135;g3d96c7f3a6c_0_49"/>
          <p:cNvPicPr preferRelativeResize="0"/>
          <p:nvPr/>
        </p:nvPicPr>
        <p:blipFill>
          <a:blip r:embed="rId4">
            <a:alphaModFix/>
          </a:blip>
          <a:stretch>
            <a:fillRect/>
          </a:stretch>
        </p:blipFill>
        <p:spPr>
          <a:xfrm>
            <a:off x="245975" y="1412882"/>
            <a:ext cx="5467350" cy="4333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d96c7f3a6c_0_6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42" name="Google Shape;142;g3d96c7f3a6c_0_6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43" name="Google Shape;143;g3d96c7f3a6c_0_6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4" name="Google Shape;144;g3d96c7f3a6c_0_60"/>
          <p:cNvPicPr preferRelativeResize="0"/>
          <p:nvPr/>
        </p:nvPicPr>
        <p:blipFill>
          <a:blip r:embed="rId3">
            <a:alphaModFix/>
          </a:blip>
          <a:stretch>
            <a:fillRect/>
          </a:stretch>
        </p:blipFill>
        <p:spPr>
          <a:xfrm>
            <a:off x="1168575" y="791450"/>
            <a:ext cx="10304727" cy="5733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d96c7f3a6c_0_9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51" name="Google Shape;151;g3d96c7f3a6c_0_9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52" name="Google Shape;152;g3d96c7f3a6c_0_9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3" name="Google Shape;153;g3d96c7f3a6c_0_97"/>
          <p:cNvPicPr preferRelativeResize="0"/>
          <p:nvPr/>
        </p:nvPicPr>
        <p:blipFill>
          <a:blip r:embed="rId3">
            <a:alphaModFix/>
          </a:blip>
          <a:stretch>
            <a:fillRect/>
          </a:stretch>
        </p:blipFill>
        <p:spPr>
          <a:xfrm>
            <a:off x="0" y="2086400"/>
            <a:ext cx="12193577" cy="2685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d96c7f3a6c_0_8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60" name="Google Shape;160;g3d96c7f3a6c_0_8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61" name="Google Shape;161;g3d96c7f3a6c_0_8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2" name="Google Shape;162;g3d96c7f3a6c_0_87"/>
          <p:cNvPicPr preferRelativeResize="0"/>
          <p:nvPr/>
        </p:nvPicPr>
        <p:blipFill>
          <a:blip r:embed="rId3">
            <a:alphaModFix/>
          </a:blip>
          <a:stretch>
            <a:fillRect/>
          </a:stretch>
        </p:blipFill>
        <p:spPr>
          <a:xfrm>
            <a:off x="136148" y="1138751"/>
            <a:ext cx="5886190" cy="4580488"/>
          </a:xfrm>
          <a:prstGeom prst="rect">
            <a:avLst/>
          </a:prstGeom>
          <a:noFill/>
          <a:ln>
            <a:noFill/>
          </a:ln>
        </p:spPr>
      </p:pic>
      <p:pic>
        <p:nvPicPr>
          <p:cNvPr id="163" name="Google Shape;163;g3d96c7f3a6c_0_87"/>
          <p:cNvPicPr preferRelativeResize="0"/>
          <p:nvPr/>
        </p:nvPicPr>
        <p:blipFill>
          <a:blip r:embed="rId4">
            <a:alphaModFix/>
          </a:blip>
          <a:stretch>
            <a:fillRect/>
          </a:stretch>
        </p:blipFill>
        <p:spPr>
          <a:xfrm>
            <a:off x="6169663" y="1138749"/>
            <a:ext cx="5886200" cy="4580496"/>
          </a:xfrm>
          <a:prstGeom prst="rect">
            <a:avLst/>
          </a:prstGeom>
          <a:noFill/>
          <a:ln>
            <a:noFill/>
          </a:ln>
        </p:spPr>
      </p:pic>
      <p:sp>
        <p:nvSpPr>
          <p:cNvPr id="164" name="Google Shape;164;g3d96c7f3a6c_0_87"/>
          <p:cNvSpPr txBox="1"/>
          <p:nvPr/>
        </p:nvSpPr>
        <p:spPr>
          <a:xfrm>
            <a:off x="2080201" y="6017425"/>
            <a:ext cx="8031600" cy="34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FF0000"/>
                </a:solidFill>
                <a:latin typeface="Calibri"/>
                <a:ea typeface="Calibri"/>
                <a:cs typeface="Calibri"/>
                <a:sym typeface="Calibri"/>
              </a:rPr>
              <a:t>Again, we see the differences between return definitions in the extreme values.</a:t>
            </a:r>
            <a:endParaRPr b="1" sz="19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db971e7cb6_0_10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description</a:t>
            </a:r>
            <a:endParaRPr/>
          </a:p>
        </p:txBody>
      </p:sp>
      <p:sp>
        <p:nvSpPr>
          <p:cNvPr id="171" name="Google Shape;171;g3db971e7cb6_0_107"/>
          <p:cNvSpPr txBox="1"/>
          <p:nvPr>
            <p:ph idx="1" type="body"/>
          </p:nvPr>
        </p:nvSpPr>
        <p:spPr>
          <a:xfrm>
            <a:off x="696925" y="998025"/>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the two top 0.1% have the same statistical </a:t>
            </a:r>
            <a:r>
              <a:rPr lang="en-US"/>
              <a:t>resemblance?</a:t>
            </a:r>
            <a:br>
              <a:rPr lang="en-US"/>
            </a:br>
            <a:r>
              <a:rPr lang="en-US"/>
              <a:t>Check both return definition, arithmetic_return (left), log_return (right)</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72" name="Google Shape;172;g3db971e7cb6_0_10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73" name="Google Shape;173;g3db971e7cb6_0_10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4" name="Google Shape;174;g3db971e7cb6_0_107"/>
          <p:cNvPicPr preferRelativeResize="0"/>
          <p:nvPr/>
        </p:nvPicPr>
        <p:blipFill>
          <a:blip r:embed="rId3">
            <a:alphaModFix/>
          </a:blip>
          <a:stretch>
            <a:fillRect/>
          </a:stretch>
        </p:blipFill>
        <p:spPr>
          <a:xfrm>
            <a:off x="1067725" y="1902800"/>
            <a:ext cx="3721618" cy="3811500"/>
          </a:xfrm>
          <a:prstGeom prst="rect">
            <a:avLst/>
          </a:prstGeom>
          <a:noFill/>
          <a:ln>
            <a:noFill/>
          </a:ln>
        </p:spPr>
      </p:pic>
      <p:pic>
        <p:nvPicPr>
          <p:cNvPr id="175" name="Google Shape;175;g3db971e7cb6_0_107"/>
          <p:cNvPicPr preferRelativeResize="0"/>
          <p:nvPr/>
        </p:nvPicPr>
        <p:blipFill>
          <a:blip r:embed="rId4">
            <a:alphaModFix/>
          </a:blip>
          <a:stretch>
            <a:fillRect/>
          </a:stretch>
        </p:blipFill>
        <p:spPr>
          <a:xfrm>
            <a:off x="6049057" y="1902811"/>
            <a:ext cx="3721618" cy="3811478"/>
          </a:xfrm>
          <a:prstGeom prst="rect">
            <a:avLst/>
          </a:prstGeom>
          <a:noFill/>
          <a:ln>
            <a:noFill/>
          </a:ln>
        </p:spPr>
      </p:pic>
      <p:sp>
        <p:nvSpPr>
          <p:cNvPr id="176" name="Google Shape;176;g3db971e7cb6_0_107"/>
          <p:cNvSpPr/>
          <p:nvPr/>
        </p:nvSpPr>
        <p:spPr>
          <a:xfrm>
            <a:off x="920400" y="1824425"/>
            <a:ext cx="4206600" cy="9327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g3db971e7cb6_0_107"/>
          <p:cNvSpPr txBox="1"/>
          <p:nvPr/>
        </p:nvSpPr>
        <p:spPr>
          <a:xfrm>
            <a:off x="920400" y="5914850"/>
            <a:ext cx="9837000" cy="5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FF0000"/>
                </a:solidFill>
                <a:latin typeface="Calibri"/>
                <a:ea typeface="Calibri"/>
                <a:cs typeface="Calibri"/>
                <a:sym typeface="Calibri"/>
              </a:rPr>
              <a:t>More extreme negative events. </a:t>
            </a:r>
            <a:br>
              <a:rPr b="1" lang="en-US" sz="1700">
                <a:solidFill>
                  <a:srgbClr val="FF0000"/>
                </a:solidFill>
                <a:latin typeface="Calibri"/>
                <a:ea typeface="Calibri"/>
                <a:cs typeface="Calibri"/>
                <a:sym typeface="Calibri"/>
              </a:rPr>
            </a:br>
            <a:r>
              <a:rPr b="1" lang="en-US" sz="1700">
                <a:solidFill>
                  <a:srgbClr val="FF0000"/>
                </a:solidFill>
                <a:latin typeface="Calibri"/>
                <a:ea typeface="Calibri"/>
                <a:cs typeface="Calibri"/>
                <a:sym typeface="Calibri"/>
              </a:rPr>
              <a:t>H0 rejected for equal means and variances between positive and negative extreme distributions</a:t>
            </a:r>
            <a:endParaRPr b="1" sz="190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d96c7f3a6c_0_7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time clustering</a:t>
            </a:r>
            <a:endParaRPr/>
          </a:p>
        </p:txBody>
      </p:sp>
      <p:sp>
        <p:nvSpPr>
          <p:cNvPr id="184" name="Google Shape;184;g3d96c7f3a6c_0_7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Top 0.1% daily returns clustered by years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85" name="Google Shape;185;g3d96c7f3a6c_0_7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86" name="Google Shape;186;g3d96c7f3a6c_0_7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7" name="Google Shape;187;g3d96c7f3a6c_0_70"/>
          <p:cNvPicPr preferRelativeResize="0"/>
          <p:nvPr/>
        </p:nvPicPr>
        <p:blipFill>
          <a:blip r:embed="rId3">
            <a:alphaModFix/>
          </a:blip>
          <a:stretch>
            <a:fillRect/>
          </a:stretch>
        </p:blipFill>
        <p:spPr>
          <a:xfrm>
            <a:off x="5372875" y="1898325"/>
            <a:ext cx="1447800" cy="3943350"/>
          </a:xfrm>
          <a:prstGeom prst="rect">
            <a:avLst/>
          </a:prstGeom>
          <a:noFill/>
          <a:ln>
            <a:noFill/>
          </a:ln>
        </p:spPr>
      </p:pic>
      <p:sp>
        <p:nvSpPr>
          <p:cNvPr id="188" name="Google Shape;188;g3d96c7f3a6c_0_70"/>
          <p:cNvSpPr/>
          <p:nvPr/>
        </p:nvSpPr>
        <p:spPr>
          <a:xfrm>
            <a:off x="6906450" y="4260038"/>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g3d96c7f3a6c_0_70"/>
          <p:cNvSpPr/>
          <p:nvPr/>
        </p:nvSpPr>
        <p:spPr>
          <a:xfrm>
            <a:off x="6906450" y="5329013"/>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db971e7cb6_0_64"/>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time clustering</a:t>
            </a:r>
            <a:endParaRPr/>
          </a:p>
        </p:txBody>
      </p:sp>
      <p:sp>
        <p:nvSpPr>
          <p:cNvPr id="196" name="Google Shape;196;g3db971e7cb6_0_64"/>
          <p:cNvSpPr txBox="1"/>
          <p:nvPr>
            <p:ph idx="1" type="body"/>
          </p:nvPr>
        </p:nvSpPr>
        <p:spPr>
          <a:xfrm>
            <a:off x="720188" y="102265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years were good / bad for the top 0.1%?</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97" name="Google Shape;197;g3db971e7cb6_0_64"/>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98" name="Google Shape;198;g3db971e7cb6_0_64"/>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9" name="Google Shape;199;g3db971e7cb6_0_64"/>
          <p:cNvPicPr preferRelativeResize="0"/>
          <p:nvPr/>
        </p:nvPicPr>
        <p:blipFill>
          <a:blip r:embed="rId3">
            <a:alphaModFix/>
          </a:blip>
          <a:stretch>
            <a:fillRect/>
          </a:stretch>
        </p:blipFill>
        <p:spPr>
          <a:xfrm>
            <a:off x="1048125" y="1411200"/>
            <a:ext cx="8884550" cy="4692300"/>
          </a:xfrm>
          <a:prstGeom prst="rect">
            <a:avLst/>
          </a:prstGeom>
          <a:noFill/>
          <a:ln>
            <a:noFill/>
          </a:ln>
        </p:spPr>
      </p:pic>
      <p:sp>
        <p:nvSpPr>
          <p:cNvPr id="200" name="Google Shape;200;g3db971e7cb6_0_64"/>
          <p:cNvSpPr txBox="1"/>
          <p:nvPr/>
        </p:nvSpPr>
        <p:spPr>
          <a:xfrm>
            <a:off x="944200" y="6111750"/>
            <a:ext cx="9837000" cy="5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US" sz="1700">
                <a:solidFill>
                  <a:srgbClr val="FF0000"/>
                </a:solidFill>
                <a:latin typeface="Calibri"/>
                <a:ea typeface="Calibri"/>
                <a:cs typeface="Calibri"/>
                <a:sym typeface="Calibri"/>
              </a:rPr>
              <a:t>Most years have more negative events. Most years have a negative mean and median log return.</a:t>
            </a:r>
            <a:endParaRPr b="1" sz="190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db971e7cb6_0_8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time clustering</a:t>
            </a:r>
            <a:endParaRPr/>
          </a:p>
        </p:txBody>
      </p:sp>
      <p:sp>
        <p:nvSpPr>
          <p:cNvPr id="207" name="Google Shape;207;g3db971e7cb6_0_8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08" name="Google Shape;208;g3db971e7cb6_0_8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09" name="Google Shape;209;g3db971e7cb6_0_8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0" name="Google Shape;210;g3db971e7cb6_0_87"/>
          <p:cNvPicPr preferRelativeResize="0"/>
          <p:nvPr/>
        </p:nvPicPr>
        <p:blipFill>
          <a:blip r:embed="rId3">
            <a:alphaModFix/>
          </a:blip>
          <a:stretch>
            <a:fillRect/>
          </a:stretch>
        </p:blipFill>
        <p:spPr>
          <a:xfrm>
            <a:off x="6096000" y="2318975"/>
            <a:ext cx="5764977" cy="3916950"/>
          </a:xfrm>
          <a:prstGeom prst="rect">
            <a:avLst/>
          </a:prstGeom>
          <a:noFill/>
          <a:ln>
            <a:noFill/>
          </a:ln>
        </p:spPr>
      </p:pic>
      <p:pic>
        <p:nvPicPr>
          <p:cNvPr id="211" name="Google Shape;211;g3db971e7cb6_0_87"/>
          <p:cNvPicPr preferRelativeResize="0"/>
          <p:nvPr/>
        </p:nvPicPr>
        <p:blipFill>
          <a:blip r:embed="rId4">
            <a:alphaModFix/>
          </a:blip>
          <a:stretch>
            <a:fillRect/>
          </a:stretch>
        </p:blipFill>
        <p:spPr>
          <a:xfrm>
            <a:off x="0" y="2318975"/>
            <a:ext cx="6095999" cy="3916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9a84e3b28a_0_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time clustering</a:t>
            </a:r>
            <a:endParaRPr/>
          </a:p>
        </p:txBody>
      </p:sp>
      <p:sp>
        <p:nvSpPr>
          <p:cNvPr id="218" name="Google Shape;218;g39a84e3b28a_0_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19" name="Google Shape;219;g39a84e3b28a_0_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20" name="Google Shape;220;g39a84e3b28a_0_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1" name="Google Shape;221;g39a84e3b28a_0_0"/>
          <p:cNvPicPr preferRelativeResize="0"/>
          <p:nvPr/>
        </p:nvPicPr>
        <p:blipFill>
          <a:blip r:embed="rId3">
            <a:alphaModFix/>
          </a:blip>
          <a:stretch>
            <a:fillRect/>
          </a:stretch>
        </p:blipFill>
        <p:spPr>
          <a:xfrm>
            <a:off x="1187463" y="1784000"/>
            <a:ext cx="9817074" cy="4871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db971e7cb6_0_12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time clustering</a:t>
            </a:r>
            <a:endParaRPr/>
          </a:p>
        </p:txBody>
      </p:sp>
      <p:sp>
        <p:nvSpPr>
          <p:cNvPr id="228" name="Google Shape;228;g3db971e7cb6_0_12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the top 0.1% mean across years are statistically different within each positive extreme and negative extreme? arithmetic_return (left), log_return (right)</a:t>
            </a:r>
            <a:endParaRPr/>
          </a:p>
          <a:p>
            <a:pPr indent="457200" lvl="0" marL="0" rtl="0" algn="l">
              <a:lnSpc>
                <a:spcPct val="100000"/>
              </a:lnSpc>
              <a:spcBef>
                <a:spcPts val="400"/>
              </a:spcBef>
              <a:spcAft>
                <a:spcPts val="0"/>
              </a:spcAft>
              <a:buNone/>
            </a:pPr>
            <a:r>
              <a:rPr i="1" lang="en-US" sz="1800"/>
              <a:t>Less impact of return definition because we are comparing positive / positive and negative / negative.</a:t>
            </a:r>
            <a:br>
              <a:rPr i="1" lang="en-US" sz="1800"/>
            </a:br>
            <a:r>
              <a:rPr i="1" lang="en-US" sz="1800"/>
              <a:t>	Extreme Value Theory and Generalized Pareto Distribution territory.</a:t>
            </a:r>
            <a:endParaRPr i="1" sz="1800"/>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29" name="Google Shape;229;g3db971e7cb6_0_12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30" name="Google Shape;230;g3db971e7cb6_0_12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1" name="Google Shape;231;g3db971e7cb6_0_120"/>
          <p:cNvPicPr preferRelativeResize="0"/>
          <p:nvPr/>
        </p:nvPicPr>
        <p:blipFill>
          <a:blip r:embed="rId3">
            <a:alphaModFix/>
          </a:blip>
          <a:stretch>
            <a:fillRect/>
          </a:stretch>
        </p:blipFill>
        <p:spPr>
          <a:xfrm>
            <a:off x="6165588" y="3417563"/>
            <a:ext cx="5067300" cy="904875"/>
          </a:xfrm>
          <a:prstGeom prst="rect">
            <a:avLst/>
          </a:prstGeom>
          <a:noFill/>
          <a:ln>
            <a:noFill/>
          </a:ln>
        </p:spPr>
      </p:pic>
      <p:pic>
        <p:nvPicPr>
          <p:cNvPr id="232" name="Google Shape;232;g3db971e7cb6_0_120"/>
          <p:cNvPicPr preferRelativeResize="0"/>
          <p:nvPr/>
        </p:nvPicPr>
        <p:blipFill>
          <a:blip r:embed="rId4">
            <a:alphaModFix/>
          </a:blip>
          <a:stretch>
            <a:fillRect/>
          </a:stretch>
        </p:blipFill>
        <p:spPr>
          <a:xfrm>
            <a:off x="526463" y="3417563"/>
            <a:ext cx="4981575" cy="904875"/>
          </a:xfrm>
          <a:prstGeom prst="rect">
            <a:avLst/>
          </a:prstGeom>
          <a:noFill/>
          <a:ln>
            <a:noFill/>
          </a:ln>
        </p:spPr>
      </p:pic>
      <p:sp>
        <p:nvSpPr>
          <p:cNvPr id="233" name="Google Shape;233;g3db971e7cb6_0_120"/>
          <p:cNvSpPr txBox="1"/>
          <p:nvPr/>
        </p:nvSpPr>
        <p:spPr>
          <a:xfrm>
            <a:off x="952025" y="5293375"/>
            <a:ext cx="9837000" cy="6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FF0000"/>
                </a:solidFill>
                <a:latin typeface="Calibri"/>
                <a:ea typeface="Calibri"/>
                <a:cs typeface="Calibri"/>
                <a:sym typeface="Calibri"/>
              </a:rPr>
              <a:t>H0 is not rejected with a p&lt;0.05 significance value. Year over year, the distribution of extreme events does not differ in equality of means.</a:t>
            </a:r>
            <a:endParaRPr b="1" sz="190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db971e7cb6_0_75"/>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sector clustering</a:t>
            </a:r>
            <a:endParaRPr/>
          </a:p>
        </p:txBody>
      </p:sp>
      <p:sp>
        <p:nvSpPr>
          <p:cNvPr id="240" name="Google Shape;240;g3db971e7cb6_0_75"/>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sectors performed best in the top 0.1%? Ordered table.</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41" name="Google Shape;241;g3db971e7cb6_0_75"/>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42" name="Google Shape;242;g3db971e7cb6_0_75"/>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3" name="Google Shape;243;g3db971e7cb6_0_75"/>
          <p:cNvPicPr preferRelativeResize="0"/>
          <p:nvPr/>
        </p:nvPicPr>
        <p:blipFill>
          <a:blip r:embed="rId3">
            <a:alphaModFix/>
          </a:blip>
          <a:stretch>
            <a:fillRect/>
          </a:stretch>
        </p:blipFill>
        <p:spPr>
          <a:xfrm>
            <a:off x="2506150" y="1771437"/>
            <a:ext cx="7181275" cy="4197125"/>
          </a:xfrm>
          <a:prstGeom prst="rect">
            <a:avLst/>
          </a:prstGeom>
          <a:noFill/>
          <a:ln>
            <a:noFill/>
          </a:ln>
        </p:spPr>
      </p:pic>
      <p:sp>
        <p:nvSpPr>
          <p:cNvPr id="244" name="Google Shape;244;g3db971e7cb6_0_75"/>
          <p:cNvSpPr/>
          <p:nvPr/>
        </p:nvSpPr>
        <p:spPr>
          <a:xfrm>
            <a:off x="9687425" y="2459613"/>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g3db971e7cb6_0_75"/>
          <p:cNvSpPr/>
          <p:nvPr/>
        </p:nvSpPr>
        <p:spPr>
          <a:xfrm rot="10800000">
            <a:off x="1605850" y="2459613"/>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db971e7cb6_0_9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sector clustering</a:t>
            </a:r>
            <a:endParaRPr/>
          </a:p>
        </p:txBody>
      </p:sp>
      <p:sp>
        <p:nvSpPr>
          <p:cNvPr id="252" name="Google Shape;252;g3db971e7cb6_0_9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t>
            </a:r>
            <a:r>
              <a:rPr lang="en-US"/>
              <a:t>(Arithmetic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53" name="Google Shape;253;g3db971e7cb6_0_9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54" name="Google Shape;254;g3db971e7cb6_0_9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5" name="Google Shape;255;g3db971e7cb6_0_97"/>
          <p:cNvPicPr preferRelativeResize="0"/>
          <p:nvPr/>
        </p:nvPicPr>
        <p:blipFill>
          <a:blip r:embed="rId3">
            <a:alphaModFix/>
          </a:blip>
          <a:stretch>
            <a:fillRect/>
          </a:stretch>
        </p:blipFill>
        <p:spPr>
          <a:xfrm>
            <a:off x="6096000" y="2305800"/>
            <a:ext cx="6097574" cy="3479575"/>
          </a:xfrm>
          <a:prstGeom prst="rect">
            <a:avLst/>
          </a:prstGeom>
          <a:noFill/>
          <a:ln>
            <a:noFill/>
          </a:ln>
        </p:spPr>
      </p:pic>
      <p:pic>
        <p:nvPicPr>
          <p:cNvPr id="256" name="Google Shape;256;g3db971e7cb6_0_97"/>
          <p:cNvPicPr preferRelativeResize="0"/>
          <p:nvPr/>
        </p:nvPicPr>
        <p:blipFill>
          <a:blip r:embed="rId4">
            <a:alphaModFix/>
          </a:blip>
          <a:stretch>
            <a:fillRect/>
          </a:stretch>
        </p:blipFill>
        <p:spPr>
          <a:xfrm>
            <a:off x="0" y="2305799"/>
            <a:ext cx="6097574" cy="3479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9a84e3b28a_0_11"/>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sector clustering</a:t>
            </a:r>
            <a:endParaRPr/>
          </a:p>
        </p:txBody>
      </p:sp>
      <p:sp>
        <p:nvSpPr>
          <p:cNvPr id="263" name="Google Shape;263;g39a84e3b28a_0_11"/>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64" name="Google Shape;264;g39a84e3b28a_0_11"/>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65" name="Google Shape;265;g39a84e3b28a_0_11"/>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6" name="Google Shape;266;g39a84e3b28a_0_11"/>
          <p:cNvPicPr preferRelativeResize="0"/>
          <p:nvPr/>
        </p:nvPicPr>
        <p:blipFill>
          <a:blip r:embed="rId3">
            <a:alphaModFix/>
          </a:blip>
          <a:stretch>
            <a:fillRect/>
          </a:stretch>
        </p:blipFill>
        <p:spPr>
          <a:xfrm>
            <a:off x="1134775" y="1730950"/>
            <a:ext cx="9924024" cy="4924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db971e7cb6_0_132"/>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sector clustering</a:t>
            </a:r>
            <a:endParaRPr/>
          </a:p>
        </p:txBody>
      </p:sp>
      <p:sp>
        <p:nvSpPr>
          <p:cNvPr id="273" name="Google Shape;273;g3db971e7cb6_0_132"/>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spcBef>
                <a:spcPts val="0"/>
              </a:spcBef>
              <a:spcAft>
                <a:spcPts val="0"/>
              </a:spcAft>
              <a:buSzPts val="2400"/>
              <a:buChar char="•"/>
            </a:pPr>
            <a:r>
              <a:rPr lang="en-US"/>
              <a:t>Do the top 0.1% mean across sectors are statistically different within each positive extreme and negative extreme? log_return (right), arithmetic_return (left)</a:t>
            </a:r>
            <a:endParaRPr/>
          </a:p>
          <a:p>
            <a:pPr indent="457200" lvl="0" marL="0" rtl="0" algn="l">
              <a:spcBef>
                <a:spcPts val="400"/>
              </a:spcBef>
              <a:spcAft>
                <a:spcPts val="0"/>
              </a:spcAft>
              <a:buNone/>
            </a:pPr>
            <a:r>
              <a:rPr i="1" lang="en-US" sz="1800"/>
              <a:t>Less impact of return definition because we are comparing positive / positive and negative / negative.</a:t>
            </a:r>
            <a:br>
              <a:rPr i="1" lang="en-US" sz="1800"/>
            </a:br>
            <a:r>
              <a:rPr i="1" lang="en-US" sz="1800"/>
              <a:t>	Extreme Value Theory and Generalized Pareto Distribution territory.</a:t>
            </a:r>
            <a:endParaRPr i="1" sz="1800"/>
          </a:p>
          <a:p>
            <a:pPr indent="457200" lvl="0" marL="0" rtl="0" algn="l">
              <a:spcBef>
                <a:spcPts val="400"/>
              </a:spcBef>
              <a:spcAft>
                <a:spcPts val="0"/>
              </a:spcAft>
              <a:buNone/>
            </a:pPr>
            <a:r>
              <a:t/>
            </a:r>
            <a:endParaRPr i="1" sz="1800"/>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74" name="Google Shape;274;g3db971e7cb6_0_132"/>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75" name="Google Shape;275;g3db971e7cb6_0_132"/>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6" name="Google Shape;276;g3db971e7cb6_0_132"/>
          <p:cNvPicPr preferRelativeResize="0"/>
          <p:nvPr/>
        </p:nvPicPr>
        <p:blipFill>
          <a:blip r:embed="rId3">
            <a:alphaModFix/>
          </a:blip>
          <a:stretch>
            <a:fillRect/>
          </a:stretch>
        </p:blipFill>
        <p:spPr>
          <a:xfrm>
            <a:off x="128888" y="3687913"/>
            <a:ext cx="5791200" cy="771525"/>
          </a:xfrm>
          <a:prstGeom prst="rect">
            <a:avLst/>
          </a:prstGeom>
          <a:noFill/>
          <a:ln>
            <a:noFill/>
          </a:ln>
        </p:spPr>
      </p:pic>
      <p:pic>
        <p:nvPicPr>
          <p:cNvPr id="277" name="Google Shape;277;g3db971e7cb6_0_132"/>
          <p:cNvPicPr preferRelativeResize="0"/>
          <p:nvPr/>
        </p:nvPicPr>
        <p:blipFill>
          <a:blip r:embed="rId4">
            <a:alphaModFix/>
          </a:blip>
          <a:stretch>
            <a:fillRect/>
          </a:stretch>
        </p:blipFill>
        <p:spPr>
          <a:xfrm>
            <a:off x="6247438" y="3687913"/>
            <a:ext cx="5791200" cy="771525"/>
          </a:xfrm>
          <a:prstGeom prst="rect">
            <a:avLst/>
          </a:prstGeom>
          <a:noFill/>
          <a:ln>
            <a:noFill/>
          </a:ln>
        </p:spPr>
      </p:pic>
      <p:sp>
        <p:nvSpPr>
          <p:cNvPr id="278" name="Google Shape;278;g3db971e7cb6_0_132"/>
          <p:cNvSpPr txBox="1"/>
          <p:nvPr/>
        </p:nvSpPr>
        <p:spPr>
          <a:xfrm>
            <a:off x="952025" y="5293375"/>
            <a:ext cx="9837000" cy="6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FF0000"/>
                </a:solidFill>
                <a:latin typeface="Calibri"/>
                <a:ea typeface="Calibri"/>
                <a:cs typeface="Calibri"/>
                <a:sym typeface="Calibri"/>
              </a:rPr>
              <a:t>H0 is rejected with a p&lt;0.05 significance value. Statistical equality of mean is not preserved over sectors. Most probably because of the Communication Services sector. </a:t>
            </a:r>
            <a:endParaRPr b="1" sz="190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db971e7cb6_0_3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CAPM Modeling</a:t>
            </a:r>
            <a:endParaRPr/>
          </a:p>
        </p:txBody>
      </p:sp>
      <p:sp>
        <p:nvSpPr>
          <p:cNvPr id="285" name="Google Shape;285;g3db971e7cb6_0_3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factor models explain extreme returns as well as they explain the full distribution?</a:t>
            </a:r>
            <a:br>
              <a:rPr lang="en-US"/>
            </a:br>
            <a:br>
              <a:rPr lang="en-US"/>
            </a:br>
            <a:r>
              <a:rPr lang="en-US"/>
              <a:t>CAPM : Ri​−Rf​=α+β(Rm​−Rf​)</a:t>
            </a:r>
            <a:br>
              <a:rPr lang="en-US"/>
            </a:br>
            <a:br>
              <a:rPr lang="en-US"/>
            </a:br>
            <a:r>
              <a:rPr lang="en-US"/>
              <a:t>Ri​ — the return of your stock (or portfolio)</a:t>
            </a:r>
            <a:endParaRPr/>
          </a:p>
          <a:p>
            <a:pPr indent="0" lvl="0" marL="342900" rtl="0" algn="l">
              <a:spcBef>
                <a:spcPts val="0"/>
              </a:spcBef>
              <a:spcAft>
                <a:spcPts val="0"/>
              </a:spcAft>
              <a:buNone/>
            </a:pPr>
            <a:r>
              <a:rPr lang="en-US"/>
              <a:t>Rm — the return of the market (S&amp;P500 index)</a:t>
            </a:r>
            <a:endParaRPr/>
          </a:p>
          <a:p>
            <a:pPr indent="0" lvl="0" marL="342900" rtl="0" algn="l">
              <a:spcBef>
                <a:spcPts val="0"/>
              </a:spcBef>
              <a:spcAft>
                <a:spcPts val="0"/>
              </a:spcAft>
              <a:buNone/>
            </a:pPr>
            <a:r>
              <a:rPr lang="en-US"/>
              <a:t>Rf — the risk-free rate (DTB3, the 3-month T-bill)</a:t>
            </a: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86" name="Google Shape;286;g3db971e7cb6_0_3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87" name="Google Shape;287;g3db971e7cb6_0_3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9a84e3b28a_0_2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CAPM Modeling</a:t>
            </a:r>
            <a:endParaRPr/>
          </a:p>
        </p:txBody>
      </p:sp>
      <p:sp>
        <p:nvSpPr>
          <p:cNvPr id="294" name="Google Shape;294;g39a84e3b28a_0_2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None/>
            </a:pPr>
            <a:r>
              <a:rPr lang="en-US"/>
              <a:t>Build a simple OLS for CAPM on AAPL to test.</a:t>
            </a: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95" name="Google Shape;295;g39a84e3b28a_0_2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96" name="Google Shape;296;g39a84e3b28a_0_2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7" name="Google Shape;297;g39a84e3b28a_0_29"/>
          <p:cNvPicPr preferRelativeResize="0"/>
          <p:nvPr/>
        </p:nvPicPr>
        <p:blipFill>
          <a:blip r:embed="rId3">
            <a:alphaModFix/>
          </a:blip>
          <a:stretch>
            <a:fillRect/>
          </a:stretch>
        </p:blipFill>
        <p:spPr>
          <a:xfrm>
            <a:off x="2177500" y="1681300"/>
            <a:ext cx="7838575" cy="4863299"/>
          </a:xfrm>
          <a:prstGeom prst="rect">
            <a:avLst/>
          </a:prstGeom>
          <a:noFill/>
          <a:ln>
            <a:noFill/>
          </a:ln>
        </p:spPr>
      </p:pic>
      <p:sp>
        <p:nvSpPr>
          <p:cNvPr id="298" name="Google Shape;298;g39a84e3b28a_0_29"/>
          <p:cNvSpPr/>
          <p:nvPr/>
        </p:nvSpPr>
        <p:spPr>
          <a:xfrm>
            <a:off x="9115775" y="2039288"/>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g39a84e3b28a_0_29"/>
          <p:cNvSpPr/>
          <p:nvPr/>
        </p:nvSpPr>
        <p:spPr>
          <a:xfrm>
            <a:off x="3425525" y="4290100"/>
            <a:ext cx="4206600" cy="5400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9a84e3b28a_0_48"/>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CAPM Modeling</a:t>
            </a:r>
            <a:endParaRPr/>
          </a:p>
        </p:txBody>
      </p:sp>
      <p:sp>
        <p:nvSpPr>
          <p:cNvPr id="306" name="Google Shape;306;g39a84e3b28a_0_48"/>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07" name="Google Shape;307;g39a84e3b28a_0_48"/>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8" name="Google Shape;308;g39a84e3b28a_0_48"/>
          <p:cNvPicPr preferRelativeResize="0"/>
          <p:nvPr/>
        </p:nvPicPr>
        <p:blipFill>
          <a:blip r:embed="rId3">
            <a:alphaModFix/>
          </a:blip>
          <a:stretch>
            <a:fillRect/>
          </a:stretch>
        </p:blipFill>
        <p:spPr>
          <a:xfrm>
            <a:off x="366275" y="969457"/>
            <a:ext cx="11325225" cy="5619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9a84e3b28a_0_5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CAPM Modeling</a:t>
            </a:r>
            <a:endParaRPr/>
          </a:p>
        </p:txBody>
      </p:sp>
      <p:sp>
        <p:nvSpPr>
          <p:cNvPr id="315" name="Google Shape;315;g39a84e3b28a_0_57"/>
          <p:cNvSpPr txBox="1"/>
          <p:nvPr>
            <p:ph idx="1" type="body"/>
          </p:nvPr>
        </p:nvSpPr>
        <p:spPr>
          <a:xfrm>
            <a:off x="719400" y="1047975"/>
            <a:ext cx="10753200" cy="504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Loop on each ticker :</a:t>
            </a: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0" lvl="0" marL="152400" rtl="0" algn="l">
              <a:lnSpc>
                <a:spcPct val="100000"/>
              </a:lnSpc>
              <a:spcBef>
                <a:spcPts val="480"/>
              </a:spcBef>
              <a:spcAft>
                <a:spcPts val="0"/>
              </a:spcAft>
              <a:buClr>
                <a:schemeClr val="dk1"/>
              </a:buClr>
              <a:buSzPts val="2400"/>
              <a:buFont typeface="Arial"/>
              <a:buNone/>
            </a:pPr>
            <a:r>
              <a:rPr lang="en-US"/>
              <a:t>Summary :</a:t>
            </a:r>
            <a:endParaRPr/>
          </a:p>
        </p:txBody>
      </p:sp>
      <p:sp>
        <p:nvSpPr>
          <p:cNvPr id="316" name="Google Shape;316;g39a84e3b28a_0_5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17" name="Google Shape;317;g39a84e3b28a_0_5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8" name="Google Shape;318;g39a84e3b28a_0_57"/>
          <p:cNvPicPr preferRelativeResize="0"/>
          <p:nvPr/>
        </p:nvPicPr>
        <p:blipFill>
          <a:blip r:embed="rId3">
            <a:alphaModFix/>
          </a:blip>
          <a:stretch>
            <a:fillRect/>
          </a:stretch>
        </p:blipFill>
        <p:spPr>
          <a:xfrm>
            <a:off x="3460550" y="3988077"/>
            <a:ext cx="6551651" cy="1128475"/>
          </a:xfrm>
          <a:prstGeom prst="rect">
            <a:avLst/>
          </a:prstGeom>
          <a:noFill/>
          <a:ln>
            <a:noFill/>
          </a:ln>
        </p:spPr>
      </p:pic>
      <p:pic>
        <p:nvPicPr>
          <p:cNvPr id="319" name="Google Shape;319;g39a84e3b28a_0_57"/>
          <p:cNvPicPr preferRelativeResize="0"/>
          <p:nvPr/>
        </p:nvPicPr>
        <p:blipFill>
          <a:blip r:embed="rId4">
            <a:alphaModFix/>
          </a:blip>
          <a:stretch>
            <a:fillRect/>
          </a:stretch>
        </p:blipFill>
        <p:spPr>
          <a:xfrm>
            <a:off x="3888400" y="1047975"/>
            <a:ext cx="5695950" cy="1733550"/>
          </a:xfrm>
          <a:prstGeom prst="rect">
            <a:avLst/>
          </a:prstGeom>
          <a:noFill/>
          <a:ln>
            <a:noFill/>
          </a:ln>
        </p:spPr>
      </p:pic>
      <p:sp>
        <p:nvSpPr>
          <p:cNvPr id="320" name="Google Shape;320;g39a84e3b28a_0_57"/>
          <p:cNvSpPr txBox="1"/>
          <p:nvPr/>
        </p:nvSpPr>
        <p:spPr>
          <a:xfrm>
            <a:off x="777900" y="5693250"/>
            <a:ext cx="10636200" cy="6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FF0000"/>
                </a:solidFill>
                <a:latin typeface="Calibri"/>
                <a:ea typeface="Calibri"/>
                <a:cs typeface="Calibri"/>
                <a:sym typeface="Calibri"/>
              </a:rPr>
              <a:t>O</a:t>
            </a:r>
            <a:r>
              <a:rPr b="1" lang="en-US" sz="1700">
                <a:solidFill>
                  <a:srgbClr val="FF0000"/>
                </a:solidFill>
                <a:latin typeface="Calibri"/>
                <a:ea typeface="Calibri"/>
                <a:cs typeface="Calibri"/>
                <a:sym typeface="Calibri"/>
              </a:rPr>
              <a:t>n average, on the S&amp;P500 for the last 15 years, CAPM explains 34% of a stock excess return against market return</a:t>
            </a:r>
            <a:endParaRPr b="1" sz="1900">
              <a:solidFill>
                <a:srgbClr val="FF0000"/>
              </a:solidFill>
            </a:endParaRPr>
          </a:p>
        </p:txBody>
      </p:sp>
      <p:sp>
        <p:nvSpPr>
          <p:cNvPr id="321" name="Google Shape;321;g39a84e3b28a_0_57"/>
          <p:cNvSpPr/>
          <p:nvPr/>
        </p:nvSpPr>
        <p:spPr>
          <a:xfrm>
            <a:off x="3664125" y="4682150"/>
            <a:ext cx="3217200" cy="4344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dfdcedfbbb_0_56"/>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CAPM Modeling for the top 0.1%</a:t>
            </a:r>
            <a:endParaRPr/>
          </a:p>
        </p:txBody>
      </p:sp>
      <p:sp>
        <p:nvSpPr>
          <p:cNvPr id="328" name="Google Shape;328;g3dfdcedfbbb_0_56"/>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29" name="Google Shape;329;g3dfdcedfbbb_0_56"/>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0" name="Google Shape;330;g3dfdcedfbbb_0_56"/>
          <p:cNvSpPr txBox="1"/>
          <p:nvPr/>
        </p:nvSpPr>
        <p:spPr>
          <a:xfrm>
            <a:off x="734438" y="1135825"/>
            <a:ext cx="10724700" cy="11391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Now test the CAPM on the top 0.1%.</a:t>
            </a:r>
            <a:br>
              <a:rPr lang="en-US" sz="2400">
                <a:solidFill>
                  <a:schemeClr val="dk1"/>
                </a:solidFill>
                <a:latin typeface="Titillium Web"/>
                <a:ea typeface="Titillium Web"/>
                <a:cs typeface="Titillium Web"/>
                <a:sym typeface="Titillium Web"/>
              </a:rPr>
            </a:br>
            <a:r>
              <a:rPr lang="en-US" sz="2400">
                <a:solidFill>
                  <a:schemeClr val="dk1"/>
                </a:solidFill>
                <a:latin typeface="Titillium Web"/>
                <a:ea typeface="Titillium Web"/>
                <a:cs typeface="Titillium Web"/>
                <a:sym typeface="Titillium Web"/>
              </a:rPr>
              <a:t>Here, separating both tails.</a:t>
            </a:r>
            <a:br>
              <a:rPr lang="en-US" sz="2400">
                <a:solidFill>
                  <a:schemeClr val="dk1"/>
                </a:solidFill>
                <a:latin typeface="Titillium Web"/>
                <a:ea typeface="Titillium Web"/>
                <a:cs typeface="Titillium Web"/>
                <a:sym typeface="Titillium Web"/>
              </a:rPr>
            </a:br>
            <a:endParaRPr/>
          </a:p>
        </p:txBody>
      </p:sp>
      <p:pic>
        <p:nvPicPr>
          <p:cNvPr id="331" name="Google Shape;331;g3dfdcedfbbb_0_56"/>
          <p:cNvPicPr preferRelativeResize="0"/>
          <p:nvPr/>
        </p:nvPicPr>
        <p:blipFill>
          <a:blip r:embed="rId3">
            <a:alphaModFix/>
          </a:blip>
          <a:stretch>
            <a:fillRect/>
          </a:stretch>
        </p:blipFill>
        <p:spPr>
          <a:xfrm>
            <a:off x="1547800" y="2476750"/>
            <a:ext cx="9096375" cy="1238250"/>
          </a:xfrm>
          <a:prstGeom prst="rect">
            <a:avLst/>
          </a:prstGeom>
          <a:noFill/>
          <a:ln>
            <a:noFill/>
          </a:ln>
        </p:spPr>
      </p:pic>
      <p:sp>
        <p:nvSpPr>
          <p:cNvPr id="332" name="Google Shape;332;g3dfdcedfbbb_0_56"/>
          <p:cNvSpPr txBox="1"/>
          <p:nvPr/>
        </p:nvSpPr>
        <p:spPr>
          <a:xfrm>
            <a:off x="1405700" y="3850075"/>
            <a:ext cx="96630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pct_sig_alpha &amp; pct_sig_beta = percentage of stock where alpha or beta had a </a:t>
            </a:r>
            <a:r>
              <a:rPr lang="en-US"/>
              <a:t>significant</a:t>
            </a:r>
            <a:r>
              <a:rPr lang="en-US"/>
              <a:t> p-value (&gt;0.05).</a:t>
            </a:r>
            <a:endParaRPr/>
          </a:p>
        </p:txBody>
      </p:sp>
      <p:sp>
        <p:nvSpPr>
          <p:cNvPr id="333" name="Google Shape;333;g3dfdcedfbbb_0_56"/>
          <p:cNvSpPr txBox="1"/>
          <p:nvPr/>
        </p:nvSpPr>
        <p:spPr>
          <a:xfrm>
            <a:off x="199575" y="5039000"/>
            <a:ext cx="11814900" cy="12930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t/>
            </a:r>
            <a:endParaRPr sz="2400">
              <a:solidFill>
                <a:schemeClr val="dk1"/>
              </a:solidFill>
              <a:latin typeface="Titillium Web"/>
              <a:ea typeface="Titillium Web"/>
              <a:cs typeface="Titillium Web"/>
              <a:sym typeface="Titillium Web"/>
            </a:endParaRPr>
          </a:p>
          <a:p>
            <a:pPr indent="0" lvl="0" marL="342900" rtl="0" algn="l">
              <a:spcBef>
                <a:spcPts val="0"/>
              </a:spcBef>
              <a:spcAft>
                <a:spcPts val="0"/>
              </a:spcAft>
              <a:buNone/>
            </a:pPr>
            <a:r>
              <a:rPr lang="en-US" sz="2400">
                <a:solidFill>
                  <a:srgbClr val="FF0000"/>
                </a:solidFill>
                <a:latin typeface="Titillium Web"/>
                <a:ea typeface="Titillium Web"/>
                <a:cs typeface="Titillium Web"/>
                <a:sym typeface="Titillium Web"/>
              </a:rPr>
              <a:t>CAPM shows very little correlation between stock excess return and market return in the tails compared to the full set !</a:t>
            </a:r>
            <a:endParaRPr sz="2400">
              <a:solidFill>
                <a:srgbClr val="FF0000"/>
              </a:solidFill>
              <a:latin typeface="Titillium Web"/>
              <a:ea typeface="Titillium Web"/>
              <a:cs typeface="Titillium Web"/>
              <a:sym typeface="Titillium Web"/>
            </a:endParaRPr>
          </a:p>
        </p:txBody>
      </p:sp>
      <p:sp>
        <p:nvSpPr>
          <p:cNvPr id="334" name="Google Shape;334;g3dfdcedfbbb_0_56"/>
          <p:cNvSpPr/>
          <p:nvPr/>
        </p:nvSpPr>
        <p:spPr>
          <a:xfrm>
            <a:off x="1212275" y="2341675"/>
            <a:ext cx="3908700" cy="15084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dfdcedfbbb_0_8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3F</a:t>
            </a:r>
            <a:r>
              <a:rPr lang="en-US"/>
              <a:t> Modeling for the top 0.1%</a:t>
            </a:r>
            <a:endParaRPr/>
          </a:p>
        </p:txBody>
      </p:sp>
      <p:sp>
        <p:nvSpPr>
          <p:cNvPr id="341" name="Google Shape;341;g3dfdcedfbbb_0_8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factor models explain extreme returns as well as they explain the full distribution?</a:t>
            </a:r>
            <a:br>
              <a:rPr lang="en-US"/>
            </a:br>
            <a:br>
              <a:rPr lang="en-US"/>
            </a:br>
            <a:r>
              <a:rPr lang="en-US"/>
              <a:t>FF3 : Ri​−Rf​=α+β(Rm​−Rf​)</a:t>
            </a:r>
            <a:r>
              <a:rPr lang="en-US"/>
              <a:t>+βSMB​⋅SMB+βHML​⋅HML</a:t>
            </a:r>
            <a:br>
              <a:rPr lang="en-US"/>
            </a:br>
            <a:br>
              <a:rPr lang="en-US"/>
            </a:br>
            <a:r>
              <a:rPr lang="en-US"/>
              <a:t>Ri​ - the return of your stock (or portfolio)</a:t>
            </a:r>
            <a:endParaRPr/>
          </a:p>
          <a:p>
            <a:pPr indent="0" lvl="0" marL="342900" rtl="0" algn="l">
              <a:spcBef>
                <a:spcPts val="0"/>
              </a:spcBef>
              <a:spcAft>
                <a:spcPts val="0"/>
              </a:spcAft>
              <a:buNone/>
            </a:pPr>
            <a:r>
              <a:rPr lang="en-US"/>
              <a:t>Rm - the return of the market (S&amp;P500 index)</a:t>
            </a:r>
            <a:endParaRPr/>
          </a:p>
          <a:p>
            <a:pPr indent="0" lvl="0" marL="342900" rtl="0" algn="l">
              <a:spcBef>
                <a:spcPts val="0"/>
              </a:spcBef>
              <a:spcAft>
                <a:spcPts val="0"/>
              </a:spcAft>
              <a:buNone/>
            </a:pPr>
            <a:r>
              <a:rPr lang="en-US"/>
              <a:t>Rf - the risk-free rate (DTB3, the 3-month T-bill)</a:t>
            </a:r>
            <a:endParaRPr/>
          </a:p>
          <a:p>
            <a:pPr indent="0" lvl="0" marL="342900" rtl="0" algn="l">
              <a:spcBef>
                <a:spcPts val="0"/>
              </a:spcBef>
              <a:spcAft>
                <a:spcPts val="0"/>
              </a:spcAft>
              <a:buNone/>
            </a:pPr>
            <a:r>
              <a:rPr lang="en-US"/>
              <a:t>SMB - Small minus Big (market cap factors)</a:t>
            </a:r>
            <a:endParaRPr/>
          </a:p>
          <a:p>
            <a:pPr indent="0" lvl="0" marL="342900" rtl="0" algn="l">
              <a:spcBef>
                <a:spcPts val="0"/>
              </a:spcBef>
              <a:spcAft>
                <a:spcPts val="0"/>
              </a:spcAft>
              <a:buNone/>
            </a:pPr>
            <a:r>
              <a:rPr lang="en-US"/>
              <a:t>HML - High minus Low (book to market ratio)</a:t>
            </a: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342" name="Google Shape;342;g3dfdcedfbbb_0_8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43" name="Google Shape;343;g3dfdcedfbbb_0_8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dfdcedfbbb_0_88"/>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3F Modeling for the top 0.1%</a:t>
            </a:r>
            <a:endParaRPr/>
          </a:p>
        </p:txBody>
      </p:sp>
      <p:sp>
        <p:nvSpPr>
          <p:cNvPr id="350" name="Google Shape;350;g3dfdcedfbbb_0_88"/>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FF3 on the whole set of S&amp;P500 from 01.01.2010</a:t>
            </a:r>
            <a:br>
              <a:rPr lang="en-US"/>
            </a:br>
            <a:br>
              <a:rPr lang="en-US"/>
            </a:b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351" name="Google Shape;351;g3dfdcedfbbb_0_88"/>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52" name="Google Shape;352;g3dfdcedfbbb_0_88"/>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53" name="Google Shape;353;g3dfdcedfbbb_0_88"/>
          <p:cNvPicPr preferRelativeResize="0"/>
          <p:nvPr/>
        </p:nvPicPr>
        <p:blipFill>
          <a:blip r:embed="rId3">
            <a:alphaModFix/>
          </a:blip>
          <a:stretch>
            <a:fillRect/>
          </a:stretch>
        </p:blipFill>
        <p:spPr>
          <a:xfrm>
            <a:off x="4076525" y="1957775"/>
            <a:ext cx="4038950" cy="4583275"/>
          </a:xfrm>
          <a:prstGeom prst="rect">
            <a:avLst/>
          </a:prstGeom>
          <a:noFill/>
          <a:ln>
            <a:noFill/>
          </a:ln>
        </p:spPr>
      </p:pic>
      <p:sp>
        <p:nvSpPr>
          <p:cNvPr id="354" name="Google Shape;354;g3dfdcedfbbb_0_88"/>
          <p:cNvSpPr/>
          <p:nvPr/>
        </p:nvSpPr>
        <p:spPr>
          <a:xfrm>
            <a:off x="8191900" y="3940338"/>
            <a:ext cx="900300" cy="3444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dfdcedfbbb_0_11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3F Modeling for the top 0.1%</a:t>
            </a:r>
            <a:endParaRPr/>
          </a:p>
        </p:txBody>
      </p:sp>
      <p:sp>
        <p:nvSpPr>
          <p:cNvPr id="361" name="Google Shape;361;g3dfdcedfbbb_0_11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FF3 </a:t>
            </a:r>
            <a:r>
              <a:rPr lang="en-US"/>
              <a:t>for the top 0.1%</a:t>
            </a:r>
            <a:r>
              <a:rPr lang="en-US"/>
              <a:t>. With adjusted R2.</a:t>
            </a:r>
            <a:br>
              <a:rPr lang="en-US"/>
            </a:br>
            <a:br>
              <a:rPr lang="en-US"/>
            </a:b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rPr lang="en-US">
                <a:solidFill>
                  <a:srgbClr val="FF0000"/>
                </a:solidFill>
              </a:rPr>
              <a:t>Neither CAPM nor FF3 seems good to explain extreme returns. The vast majority of tail behavior remains idiosyncratic and unexplained by systematic factors.</a:t>
            </a:r>
            <a:endParaRPr>
              <a:solidFill>
                <a:srgbClr val="FF0000"/>
              </a:solidFill>
            </a:endParaRPr>
          </a:p>
        </p:txBody>
      </p:sp>
      <p:sp>
        <p:nvSpPr>
          <p:cNvPr id="362" name="Google Shape;362;g3dfdcedfbbb_0_11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63" name="Google Shape;363;g3dfdcedfbbb_0_11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64" name="Google Shape;364;g3dfdcedfbbb_0_117"/>
          <p:cNvPicPr preferRelativeResize="0"/>
          <p:nvPr/>
        </p:nvPicPr>
        <p:blipFill>
          <a:blip r:embed="rId3">
            <a:alphaModFix/>
          </a:blip>
          <a:stretch>
            <a:fillRect/>
          </a:stretch>
        </p:blipFill>
        <p:spPr>
          <a:xfrm>
            <a:off x="2282025" y="2314575"/>
            <a:ext cx="7629525" cy="2228850"/>
          </a:xfrm>
          <a:prstGeom prst="rect">
            <a:avLst/>
          </a:prstGeom>
          <a:noFill/>
          <a:ln>
            <a:noFill/>
          </a:ln>
        </p:spPr>
      </p:pic>
      <p:sp>
        <p:nvSpPr>
          <p:cNvPr id="365" name="Google Shape;365;g3dfdcedfbbb_0_117"/>
          <p:cNvSpPr/>
          <p:nvPr/>
        </p:nvSpPr>
        <p:spPr>
          <a:xfrm>
            <a:off x="4925550" y="2779925"/>
            <a:ext cx="888300" cy="223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g3dfdcedfbbb_0_117"/>
          <p:cNvSpPr/>
          <p:nvPr/>
        </p:nvSpPr>
        <p:spPr>
          <a:xfrm>
            <a:off x="6912450" y="2779925"/>
            <a:ext cx="888300" cy="223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g3dfdcedfbbb_0_117"/>
          <p:cNvSpPr/>
          <p:nvPr/>
        </p:nvSpPr>
        <p:spPr>
          <a:xfrm>
            <a:off x="9023250" y="2779925"/>
            <a:ext cx="888300" cy="223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8" name="Google Shape;368;g3dfdcedfbbb_0_117"/>
          <p:cNvCxnSpPr/>
          <p:nvPr/>
        </p:nvCxnSpPr>
        <p:spPr>
          <a:xfrm>
            <a:off x="4694600" y="2566700"/>
            <a:ext cx="994800" cy="0"/>
          </a:xfrm>
          <a:prstGeom prst="straightConnector1">
            <a:avLst/>
          </a:prstGeom>
          <a:noFill/>
          <a:ln cap="flat" cmpd="sng" w="38100">
            <a:solidFill>
              <a:srgbClr val="FF0000"/>
            </a:solidFill>
            <a:prstDash val="solid"/>
            <a:round/>
            <a:headEnd len="med" w="med" type="none"/>
            <a:tailEnd len="med" w="med" type="none"/>
          </a:ln>
        </p:spPr>
      </p:cxnSp>
      <p:cxnSp>
        <p:nvCxnSpPr>
          <p:cNvPr id="369" name="Google Shape;369;g3dfdcedfbbb_0_117"/>
          <p:cNvCxnSpPr/>
          <p:nvPr/>
        </p:nvCxnSpPr>
        <p:spPr>
          <a:xfrm flipH="1" rot="10800000">
            <a:off x="6595638" y="2566550"/>
            <a:ext cx="1205100" cy="300"/>
          </a:xfrm>
          <a:prstGeom prst="straightConnector1">
            <a:avLst/>
          </a:prstGeom>
          <a:noFill/>
          <a:ln cap="flat" cmpd="sng" w="38100">
            <a:solidFill>
              <a:srgbClr val="FF0000"/>
            </a:solidFill>
            <a:prstDash val="solid"/>
            <a:round/>
            <a:headEnd len="med" w="med" type="none"/>
            <a:tailEnd len="med" w="med" type="none"/>
          </a:ln>
        </p:spPr>
      </p:cxnSp>
      <p:cxnSp>
        <p:nvCxnSpPr>
          <p:cNvPr id="370" name="Google Shape;370;g3dfdcedfbbb_0_117"/>
          <p:cNvCxnSpPr/>
          <p:nvPr/>
        </p:nvCxnSpPr>
        <p:spPr>
          <a:xfrm flipH="1" rot="10800000">
            <a:off x="8635375" y="2566550"/>
            <a:ext cx="1205100" cy="30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db971e7cb6_0_24"/>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Momentum</a:t>
            </a:r>
            <a:r>
              <a:rPr lang="en-US"/>
              <a:t> for the top 0.1%</a:t>
            </a:r>
            <a:endParaRPr/>
          </a:p>
        </p:txBody>
      </p:sp>
      <p:sp>
        <p:nvSpPr>
          <p:cNvPr id="377" name="Google Shape;377;g3db971e7cb6_0_24"/>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extreme returns have a persistence component to them?</a:t>
            </a:r>
            <a:br>
              <a:rPr lang="en-US"/>
            </a:br>
            <a:r>
              <a:rPr lang="en-US"/>
              <a:t>The case for momentum also known as the Carhart 4 factors model.</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rPr lang="en-US"/>
              <a:t>Ri−Rf=α+βm(Rm−Rf)+βSMB⋅SMB+βHML⋅HML+βUMD⋅UMD</a:t>
            </a:r>
            <a:br>
              <a:rPr lang="en-US"/>
            </a:br>
            <a:br>
              <a:rPr lang="en-US"/>
            </a:br>
            <a:r>
              <a:rPr lang="en-US"/>
              <a:t>Ri​ - the return of your stock (or portfolio)</a:t>
            </a:r>
            <a:endParaRPr/>
          </a:p>
          <a:p>
            <a:pPr indent="0" lvl="0" marL="342900" rtl="0" algn="l">
              <a:spcBef>
                <a:spcPts val="0"/>
              </a:spcBef>
              <a:spcAft>
                <a:spcPts val="0"/>
              </a:spcAft>
              <a:buClr>
                <a:schemeClr val="dk1"/>
              </a:buClr>
              <a:buSzPts val="1100"/>
              <a:buFont typeface="Arial"/>
              <a:buNone/>
            </a:pPr>
            <a:r>
              <a:rPr lang="en-US"/>
              <a:t>Rm - the return of the market (S&amp;P500 index)</a:t>
            </a:r>
            <a:endParaRPr/>
          </a:p>
          <a:p>
            <a:pPr indent="0" lvl="0" marL="342900" rtl="0" algn="l">
              <a:spcBef>
                <a:spcPts val="0"/>
              </a:spcBef>
              <a:spcAft>
                <a:spcPts val="0"/>
              </a:spcAft>
              <a:buClr>
                <a:schemeClr val="dk1"/>
              </a:buClr>
              <a:buSzPts val="1100"/>
              <a:buFont typeface="Arial"/>
              <a:buNone/>
            </a:pPr>
            <a:r>
              <a:rPr lang="en-US"/>
              <a:t>Rf - the risk-free rate (DTB3, the 3-month T-bill)</a:t>
            </a:r>
            <a:endParaRPr/>
          </a:p>
          <a:p>
            <a:pPr indent="0" lvl="0" marL="342900" rtl="0" algn="l">
              <a:spcBef>
                <a:spcPts val="0"/>
              </a:spcBef>
              <a:spcAft>
                <a:spcPts val="0"/>
              </a:spcAft>
              <a:buClr>
                <a:schemeClr val="dk1"/>
              </a:buClr>
              <a:buSzPts val="1100"/>
              <a:buFont typeface="Arial"/>
              <a:buNone/>
            </a:pPr>
            <a:r>
              <a:rPr lang="en-US"/>
              <a:t>SMB - Small minus Big (market cap factors)</a:t>
            </a:r>
            <a:endParaRPr/>
          </a:p>
          <a:p>
            <a:pPr indent="0" lvl="0" marL="342900" rtl="0" algn="l">
              <a:spcBef>
                <a:spcPts val="0"/>
              </a:spcBef>
              <a:spcAft>
                <a:spcPts val="0"/>
              </a:spcAft>
              <a:buClr>
                <a:schemeClr val="dk1"/>
              </a:buClr>
              <a:buSzPts val="1100"/>
              <a:buFont typeface="Arial"/>
              <a:buNone/>
            </a:pPr>
            <a:r>
              <a:rPr lang="en-US"/>
              <a:t>HML - High minus Low (book to market ratio)</a:t>
            </a:r>
            <a:br>
              <a:rPr lang="en-US"/>
            </a:br>
            <a:r>
              <a:rPr lang="en-US"/>
              <a:t>UMD - Up minus Down (long time winners vs long time losers)</a:t>
            </a:r>
            <a:endParaRPr/>
          </a:p>
        </p:txBody>
      </p:sp>
      <p:sp>
        <p:nvSpPr>
          <p:cNvPr id="378" name="Google Shape;378;g3db971e7cb6_0_24"/>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79" name="Google Shape;379;g3db971e7cb6_0_24"/>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dfdcedfbbb_0_14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Momentum for the top 0.1%</a:t>
            </a:r>
            <a:endParaRPr/>
          </a:p>
        </p:txBody>
      </p:sp>
      <p:sp>
        <p:nvSpPr>
          <p:cNvPr id="386" name="Google Shape;386;g3dfdcedfbbb_0_149"/>
          <p:cNvSpPr txBox="1"/>
          <p:nvPr>
            <p:ph idx="1" type="body"/>
          </p:nvPr>
        </p:nvSpPr>
        <p:spPr>
          <a:xfrm>
            <a:off x="719400" y="5088500"/>
            <a:ext cx="10753200" cy="10794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solidFill>
                  <a:srgbClr val="FF0000"/>
                </a:solidFill>
              </a:rPr>
              <a:t>Adjusted R2 doubles in the tails !</a:t>
            </a:r>
            <a:endParaRPr>
              <a:solidFill>
                <a:srgbClr val="FF0000"/>
              </a:solidFill>
            </a:endParaRPr>
          </a:p>
          <a:p>
            <a:pPr indent="0" lvl="0" marL="342900" rtl="0" algn="l">
              <a:spcBef>
                <a:spcPts val="0"/>
              </a:spcBef>
              <a:spcAft>
                <a:spcPts val="0"/>
              </a:spcAft>
              <a:buClr>
                <a:schemeClr val="dk1"/>
              </a:buClr>
              <a:buSzPts val="1100"/>
              <a:buFont typeface="Arial"/>
              <a:buNone/>
            </a:pPr>
            <a:r>
              <a:rPr lang="en-US">
                <a:solidFill>
                  <a:srgbClr val="FF0000"/>
                </a:solidFill>
              </a:rPr>
              <a:t>Rallies go against momentum. Crashes follow it. </a:t>
            </a:r>
            <a:endParaRPr>
              <a:solidFill>
                <a:srgbClr val="FF0000"/>
              </a:solidFill>
            </a:endParaRPr>
          </a:p>
          <a:p>
            <a:pPr indent="0" lvl="0" marL="342900" rtl="0" algn="l">
              <a:spcBef>
                <a:spcPts val="0"/>
              </a:spcBef>
              <a:spcAft>
                <a:spcPts val="0"/>
              </a:spcAft>
              <a:buClr>
                <a:schemeClr val="dk1"/>
              </a:buClr>
              <a:buSzPts val="1100"/>
              <a:buFont typeface="Arial"/>
              <a:buNone/>
            </a:pPr>
            <a:r>
              <a:rPr lang="en-US">
                <a:solidFill>
                  <a:srgbClr val="FF0000"/>
                </a:solidFill>
              </a:rPr>
              <a:t>The UMD significance tells us that it explains crashes better than rallies.</a:t>
            </a:r>
            <a:endParaRPr>
              <a:solidFill>
                <a:srgbClr val="FF0000"/>
              </a:solidFill>
            </a:endParaRPr>
          </a:p>
        </p:txBody>
      </p:sp>
      <p:sp>
        <p:nvSpPr>
          <p:cNvPr id="387" name="Google Shape;387;g3dfdcedfbbb_0_14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88" name="Google Shape;388;g3dfdcedfbbb_0_14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89" name="Google Shape;389;g3dfdcedfbbb_0_149"/>
          <p:cNvPicPr preferRelativeResize="0"/>
          <p:nvPr/>
        </p:nvPicPr>
        <p:blipFill>
          <a:blip r:embed="rId3">
            <a:alphaModFix/>
          </a:blip>
          <a:stretch>
            <a:fillRect/>
          </a:stretch>
        </p:blipFill>
        <p:spPr>
          <a:xfrm>
            <a:off x="2414050" y="1142350"/>
            <a:ext cx="7115175" cy="3524250"/>
          </a:xfrm>
          <a:prstGeom prst="rect">
            <a:avLst/>
          </a:prstGeom>
          <a:noFill/>
          <a:ln>
            <a:noFill/>
          </a:ln>
        </p:spPr>
      </p:pic>
      <p:sp>
        <p:nvSpPr>
          <p:cNvPr id="390" name="Google Shape;390;g3dfdcedfbbb_0_149"/>
          <p:cNvSpPr/>
          <p:nvPr/>
        </p:nvSpPr>
        <p:spPr>
          <a:xfrm>
            <a:off x="4943325" y="2424575"/>
            <a:ext cx="888300" cy="223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g3dfdcedfbbb_0_149"/>
          <p:cNvSpPr/>
          <p:nvPr/>
        </p:nvSpPr>
        <p:spPr>
          <a:xfrm>
            <a:off x="6748025" y="2424575"/>
            <a:ext cx="888300" cy="223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g3dfdcedfbbb_0_149"/>
          <p:cNvSpPr/>
          <p:nvPr/>
        </p:nvSpPr>
        <p:spPr>
          <a:xfrm>
            <a:off x="8640925" y="2424575"/>
            <a:ext cx="888300" cy="223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g3dfdcedfbbb_0_149"/>
          <p:cNvSpPr/>
          <p:nvPr/>
        </p:nvSpPr>
        <p:spPr>
          <a:xfrm>
            <a:off x="6748025" y="3521400"/>
            <a:ext cx="888300" cy="223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g3dfdcedfbbb_0_149"/>
          <p:cNvSpPr/>
          <p:nvPr/>
        </p:nvSpPr>
        <p:spPr>
          <a:xfrm>
            <a:off x="8640925" y="3521400"/>
            <a:ext cx="888300" cy="223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5" name="Google Shape;395;g3dfdcedfbbb_0_149"/>
          <p:cNvCxnSpPr/>
          <p:nvPr/>
        </p:nvCxnSpPr>
        <p:spPr>
          <a:xfrm>
            <a:off x="6694775" y="4574350"/>
            <a:ext cx="994800" cy="0"/>
          </a:xfrm>
          <a:prstGeom prst="straightConnector1">
            <a:avLst/>
          </a:prstGeom>
          <a:noFill/>
          <a:ln cap="flat" cmpd="sng" w="38100">
            <a:solidFill>
              <a:srgbClr val="FF0000"/>
            </a:solidFill>
            <a:prstDash val="solid"/>
            <a:round/>
            <a:headEnd len="med" w="med" type="none"/>
            <a:tailEnd len="med" w="med" type="none"/>
          </a:ln>
        </p:spPr>
      </p:cxnSp>
      <p:cxnSp>
        <p:nvCxnSpPr>
          <p:cNvPr id="396" name="Google Shape;396;g3dfdcedfbbb_0_149"/>
          <p:cNvCxnSpPr/>
          <p:nvPr/>
        </p:nvCxnSpPr>
        <p:spPr>
          <a:xfrm>
            <a:off x="8534425" y="4574350"/>
            <a:ext cx="994800" cy="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dfdcedfbbb_0_16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Sentiment</a:t>
            </a:r>
            <a:r>
              <a:rPr lang="en-US"/>
              <a:t> for the top 0.1%</a:t>
            </a:r>
            <a:endParaRPr/>
          </a:p>
        </p:txBody>
      </p:sp>
      <p:sp>
        <p:nvSpPr>
          <p:cNvPr id="403" name="Google Shape;403;g3dfdcedfbbb_0_16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br>
              <a:rPr lang="en-US"/>
            </a:br>
            <a:r>
              <a:rPr lang="en-US"/>
              <a:t>(using a proxy of financial news headlines)</a:t>
            </a:r>
            <a:br>
              <a:rPr lang="en-US"/>
            </a:br>
            <a:br>
              <a:rPr lang="en-US"/>
            </a:br>
            <a:r>
              <a:rPr lang="en-US"/>
              <a:t>Ri−Rf=α+βm(Rm−Rf)+βSMB⋅SMB+βHML⋅HML+βUMD⋅UMD+βSENT⋅SENT</a:t>
            </a:r>
            <a:br>
              <a:rPr lang="en-US"/>
            </a:br>
            <a:br>
              <a:rPr lang="en-US"/>
            </a:br>
            <a:r>
              <a:rPr lang="en-US"/>
              <a:t>Ri​ - the return of your stock (or portfolio)</a:t>
            </a:r>
            <a:endParaRPr/>
          </a:p>
          <a:p>
            <a:pPr indent="0" lvl="0" marL="342900" rtl="0" algn="l">
              <a:spcBef>
                <a:spcPts val="0"/>
              </a:spcBef>
              <a:spcAft>
                <a:spcPts val="0"/>
              </a:spcAft>
              <a:buClr>
                <a:schemeClr val="dk1"/>
              </a:buClr>
              <a:buSzPts val="1100"/>
              <a:buFont typeface="Arial"/>
              <a:buNone/>
            </a:pPr>
            <a:r>
              <a:rPr lang="en-US"/>
              <a:t>Rm - the return of the market (S&amp;P500 index)</a:t>
            </a:r>
            <a:endParaRPr/>
          </a:p>
          <a:p>
            <a:pPr indent="0" lvl="0" marL="342900" rtl="0" algn="l">
              <a:spcBef>
                <a:spcPts val="0"/>
              </a:spcBef>
              <a:spcAft>
                <a:spcPts val="0"/>
              </a:spcAft>
              <a:buClr>
                <a:schemeClr val="dk1"/>
              </a:buClr>
              <a:buSzPts val="1100"/>
              <a:buFont typeface="Arial"/>
              <a:buNone/>
            </a:pPr>
            <a:r>
              <a:rPr lang="en-US"/>
              <a:t>Rf - the risk-free rate (DTB3, the 3-month T-bill)</a:t>
            </a:r>
            <a:endParaRPr/>
          </a:p>
          <a:p>
            <a:pPr indent="0" lvl="0" marL="342900" rtl="0" algn="l">
              <a:spcBef>
                <a:spcPts val="0"/>
              </a:spcBef>
              <a:spcAft>
                <a:spcPts val="0"/>
              </a:spcAft>
              <a:buClr>
                <a:schemeClr val="dk1"/>
              </a:buClr>
              <a:buSzPts val="1100"/>
              <a:buFont typeface="Arial"/>
              <a:buNone/>
            </a:pPr>
            <a:r>
              <a:rPr lang="en-US"/>
              <a:t>SMB - Small minus Big (market cap factors)</a:t>
            </a:r>
            <a:endParaRPr/>
          </a:p>
          <a:p>
            <a:pPr indent="0" lvl="0" marL="342900" rtl="0" algn="l">
              <a:spcBef>
                <a:spcPts val="0"/>
              </a:spcBef>
              <a:spcAft>
                <a:spcPts val="0"/>
              </a:spcAft>
              <a:buClr>
                <a:schemeClr val="dk1"/>
              </a:buClr>
              <a:buSzPts val="1100"/>
              <a:buFont typeface="Arial"/>
              <a:buNone/>
            </a:pPr>
            <a:r>
              <a:rPr lang="en-US"/>
              <a:t>HML - High minus Low (book to market ratio)</a:t>
            </a:r>
            <a:br>
              <a:rPr lang="en-US"/>
            </a:br>
            <a:r>
              <a:rPr lang="en-US"/>
              <a:t>UMD - Up minus Down (long time winners vs long time losers)</a:t>
            </a:r>
            <a:endParaRPr/>
          </a:p>
          <a:p>
            <a:pPr indent="0" lvl="0" marL="342900" rtl="0" algn="l">
              <a:spcBef>
                <a:spcPts val="0"/>
              </a:spcBef>
              <a:spcAft>
                <a:spcPts val="0"/>
              </a:spcAft>
              <a:buClr>
                <a:schemeClr val="dk1"/>
              </a:buClr>
              <a:buSzPts val="1100"/>
              <a:buFont typeface="Arial"/>
              <a:buNone/>
            </a:pPr>
            <a:r>
              <a:rPr lang="en-US"/>
              <a:t>SENT - minus 1 for low sentiment, plus 1 for high sentiment</a:t>
            </a:r>
            <a:endParaRPr/>
          </a:p>
          <a:p>
            <a:pPr indent="0" lvl="0" marL="342900" rtl="0" algn="l">
              <a:spcBef>
                <a:spcPts val="0"/>
              </a:spcBef>
              <a:spcAft>
                <a:spcPts val="0"/>
              </a:spcAft>
              <a:buClr>
                <a:schemeClr val="dk1"/>
              </a:buClr>
              <a:buSzPts val="1100"/>
              <a:buFont typeface="Arial"/>
              <a:buNone/>
            </a:pPr>
            <a:r>
              <a:t/>
            </a:r>
            <a:endParaRPr/>
          </a:p>
        </p:txBody>
      </p:sp>
      <p:sp>
        <p:nvSpPr>
          <p:cNvPr id="404" name="Google Shape;404;g3dfdcedfbbb_0_16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05" name="Google Shape;405;g3dfdcedfbbb_0_16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e1cae8f83d_0_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Sentiment for the top 0.1%</a:t>
            </a:r>
            <a:endParaRPr/>
          </a:p>
        </p:txBody>
      </p:sp>
      <p:sp>
        <p:nvSpPr>
          <p:cNvPr id="412" name="Google Shape;412;g3e1cae8f83d_0_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br>
              <a:rPr lang="en-US"/>
            </a:br>
            <a:r>
              <a:rPr lang="en-US"/>
              <a:t>(using a proxy of financial news headlines)</a:t>
            </a:r>
            <a:br>
              <a:rPr lang="en-US"/>
            </a:br>
            <a:br>
              <a:rPr lang="en-US"/>
            </a:br>
            <a:r>
              <a:rPr b="1" lang="en-US" sz="2300" u="sng">
                <a:solidFill>
                  <a:schemeClr val="hlink"/>
                </a:solidFill>
                <a:latin typeface="Arial"/>
                <a:ea typeface="Arial"/>
                <a:cs typeface="Arial"/>
                <a:sym typeface="Arial"/>
                <a:hlinkClick r:id="rId3"/>
              </a:rPr>
              <a:t>Kaggle</a:t>
            </a:r>
            <a:r>
              <a:rPr lang="en-US" u="sng">
                <a:solidFill>
                  <a:schemeClr val="hlink"/>
                </a:solidFill>
                <a:hlinkClick r:id="rId4"/>
              </a:rPr>
              <a:t> </a:t>
            </a:r>
            <a:r>
              <a:rPr b="1" lang="en-US" sz="2300" u="sng">
                <a:solidFill>
                  <a:schemeClr val="hlink"/>
                </a:solidFill>
                <a:latin typeface="Arial"/>
                <a:ea typeface="Arial"/>
                <a:cs typeface="Arial"/>
                <a:sym typeface="Arial"/>
                <a:hlinkClick r:id="rId5"/>
              </a:rPr>
              <a:t>S&amp;P 500 with Financial News Headlines (2008–2024)</a:t>
            </a: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413" name="Google Shape;413;g3e1cae8f83d_0_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14" name="Google Shape;414;g3e1cae8f83d_0_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15" name="Google Shape;415;g3e1cae8f83d_0_7"/>
          <p:cNvPicPr preferRelativeResize="0"/>
          <p:nvPr/>
        </p:nvPicPr>
        <p:blipFill>
          <a:blip r:embed="rId6">
            <a:alphaModFix/>
          </a:blip>
          <a:stretch>
            <a:fillRect/>
          </a:stretch>
        </p:blipFill>
        <p:spPr>
          <a:xfrm>
            <a:off x="4409325" y="2809500"/>
            <a:ext cx="3373350" cy="3850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dfdcedfbbb_0_182"/>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Sentiment for the top 0.1%</a:t>
            </a:r>
            <a:endParaRPr/>
          </a:p>
        </p:txBody>
      </p:sp>
      <p:sp>
        <p:nvSpPr>
          <p:cNvPr id="422" name="Google Shape;422;g3dfdcedfbbb_0_182"/>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br>
              <a:rPr lang="en-US"/>
            </a:br>
            <a:r>
              <a:rPr lang="en-US">
                <a:solidFill>
                  <a:srgbClr val="FF0000"/>
                </a:solidFill>
              </a:rPr>
              <a:t>But limitations of the dataset… (sparsity and cutoff)</a:t>
            </a:r>
            <a:endParaRPr>
              <a:solidFill>
                <a:srgbClr val="FF0000"/>
              </a:solidFill>
            </a:endParaRPr>
          </a:p>
          <a:p>
            <a:pPr indent="0" lvl="0" marL="342900" rtl="0" algn="l">
              <a:spcBef>
                <a:spcPts val="0"/>
              </a:spcBef>
              <a:spcAft>
                <a:spcPts val="0"/>
              </a:spcAft>
              <a:buClr>
                <a:schemeClr val="dk1"/>
              </a:buClr>
              <a:buSzPts val="1100"/>
              <a:buFont typeface="Arial"/>
              <a:buNone/>
            </a:pPr>
            <a:br>
              <a:rPr lang="en-US"/>
            </a:b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423" name="Google Shape;423;g3dfdcedfbbb_0_182"/>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24" name="Google Shape;424;g3dfdcedfbbb_0_182"/>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25" name="Google Shape;425;g3dfdcedfbbb_0_182"/>
          <p:cNvPicPr preferRelativeResize="0"/>
          <p:nvPr/>
        </p:nvPicPr>
        <p:blipFill>
          <a:blip r:embed="rId3">
            <a:alphaModFix/>
          </a:blip>
          <a:stretch>
            <a:fillRect/>
          </a:stretch>
        </p:blipFill>
        <p:spPr>
          <a:xfrm>
            <a:off x="476146" y="2427225"/>
            <a:ext cx="11239707" cy="4032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dfdcedfbbb_0_171"/>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Sentiment for the top 0.1%</a:t>
            </a:r>
            <a:endParaRPr/>
          </a:p>
        </p:txBody>
      </p:sp>
      <p:sp>
        <p:nvSpPr>
          <p:cNvPr id="432" name="Google Shape;432;g3dfdcedfbbb_0_171"/>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br>
              <a:rPr lang="en-US"/>
            </a:br>
            <a:r>
              <a:rPr lang="en-US"/>
              <a:t>FinBERT for NLP analysis :</a:t>
            </a:r>
            <a:br>
              <a:rPr lang="en-US"/>
            </a:br>
            <a:br>
              <a:rPr lang="en-US"/>
            </a:br>
            <a:r>
              <a:rPr lang="en-US" u="sng">
                <a:solidFill>
                  <a:schemeClr val="hlink"/>
                </a:solidFill>
                <a:hlinkClick r:id="rId3"/>
              </a:rPr>
              <a:t>Hugging Face FinBERT</a:t>
            </a:r>
            <a:endParaRPr/>
          </a:p>
          <a:p>
            <a:pPr indent="0" lvl="0" marL="342900" rtl="0" algn="l">
              <a:spcBef>
                <a:spcPts val="0"/>
              </a:spcBef>
              <a:spcAft>
                <a:spcPts val="0"/>
              </a:spcAft>
              <a:buClr>
                <a:schemeClr val="dk1"/>
              </a:buClr>
              <a:buSzPts val="1100"/>
              <a:buFont typeface="Arial"/>
              <a:buNone/>
            </a:pPr>
            <a:r>
              <a:t/>
            </a:r>
            <a:endParaRPr/>
          </a:p>
          <a:p>
            <a:pPr indent="0" lvl="0" marL="342900" rtl="0" algn="l">
              <a:spcBef>
                <a:spcPts val="0"/>
              </a:spcBef>
              <a:spcAft>
                <a:spcPts val="0"/>
              </a:spcAft>
              <a:buClr>
                <a:schemeClr val="dk1"/>
              </a:buClr>
              <a:buSzPts val="1100"/>
              <a:buFont typeface="Arial"/>
              <a:buNone/>
            </a:pPr>
            <a:r>
              <a:rPr lang="en-US" sz="1900"/>
              <a:t>FinBERT is a pre-trained NLP model to analyze sentiment of financial text. It is built by further training the BERT language model in the finance domain, using a large financial corpus and thereby fine-tuning it for financial sentiment classification.</a:t>
            </a:r>
            <a:r>
              <a:rPr lang="en-US" sz="1900">
                <a:uFill>
                  <a:noFill/>
                </a:uFill>
                <a:hlinkClick r:id="rId4"/>
              </a:rPr>
              <a:t> </a:t>
            </a:r>
            <a:r>
              <a:rPr i="1" lang="en-US" sz="1900">
                <a:uFill>
                  <a:noFill/>
                </a:uFill>
                <a:hlinkClick r:id="rId5"/>
              </a:rPr>
              <a:t>Financial PhraseBank</a:t>
            </a:r>
            <a:r>
              <a:rPr i="1" lang="en-US" sz="1900"/>
              <a:t> by Malo et al. (2014) </a:t>
            </a:r>
            <a:r>
              <a:rPr lang="en-US" sz="1900"/>
              <a:t>is used for fine-tuning. </a:t>
            </a:r>
            <a:br>
              <a:rPr lang="en-US"/>
            </a:br>
            <a:br>
              <a:rPr lang="en-US"/>
            </a:b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433" name="Google Shape;433;g3dfdcedfbbb_0_171"/>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34" name="Google Shape;434;g3dfdcedfbbb_0_171"/>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35" name="Google Shape;435;g3dfdcedfbbb_0_171"/>
          <p:cNvPicPr preferRelativeResize="0"/>
          <p:nvPr/>
        </p:nvPicPr>
        <p:blipFill>
          <a:blip r:embed="rId6">
            <a:alphaModFix/>
          </a:blip>
          <a:stretch>
            <a:fillRect/>
          </a:stretch>
        </p:blipFill>
        <p:spPr>
          <a:xfrm>
            <a:off x="4325624" y="4625575"/>
            <a:ext cx="3540750" cy="1777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dfdcedfbbb_0_192"/>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Sentiment for the top 0.1%</a:t>
            </a:r>
            <a:endParaRPr/>
          </a:p>
        </p:txBody>
      </p:sp>
      <p:sp>
        <p:nvSpPr>
          <p:cNvPr id="442" name="Google Shape;442;g3dfdcedfbbb_0_192"/>
          <p:cNvSpPr txBox="1"/>
          <p:nvPr>
            <p:ph idx="1" type="body"/>
          </p:nvPr>
        </p:nvSpPr>
        <p:spPr>
          <a:xfrm>
            <a:off x="719400" y="908950"/>
            <a:ext cx="10753200" cy="49623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endParaRPr/>
          </a:p>
          <a:p>
            <a:pPr indent="0" lvl="0" marL="342900" rtl="0" algn="l">
              <a:spcBef>
                <a:spcPts val="0"/>
              </a:spcBef>
              <a:spcAft>
                <a:spcPts val="0"/>
              </a:spcAft>
              <a:buClr>
                <a:schemeClr val="dk1"/>
              </a:buClr>
              <a:buSzPts val="1100"/>
              <a:buFont typeface="Arial"/>
              <a:buNone/>
            </a:pPr>
            <a:br>
              <a:rPr lang="en-US"/>
            </a:br>
            <a:endParaRPr>
              <a:solidFill>
                <a:srgbClr val="FF0000"/>
              </a:solidFill>
            </a:endParaRPr>
          </a:p>
          <a:p>
            <a:pPr indent="0" lvl="0" marL="342900" rtl="0" algn="l">
              <a:spcBef>
                <a:spcPts val="0"/>
              </a:spcBef>
              <a:spcAft>
                <a:spcPts val="0"/>
              </a:spcAft>
              <a:buClr>
                <a:schemeClr val="dk1"/>
              </a:buClr>
              <a:buSzPts val="1100"/>
              <a:buFont typeface="Arial"/>
              <a:buNone/>
            </a:pPr>
            <a:br>
              <a:rPr lang="en-US"/>
            </a:b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443" name="Google Shape;443;g3dfdcedfbbb_0_192"/>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44" name="Google Shape;444;g3dfdcedfbbb_0_192"/>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45" name="Google Shape;445;g3dfdcedfbbb_0_192"/>
          <p:cNvPicPr preferRelativeResize="0"/>
          <p:nvPr/>
        </p:nvPicPr>
        <p:blipFill>
          <a:blip r:embed="rId3">
            <a:alphaModFix/>
          </a:blip>
          <a:stretch>
            <a:fillRect/>
          </a:stretch>
        </p:blipFill>
        <p:spPr>
          <a:xfrm>
            <a:off x="1568300" y="1313513"/>
            <a:ext cx="9056975" cy="4230850"/>
          </a:xfrm>
          <a:prstGeom prst="rect">
            <a:avLst/>
          </a:prstGeom>
          <a:noFill/>
          <a:ln>
            <a:noFill/>
          </a:ln>
        </p:spPr>
      </p:pic>
      <p:sp>
        <p:nvSpPr>
          <p:cNvPr id="446" name="Google Shape;446;g3dfdcedfbbb_0_192"/>
          <p:cNvSpPr/>
          <p:nvPr/>
        </p:nvSpPr>
        <p:spPr>
          <a:xfrm>
            <a:off x="7306325" y="2653413"/>
            <a:ext cx="888300" cy="333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g3dfdcedfbbb_0_192"/>
          <p:cNvSpPr/>
          <p:nvPr/>
        </p:nvSpPr>
        <p:spPr>
          <a:xfrm>
            <a:off x="9736975" y="2653413"/>
            <a:ext cx="888300" cy="333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g3dfdcedfbbb_0_192"/>
          <p:cNvSpPr/>
          <p:nvPr/>
        </p:nvSpPr>
        <p:spPr>
          <a:xfrm>
            <a:off x="5095750" y="2653413"/>
            <a:ext cx="888300" cy="333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g3dfdcedfbbb_0_192"/>
          <p:cNvSpPr/>
          <p:nvPr/>
        </p:nvSpPr>
        <p:spPr>
          <a:xfrm>
            <a:off x="2085775" y="5107988"/>
            <a:ext cx="8539500" cy="4365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g3dfdcedfbbb_0_192"/>
          <p:cNvSpPr txBox="1"/>
          <p:nvPr/>
        </p:nvSpPr>
        <p:spPr>
          <a:xfrm>
            <a:off x="0" y="5302800"/>
            <a:ext cx="12618600" cy="12930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t/>
            </a:r>
            <a:endParaRPr sz="2400">
              <a:solidFill>
                <a:schemeClr val="dk1"/>
              </a:solidFill>
              <a:latin typeface="Titillium Web"/>
              <a:ea typeface="Titillium Web"/>
              <a:cs typeface="Titillium Web"/>
              <a:sym typeface="Titillium Web"/>
            </a:endParaRPr>
          </a:p>
          <a:p>
            <a:pPr indent="0" lvl="0" marL="342900" rtl="0" algn="l">
              <a:spcBef>
                <a:spcPts val="0"/>
              </a:spcBef>
              <a:spcAft>
                <a:spcPts val="0"/>
              </a:spcAft>
              <a:buNone/>
            </a:pPr>
            <a:r>
              <a:rPr lang="en-US" sz="2400">
                <a:solidFill>
                  <a:srgbClr val="FF0000"/>
                </a:solidFill>
                <a:latin typeface="Titillium Web"/>
                <a:ea typeface="Titillium Web"/>
                <a:cs typeface="Titillium Web"/>
                <a:sym typeface="Titillium Web"/>
              </a:rPr>
              <a:t>The increase in R-squared with such low sentiment coefficient statistical significance is shaky.</a:t>
            </a:r>
            <a:br>
              <a:rPr lang="en-US" sz="2400">
                <a:solidFill>
                  <a:srgbClr val="FF0000"/>
                </a:solidFill>
                <a:latin typeface="Titillium Web"/>
                <a:ea typeface="Titillium Web"/>
                <a:cs typeface="Titillium Web"/>
                <a:sym typeface="Titillium Web"/>
              </a:rPr>
            </a:br>
            <a:r>
              <a:rPr lang="en-US" sz="2400">
                <a:solidFill>
                  <a:srgbClr val="FF0000"/>
                </a:solidFill>
                <a:latin typeface="Titillium Web"/>
                <a:ea typeface="Titillium Web"/>
                <a:cs typeface="Titillium Web"/>
                <a:sym typeface="Titillium Web"/>
              </a:rPr>
              <a:t>This definition of sentiment does not add any explanatory power.</a:t>
            </a:r>
            <a:endParaRPr sz="2400">
              <a:solidFill>
                <a:srgbClr val="FF0000"/>
              </a:solidFill>
              <a:latin typeface="Titillium Web"/>
              <a:ea typeface="Titillium Web"/>
              <a:cs typeface="Titillium Web"/>
              <a:sym typeface="Titillium Web"/>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e1cae8f83d_0_2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Modeling Summary</a:t>
            </a:r>
            <a:endParaRPr/>
          </a:p>
        </p:txBody>
      </p:sp>
      <p:sp>
        <p:nvSpPr>
          <p:cNvPr id="457" name="Google Shape;457;g3e1cae8f83d_0_2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br>
              <a:rPr lang="en-US"/>
            </a:b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458" name="Google Shape;458;g3e1cae8f83d_0_2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59" name="Google Shape;459;g3e1cae8f83d_0_2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60" name="Google Shape;460;g3e1cae8f83d_0_27"/>
          <p:cNvPicPr preferRelativeResize="0"/>
          <p:nvPr/>
        </p:nvPicPr>
        <p:blipFill>
          <a:blip r:embed="rId3">
            <a:alphaModFix/>
          </a:blip>
          <a:stretch>
            <a:fillRect/>
          </a:stretch>
        </p:blipFill>
        <p:spPr>
          <a:xfrm>
            <a:off x="250088" y="2654800"/>
            <a:ext cx="11691824" cy="2430400"/>
          </a:xfrm>
          <a:prstGeom prst="rect">
            <a:avLst/>
          </a:prstGeom>
          <a:noFill/>
          <a:ln>
            <a:noFill/>
          </a:ln>
        </p:spPr>
      </p:pic>
      <p:sp>
        <p:nvSpPr>
          <p:cNvPr id="461" name="Google Shape;461;g3e1cae8f83d_0_27"/>
          <p:cNvSpPr txBox="1"/>
          <p:nvPr/>
        </p:nvSpPr>
        <p:spPr>
          <a:xfrm>
            <a:off x="0" y="5085200"/>
            <a:ext cx="12618600" cy="9234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t/>
            </a:r>
            <a:endParaRPr sz="2400">
              <a:solidFill>
                <a:schemeClr val="dk1"/>
              </a:solidFill>
              <a:latin typeface="Titillium Web"/>
              <a:ea typeface="Titillium Web"/>
              <a:cs typeface="Titillium Web"/>
              <a:sym typeface="Titillium Web"/>
            </a:endParaRPr>
          </a:p>
          <a:p>
            <a:pPr indent="0" lvl="0" marL="342900" rtl="0" algn="l">
              <a:spcBef>
                <a:spcPts val="0"/>
              </a:spcBef>
              <a:spcAft>
                <a:spcPts val="0"/>
              </a:spcAft>
              <a:buNone/>
            </a:pPr>
            <a:r>
              <a:rPr lang="en-US" sz="2400">
                <a:solidFill>
                  <a:srgbClr val="FF0000"/>
                </a:solidFill>
                <a:latin typeface="Titillium Web"/>
                <a:ea typeface="Titillium Web"/>
                <a:cs typeface="Titillium Web"/>
                <a:sym typeface="Titillium Web"/>
              </a:rPr>
              <a:t>Overall, the models perform worse in the tails than in the whole set.</a:t>
            </a:r>
            <a:endParaRPr sz="2400">
              <a:solidFill>
                <a:srgbClr val="FF0000"/>
              </a:solidFill>
              <a:latin typeface="Titillium Web"/>
              <a:ea typeface="Titillium Web"/>
              <a:cs typeface="Titillium Web"/>
              <a:sym typeface="Titillium Web"/>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3e1cae8f83d_0_36"/>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Conclusion</a:t>
            </a:r>
            <a:endParaRPr/>
          </a:p>
        </p:txBody>
      </p:sp>
      <p:sp>
        <p:nvSpPr>
          <p:cNvPr id="468" name="Google Shape;468;g3e1cae8f83d_0_36"/>
          <p:cNvSpPr txBox="1"/>
          <p:nvPr>
            <p:ph idx="1" type="body"/>
          </p:nvPr>
        </p:nvSpPr>
        <p:spPr>
          <a:xfrm>
            <a:off x="720000" y="1350000"/>
            <a:ext cx="11035800" cy="5040000"/>
          </a:xfrm>
          <a:prstGeom prst="rect">
            <a:avLst/>
          </a:prstGeom>
          <a:noFill/>
          <a:ln>
            <a:noFill/>
          </a:ln>
        </p:spPr>
        <p:txBody>
          <a:bodyPr anchorCtr="0" anchor="t" bIns="0" lIns="0" spcFirstLastPara="1" rIns="0" wrap="square" tIns="0">
            <a:noAutofit/>
          </a:bodyPr>
          <a:lstStyle/>
          <a:p>
            <a:pPr indent="-381000" lvl="0" marL="457200" rtl="0" algn="l">
              <a:spcBef>
                <a:spcPts val="0"/>
              </a:spcBef>
              <a:spcAft>
                <a:spcPts val="0"/>
              </a:spcAft>
              <a:buSzPts val="2400"/>
              <a:buAutoNum type="arabicParenR"/>
            </a:pPr>
            <a:r>
              <a:rPr lang="en-US"/>
              <a:t>Overall returns on the S&amp;P500 do exhibit fat tail behavior.</a:t>
            </a:r>
            <a:endParaRPr/>
          </a:p>
          <a:p>
            <a:pPr indent="-381000" lvl="0" marL="457200" rtl="0" algn="l">
              <a:spcBef>
                <a:spcPts val="0"/>
              </a:spcBef>
              <a:spcAft>
                <a:spcPts val="0"/>
              </a:spcAft>
              <a:buSzPts val="2400"/>
              <a:buAutoNum type="arabicParenR"/>
            </a:pPr>
            <a:r>
              <a:rPr lang="en-US"/>
              <a:t>Definition of returns, log vs. arithmetic, start to really matter in the tails.</a:t>
            </a:r>
            <a:endParaRPr/>
          </a:p>
          <a:p>
            <a:pPr indent="-381000" lvl="0" marL="457200" rtl="0" algn="l">
              <a:spcBef>
                <a:spcPts val="0"/>
              </a:spcBef>
              <a:spcAft>
                <a:spcPts val="0"/>
              </a:spcAft>
              <a:buSzPts val="2400"/>
              <a:buAutoNum type="arabicParenR"/>
            </a:pPr>
            <a:r>
              <a:rPr lang="en-US"/>
              <a:t>Positive tail and negative tail are not symmetrical. Neither in count nor magnitude.</a:t>
            </a:r>
            <a:endParaRPr/>
          </a:p>
          <a:p>
            <a:pPr indent="-381000" lvl="0" marL="457200" rtl="0" algn="l">
              <a:spcBef>
                <a:spcPts val="0"/>
              </a:spcBef>
              <a:spcAft>
                <a:spcPts val="0"/>
              </a:spcAft>
              <a:buSzPts val="2400"/>
              <a:buAutoNum type="arabicParenR"/>
            </a:pPr>
            <a:r>
              <a:rPr lang="en-US"/>
              <a:t>Extremes distribution seem to be consistent across years.</a:t>
            </a:r>
            <a:endParaRPr/>
          </a:p>
          <a:p>
            <a:pPr indent="-381000" lvl="0" marL="457200" rtl="0" algn="l">
              <a:spcBef>
                <a:spcPts val="0"/>
              </a:spcBef>
              <a:spcAft>
                <a:spcPts val="0"/>
              </a:spcAft>
              <a:buSzPts val="2400"/>
              <a:buAutoNum type="arabicParenR"/>
            </a:pPr>
            <a:r>
              <a:rPr lang="en-US"/>
              <a:t>Extremes distribution do not seem to be consistent across sectors. (Probably due to the Communication Services outlier. To be tested.)</a:t>
            </a:r>
            <a:endParaRPr/>
          </a:p>
          <a:p>
            <a:pPr indent="-381000" lvl="0" marL="457200" rtl="0" algn="l">
              <a:spcBef>
                <a:spcPts val="0"/>
              </a:spcBef>
              <a:spcAft>
                <a:spcPts val="0"/>
              </a:spcAft>
              <a:buSzPts val="2400"/>
              <a:buAutoNum type="arabicParenR"/>
            </a:pPr>
            <a:r>
              <a:rPr lang="en-US"/>
              <a:t>Modeling in the tails performs worse than on the full set of returns.</a:t>
            </a:r>
            <a:endParaRPr/>
          </a:p>
          <a:p>
            <a:pPr indent="-381000" lvl="0" marL="457200" rtl="0" algn="l">
              <a:spcBef>
                <a:spcPts val="0"/>
              </a:spcBef>
              <a:spcAft>
                <a:spcPts val="0"/>
              </a:spcAft>
              <a:buSzPts val="2400"/>
              <a:buAutoNum type="arabicParenR"/>
            </a:pPr>
            <a:r>
              <a:rPr lang="en-US"/>
              <a:t>Factors have very low statistical significance (p&lt;0.05) in the tails overall.</a:t>
            </a:r>
            <a:endParaRPr/>
          </a:p>
          <a:p>
            <a:pPr indent="-381000" lvl="0" marL="457200" rtl="0" algn="l">
              <a:spcBef>
                <a:spcPts val="0"/>
              </a:spcBef>
              <a:spcAft>
                <a:spcPts val="0"/>
              </a:spcAft>
              <a:buSzPts val="2400"/>
              <a:buAutoNum type="arabicParenR"/>
            </a:pPr>
            <a:r>
              <a:rPr lang="en-US"/>
              <a:t>Crashes, negative tail, seem to be best explained using CAPM and momentum.</a:t>
            </a:r>
            <a:endParaRPr/>
          </a:p>
          <a:p>
            <a:pPr indent="-381000" lvl="0" marL="457200" rtl="0" algn="l">
              <a:spcBef>
                <a:spcPts val="0"/>
              </a:spcBef>
              <a:spcAft>
                <a:spcPts val="0"/>
              </a:spcAft>
              <a:buSzPts val="2400"/>
              <a:buAutoNum type="arabicParenR"/>
            </a:pPr>
            <a:r>
              <a:rPr lang="en-US"/>
              <a:t>Rallies, positive tail, seem to have very shaky significance with the models used overall.</a:t>
            </a:r>
            <a:endParaRPr/>
          </a:p>
          <a:p>
            <a:pPr indent="-381000" lvl="0" marL="457200" rtl="0" algn="l">
              <a:spcBef>
                <a:spcPts val="0"/>
              </a:spcBef>
              <a:spcAft>
                <a:spcPts val="0"/>
              </a:spcAft>
              <a:buSzPts val="2400"/>
              <a:buAutoNum type="arabicParenR"/>
            </a:pPr>
            <a:r>
              <a:rPr lang="en-US"/>
              <a:t>I learned about extreme value theory and generalized pareto distributions while making this presentation. So, there is an exploration of these tools to be done </a:t>
            </a:r>
            <a:r>
              <a:rPr lang="en-US"/>
              <a:t>next</a:t>
            </a:r>
            <a:r>
              <a:rPr lang="en-US"/>
              <a:t> time.</a:t>
            </a:r>
            <a:br>
              <a:rPr lang="en-US"/>
            </a:br>
            <a:endParaRPr>
              <a:solidFill>
                <a:srgbClr val="FF0000"/>
              </a:solidFill>
            </a:endParaRPr>
          </a:p>
          <a:p>
            <a:pPr indent="0" lvl="0" marL="342900" rtl="0" algn="l">
              <a:spcBef>
                <a:spcPts val="0"/>
              </a:spcBef>
              <a:spcAft>
                <a:spcPts val="0"/>
              </a:spcAft>
              <a:buClr>
                <a:schemeClr val="dk1"/>
              </a:buClr>
              <a:buSzPts val="1100"/>
              <a:buFont typeface="Arial"/>
              <a:buNone/>
            </a:pPr>
            <a:br>
              <a:rPr lang="en-US"/>
            </a:b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469" name="Google Shape;469;g3e1cae8f83d_0_36"/>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70" name="Google Shape;470;g3e1cae8f83d_0_36"/>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477" name="Google Shape;477;p4"/>
          <p:cNvPicPr preferRelativeResize="0"/>
          <p:nvPr/>
        </p:nvPicPr>
        <p:blipFill rotWithShape="1">
          <a:blip r:embed="rId3">
            <a:alphaModFix/>
          </a:blip>
          <a:srcRect b="28637" l="0" r="0" t="12018"/>
          <a:stretch/>
        </p:blipFill>
        <p:spPr>
          <a:xfrm>
            <a:off x="794" y="825910"/>
            <a:ext cx="12192000" cy="4739148"/>
          </a:xfrm>
          <a:prstGeom prst="rect">
            <a:avLst/>
          </a:prstGeom>
          <a:noFill/>
          <a:ln>
            <a:noFill/>
          </a:ln>
        </p:spPr>
      </p:pic>
      <p:sp>
        <p:nvSpPr>
          <p:cNvPr id="478" name="Google Shape;478;p4"/>
          <p:cNvSpPr txBox="1"/>
          <p:nvPr>
            <p:ph type="title"/>
          </p:nvPr>
        </p:nvSpPr>
        <p:spPr>
          <a:xfrm>
            <a:off x="696913" y="5841328"/>
            <a:ext cx="8233200" cy="54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4200"/>
              <a:buFont typeface="Titillium Web"/>
              <a:buNone/>
            </a:pPr>
            <a:r>
              <a:rPr lang="en-US" sz="4200"/>
              <a:t>Questions?</a:t>
            </a:r>
            <a:endParaRPr/>
          </a:p>
        </p:txBody>
      </p:sp>
      <p:cxnSp>
        <p:nvCxnSpPr>
          <p:cNvPr id="479" name="Google Shape;479;p4"/>
          <p:cNvCxnSpPr/>
          <p:nvPr/>
        </p:nvCxnSpPr>
        <p:spPr>
          <a:xfrm>
            <a:off x="-1" y="5580000"/>
            <a:ext cx="12186000" cy="0"/>
          </a:xfrm>
          <a:prstGeom prst="straightConnector1">
            <a:avLst/>
          </a:prstGeom>
          <a:noFill/>
          <a:ln cap="flat" cmpd="sng" w="19050">
            <a:solidFill>
              <a:srgbClr val="0C0C0C"/>
            </a:solidFill>
            <a:prstDash val="solid"/>
            <a:round/>
            <a:headEnd len="sm" w="sm" type="none"/>
            <a:tailEnd len="sm" w="sm" type="none"/>
          </a:ln>
        </p:spPr>
      </p:cxnSp>
      <p:sp>
        <p:nvSpPr>
          <p:cNvPr id="480" name="Google Shape;480;p4"/>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481" name="Google Shape;481;p4"/>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FDS - Master">
  <a:themeElements>
    <a:clrScheme name="UNISG Grün">
      <a:dk1>
        <a:srgbClr val="000000"/>
      </a:dk1>
      <a:lt1>
        <a:srgbClr val="FFFFFF"/>
      </a:lt1>
      <a:dk2>
        <a:srgbClr val="115C2E"/>
      </a:dk2>
      <a:lt2>
        <a:srgbClr val="CCCCCC"/>
      </a:lt2>
      <a:accent1>
        <a:srgbClr val="115C2E"/>
      </a:accent1>
      <a:accent2>
        <a:srgbClr val="249662"/>
      </a:accent2>
      <a:accent3>
        <a:srgbClr val="54A47C"/>
      </a:accent3>
      <a:accent4>
        <a:srgbClr val="8FBFA9"/>
      </a:accent4>
      <a:accent5>
        <a:srgbClr val="ED904B"/>
      </a:accent5>
      <a:accent6>
        <a:srgbClr val="FAB73E"/>
      </a:accent6>
      <a:hlink>
        <a:srgbClr val="115C2E"/>
      </a:hlink>
      <a:folHlink>
        <a:srgbClr val="54A47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2016-04-12T09:28:03Z</dcterms:created>
  <dc:creator>Prof. Dr. Damian Borth</dc:creator>
</cp:coreProperties>
</file>